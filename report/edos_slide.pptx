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60" r:id="rId5"/>
    <p:sldId id="261" r:id="rId6"/>
    <p:sldId id="262" r:id="rId7"/>
    <p:sldId id="263" r:id="rId8"/>
    <p:sldId id="264" r:id="rId9"/>
    <p:sldId id="265" r:id="rId10"/>
    <p:sldId id="266" r:id="rId11"/>
    <p:sldId id="268" r:id="rId12"/>
    <p:sldId id="273" r:id="rId13"/>
    <p:sldId id="269" r:id="rId14"/>
    <p:sldId id="274" r:id="rId15"/>
    <p:sldId id="270" r:id="rId16"/>
    <p:sldId id="275" r:id="rId17"/>
    <p:sldId id="276" r:id="rId18"/>
    <p:sldId id="277" r:id="rId19"/>
    <p:sldId id="278" r:id="rId20"/>
    <p:sldId id="267"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4" d="100"/>
          <a:sy n="104" d="100"/>
        </p:scale>
        <p:origin x="200"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925990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3444412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65191554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9155956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40478490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4879401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7743758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6766560" y="-731520"/>
            <a:ext cx="2926080" cy="2926080"/>
          </a:xfrm>
          <a:prstGeom prst="ellipse">
            <a:avLst/>
          </a:prstGeom>
          <a:solidFill>
            <a:srgbClr val="0096B7">
              <a:alpha val="15000"/>
            </a:srgbClr>
          </a:solidFill>
          <a:ln w="12700">
            <a:solidFill>
              <a:srgbClr val="0096B7">
                <a:alpha val="15000"/>
              </a:srgbClr>
            </a:solidFill>
            <a:prstDash val="solid"/>
          </a:ln>
        </p:spPr>
      </p:sp>
      <p:sp>
        <p:nvSpPr>
          <p:cNvPr id="3" name="Shape 1"/>
          <p:cNvSpPr/>
          <p:nvPr/>
        </p:nvSpPr>
        <p:spPr>
          <a:xfrm>
            <a:off x="7406640" y="182880"/>
            <a:ext cx="1828800" cy="1828800"/>
          </a:xfrm>
          <a:prstGeom prst="ellipse">
            <a:avLst/>
          </a:prstGeom>
          <a:solidFill>
            <a:srgbClr val="F47B20">
              <a:alpha val="20000"/>
            </a:srgbClr>
          </a:solidFill>
          <a:ln w="12700">
            <a:solidFill>
              <a:srgbClr val="F47B20">
                <a:alpha val="20000"/>
              </a:srgbClr>
            </a:solidFill>
            <a:prstDash val="solid"/>
          </a:ln>
        </p:spPr>
      </p:sp>
      <p:sp>
        <p:nvSpPr>
          <p:cNvPr id="4" name="Shape 2"/>
          <p:cNvSpPr/>
          <p:nvPr/>
        </p:nvSpPr>
        <p:spPr>
          <a:xfrm>
            <a:off x="-731520" y="3474720"/>
            <a:ext cx="2286000" cy="2286000"/>
          </a:xfrm>
          <a:prstGeom prst="ellipse">
            <a:avLst/>
          </a:prstGeom>
          <a:solidFill>
            <a:srgbClr val="0096B7">
              <a:alpha val="12000"/>
            </a:srgbClr>
          </a:solidFill>
          <a:ln w="12700">
            <a:solidFill>
              <a:srgbClr val="0096B7">
                <a:alpha val="12000"/>
              </a:srgbClr>
            </a:solidFill>
            <a:prstDash val="solid"/>
          </a:ln>
        </p:spPr>
      </p:sp>
      <p:sp>
        <p:nvSpPr>
          <p:cNvPr id="5" name="Text 3"/>
          <p:cNvSpPr/>
          <p:nvPr/>
        </p:nvSpPr>
        <p:spPr>
          <a:xfrm>
            <a:off x="502920" y="932688"/>
            <a:ext cx="7315200" cy="228600"/>
          </a:xfrm>
          <a:prstGeom prst="rect">
            <a:avLst/>
          </a:prstGeom>
          <a:noFill/>
          <a:ln/>
        </p:spPr>
        <p:txBody>
          <a:bodyPr wrap="square" lIns="0" tIns="0" rIns="0" bIns="0" rtlCol="0" anchor="ctr"/>
          <a:lstStyle/>
          <a:p>
            <a:pPr marL="0" indent="0">
              <a:buNone/>
            </a:pPr>
            <a:r>
              <a:rPr lang="en-US" sz="950" b="1" kern="0" spc="400" dirty="0">
                <a:solidFill>
                  <a:srgbClr val="0096B7"/>
                </a:solidFill>
              </a:rPr>
              <a:t>BAO CAO PHAN TICH NGHIEN CUU</a:t>
            </a:r>
            <a:endParaRPr lang="en-US" sz="950" dirty="0"/>
          </a:p>
        </p:txBody>
      </p:sp>
      <p:sp>
        <p:nvSpPr>
          <p:cNvPr id="6" name="Shape 4"/>
          <p:cNvSpPr/>
          <p:nvPr/>
        </p:nvSpPr>
        <p:spPr>
          <a:xfrm>
            <a:off x="502920" y="1188720"/>
            <a:ext cx="1097280" cy="64008"/>
          </a:xfrm>
          <a:prstGeom prst="rect">
            <a:avLst/>
          </a:prstGeom>
          <a:solidFill>
            <a:srgbClr val="0096B7"/>
          </a:solidFill>
          <a:ln w="12700">
            <a:solidFill>
              <a:srgbClr val="0096B7"/>
            </a:solidFill>
            <a:prstDash val="solid"/>
          </a:ln>
        </p:spPr>
      </p:sp>
      <p:sp>
        <p:nvSpPr>
          <p:cNvPr id="7" name="Text 5"/>
          <p:cNvSpPr/>
          <p:nvPr/>
        </p:nvSpPr>
        <p:spPr>
          <a:xfrm>
            <a:off x="502920" y="1325880"/>
            <a:ext cx="8046720" cy="594360"/>
          </a:xfrm>
          <a:prstGeom prst="rect">
            <a:avLst/>
          </a:prstGeom>
          <a:noFill/>
          <a:ln/>
        </p:spPr>
        <p:txBody>
          <a:bodyPr wrap="square" lIns="0" tIns="0" rIns="0" bIns="0" rtlCol="0" anchor="ctr"/>
          <a:lstStyle/>
          <a:p>
            <a:pPr marL="0" indent="0">
              <a:buNone/>
            </a:pPr>
            <a:r>
              <a:rPr lang="en-US" sz="2600" b="1" dirty="0">
                <a:solidFill>
                  <a:srgbClr val="FFFFFF"/>
                </a:solidFill>
              </a:rPr>
              <a:t>Khai thác cơ chế Autoscaling của Kubernetes cho tấn công</a:t>
            </a:r>
            <a:endParaRPr lang="en-US" sz="2600" dirty="0"/>
          </a:p>
        </p:txBody>
      </p:sp>
      <p:sp>
        <p:nvSpPr>
          <p:cNvPr id="8" name="Text 6"/>
          <p:cNvSpPr/>
          <p:nvPr/>
        </p:nvSpPr>
        <p:spPr>
          <a:xfrm>
            <a:off x="502920" y="1920240"/>
            <a:ext cx="8046720" cy="566928"/>
          </a:xfrm>
          <a:prstGeom prst="rect">
            <a:avLst/>
          </a:prstGeom>
          <a:noFill/>
          <a:ln/>
        </p:spPr>
        <p:txBody>
          <a:bodyPr wrap="square" lIns="0" tIns="0" rIns="0" bIns="0" rtlCol="0" anchor="ctr"/>
          <a:lstStyle/>
          <a:p>
            <a:pPr marL="0" indent="0">
              <a:buNone/>
            </a:pPr>
            <a:r>
              <a:rPr lang="en-US" sz="3000" b="1" dirty="0">
                <a:solidFill>
                  <a:srgbClr val="0096B7"/>
                </a:solidFill>
              </a:rPr>
              <a:t>Economic Denial of Sustainability (EDoS)</a:t>
            </a:r>
            <a:endParaRPr lang="en-US" sz="3000" dirty="0"/>
          </a:p>
        </p:txBody>
      </p:sp>
      <p:sp>
        <p:nvSpPr>
          <p:cNvPr id="11" name="Text 9"/>
          <p:cNvSpPr/>
          <p:nvPr/>
        </p:nvSpPr>
        <p:spPr>
          <a:xfrm>
            <a:off x="502920" y="4206240"/>
            <a:ext cx="8229600" cy="937260"/>
          </a:xfrm>
          <a:prstGeom prst="rect">
            <a:avLst/>
          </a:prstGeom>
          <a:noFill/>
          <a:ln/>
        </p:spPr>
        <p:txBody>
          <a:bodyPr wrap="square" lIns="0" tIns="0" rIns="0" bIns="0" rtlCol="0" anchor="ctr"/>
          <a:lstStyle/>
          <a:p>
            <a:pPr marL="0" indent="0">
              <a:buNone/>
            </a:pPr>
            <a:endParaRPr lang="en-US" sz="1200" dirty="0"/>
          </a:p>
        </p:txBody>
      </p:sp>
      <p:sp>
        <p:nvSpPr>
          <p:cNvPr id="12" name="Text 7"/>
          <p:cNvSpPr/>
          <p:nvPr/>
        </p:nvSpPr>
        <p:spPr>
          <a:xfrm>
            <a:off x="502920" y="2606040"/>
            <a:ext cx="7315200" cy="292608"/>
          </a:xfrm>
          <a:prstGeom prst="rect">
            <a:avLst/>
          </a:prstGeom>
          <a:noFill/>
          <a:ln/>
        </p:spPr>
        <p:txBody>
          <a:bodyPr wrap="square" lIns="0" tIns="0" rIns="0" bIns="0" rtlCol="0" anchor="ctr"/>
          <a:lstStyle/>
          <a:p>
            <a:pPr marL="0" indent="0">
              <a:buNone/>
            </a:pPr>
            <a:r>
              <a:rPr lang="en-US" sz="1500" b="1" i="1" dirty="0" err="1" smtClean="0">
                <a:solidFill>
                  <a:srgbClr val="8BA0B4"/>
                </a:solidFill>
              </a:rPr>
              <a:t>Giảng</a:t>
            </a:r>
            <a:r>
              <a:rPr lang="en-US" sz="1500" b="1" i="1" dirty="0" smtClean="0">
                <a:solidFill>
                  <a:srgbClr val="8BA0B4"/>
                </a:solidFill>
              </a:rPr>
              <a:t> </a:t>
            </a:r>
            <a:r>
              <a:rPr lang="en-US" sz="1500" b="1" i="1" dirty="0" err="1" smtClean="0">
                <a:solidFill>
                  <a:srgbClr val="8BA0B4"/>
                </a:solidFill>
              </a:rPr>
              <a:t>viên</a:t>
            </a:r>
            <a:r>
              <a:rPr lang="en-US" sz="1500" b="1" i="1" dirty="0" smtClean="0">
                <a:solidFill>
                  <a:srgbClr val="8BA0B4"/>
                </a:solidFill>
              </a:rPr>
              <a:t> </a:t>
            </a:r>
            <a:r>
              <a:rPr lang="en-US" sz="1500" b="1" i="1" dirty="0" err="1" smtClean="0">
                <a:solidFill>
                  <a:srgbClr val="8BA0B4"/>
                </a:solidFill>
              </a:rPr>
              <a:t>hướng</a:t>
            </a:r>
            <a:r>
              <a:rPr lang="en-US" sz="1500" b="1" i="1" dirty="0" smtClean="0">
                <a:solidFill>
                  <a:srgbClr val="8BA0B4"/>
                </a:solidFill>
              </a:rPr>
              <a:t> </a:t>
            </a:r>
            <a:r>
              <a:rPr lang="en-US" sz="1500" b="1" i="1" dirty="0" err="1" smtClean="0">
                <a:solidFill>
                  <a:srgbClr val="8BA0B4"/>
                </a:solidFill>
              </a:rPr>
              <a:t>dẫn</a:t>
            </a:r>
            <a:r>
              <a:rPr lang="en-US" sz="1500" b="1" i="1" dirty="0" smtClean="0">
                <a:solidFill>
                  <a:srgbClr val="8BA0B4"/>
                </a:solidFill>
              </a:rPr>
              <a:t>: TS. Nguyễn </a:t>
            </a:r>
            <a:r>
              <a:rPr lang="en-US" sz="1500" b="1" i="1" dirty="0" err="1" smtClean="0">
                <a:solidFill>
                  <a:srgbClr val="8BA0B4"/>
                </a:solidFill>
              </a:rPr>
              <a:t>Đức</a:t>
            </a:r>
            <a:r>
              <a:rPr lang="en-US" sz="1500" b="1" i="1" dirty="0" smtClean="0">
                <a:solidFill>
                  <a:srgbClr val="8BA0B4"/>
                </a:solidFill>
              </a:rPr>
              <a:t> </a:t>
            </a:r>
            <a:r>
              <a:rPr lang="en-US" sz="1500" b="1" i="1" dirty="0" err="1" smtClean="0">
                <a:solidFill>
                  <a:srgbClr val="8BA0B4"/>
                </a:solidFill>
              </a:rPr>
              <a:t>Toàn</a:t>
            </a:r>
            <a:endParaRPr lang="en-US" sz="1500" b="1" dirty="0"/>
          </a:p>
        </p:txBody>
      </p:sp>
      <p:sp>
        <p:nvSpPr>
          <p:cNvPr id="13" name="Text 9"/>
          <p:cNvSpPr/>
          <p:nvPr/>
        </p:nvSpPr>
        <p:spPr>
          <a:xfrm>
            <a:off x="502920" y="3030487"/>
            <a:ext cx="8229600" cy="937260"/>
          </a:xfrm>
          <a:prstGeom prst="rect">
            <a:avLst/>
          </a:prstGeom>
          <a:noFill/>
          <a:ln/>
        </p:spPr>
        <p:txBody>
          <a:bodyPr wrap="square" lIns="0" tIns="0" rIns="0" bIns="0" rtlCol="0" anchor="ctr"/>
          <a:lstStyle/>
          <a:p>
            <a:pPr marL="0" indent="0">
              <a:buNone/>
            </a:pPr>
            <a:r>
              <a:rPr lang="en-US" sz="1200" b="1" dirty="0" smtClean="0">
                <a:solidFill>
                  <a:srgbClr val="FFFFFF"/>
                </a:solidFill>
              </a:rPr>
              <a:t>Nguyễn Tiến Lâm</a:t>
            </a:r>
            <a:r>
              <a:rPr lang="en-US" sz="1200" dirty="0" smtClean="0">
                <a:solidFill>
                  <a:srgbClr val="FFFFFF"/>
                </a:solidFill>
              </a:rPr>
              <a:t>  |  Lam.NT251061M@sis.hust.edu.vn</a:t>
            </a:r>
            <a:endParaRPr lang="en-US" sz="1200" dirty="0"/>
          </a:p>
        </p:txBody>
      </p:sp>
      <p:sp>
        <p:nvSpPr>
          <p:cNvPr id="14" name="Text 9"/>
          <p:cNvSpPr/>
          <p:nvPr/>
        </p:nvSpPr>
        <p:spPr>
          <a:xfrm>
            <a:off x="502920" y="3608806"/>
            <a:ext cx="8229600" cy="937260"/>
          </a:xfrm>
          <a:prstGeom prst="rect">
            <a:avLst/>
          </a:prstGeom>
          <a:noFill/>
          <a:ln/>
        </p:spPr>
        <p:txBody>
          <a:bodyPr wrap="square" lIns="0" tIns="0" rIns="0" bIns="0" rtlCol="0" anchor="ctr"/>
          <a:lstStyle/>
          <a:p>
            <a:r>
              <a:rPr lang="en-US" sz="1200" b="1" dirty="0" smtClean="0">
                <a:solidFill>
                  <a:srgbClr val="FFFFFF"/>
                </a:solidFill>
              </a:rPr>
              <a:t>Nguyễn </a:t>
            </a:r>
            <a:r>
              <a:rPr lang="en-US" sz="1200" b="1" dirty="0" err="1" smtClean="0">
                <a:solidFill>
                  <a:srgbClr val="FFFFFF"/>
                </a:solidFill>
              </a:rPr>
              <a:t>Kỳ</a:t>
            </a:r>
            <a:r>
              <a:rPr lang="en-US" sz="1200" b="1" dirty="0" smtClean="0">
                <a:solidFill>
                  <a:srgbClr val="FFFFFF"/>
                </a:solidFill>
              </a:rPr>
              <a:t> </a:t>
            </a:r>
            <a:r>
              <a:rPr lang="en-US" sz="1200" b="1" dirty="0" err="1" smtClean="0">
                <a:solidFill>
                  <a:srgbClr val="FFFFFF"/>
                </a:solidFill>
              </a:rPr>
              <a:t>Tùng</a:t>
            </a:r>
            <a:r>
              <a:rPr lang="en-US" sz="1200" dirty="0" smtClean="0">
                <a:solidFill>
                  <a:srgbClr val="FFFFFF"/>
                </a:solidFill>
              </a:rPr>
              <a:t>   |  Tung.NK251075M@sis.hust.edu.vn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Nội dung trình bày</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411480" y="841248"/>
            <a:ext cx="8321040" cy="65836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411480" y="841248"/>
            <a:ext cx="54864" cy="658368"/>
          </a:xfrm>
          <a:prstGeom prst="rect">
            <a:avLst/>
          </a:prstGeom>
          <a:solidFill>
            <a:srgbClr val="0096B7"/>
          </a:solidFill>
          <a:ln w="12700">
            <a:solidFill>
              <a:srgbClr val="0096B7"/>
            </a:solidFill>
            <a:prstDash val="solid"/>
          </a:ln>
        </p:spPr>
      </p:sp>
      <p:sp>
        <p:nvSpPr>
          <p:cNvPr id="9" name="Text 7"/>
          <p:cNvSpPr/>
          <p:nvPr/>
        </p:nvSpPr>
        <p:spPr>
          <a:xfrm>
            <a:off x="521208" y="841248"/>
            <a:ext cx="594360" cy="658368"/>
          </a:xfrm>
          <a:prstGeom prst="rect">
            <a:avLst/>
          </a:prstGeom>
          <a:noFill/>
          <a:ln/>
        </p:spPr>
        <p:txBody>
          <a:bodyPr wrap="square" lIns="0" tIns="0" rIns="0" bIns="0" rtlCol="0" anchor="ctr"/>
          <a:lstStyle/>
          <a:p>
            <a:pPr marL="0" indent="0" algn="ctr">
              <a:buNone/>
            </a:pPr>
            <a:r>
              <a:rPr lang="en-US" sz="1800" b="1" dirty="0">
                <a:solidFill>
                  <a:srgbClr val="0096B7"/>
                </a:solidFill>
              </a:rPr>
              <a:t>01</a:t>
            </a:r>
            <a:endParaRPr lang="en-US" sz="1800" dirty="0"/>
          </a:p>
        </p:txBody>
      </p:sp>
      <p:sp>
        <p:nvSpPr>
          <p:cNvPr id="10" name="Text 8"/>
          <p:cNvSpPr/>
          <p:nvPr/>
        </p:nvSpPr>
        <p:spPr>
          <a:xfrm>
            <a:off x="1188720" y="886968"/>
            <a:ext cx="4114800" cy="320040"/>
          </a:xfrm>
          <a:prstGeom prst="rect">
            <a:avLst/>
          </a:prstGeom>
          <a:noFill/>
          <a:ln/>
        </p:spPr>
        <p:txBody>
          <a:bodyPr wrap="square" lIns="0" tIns="0" rIns="0" bIns="0" rtlCol="0" anchor="ctr"/>
          <a:lstStyle/>
          <a:p>
            <a:pPr marL="0" indent="0">
              <a:buNone/>
            </a:pPr>
            <a:r>
              <a:rPr lang="en-US" sz="1300" b="1" dirty="0">
                <a:solidFill>
                  <a:srgbClr val="0D1B2A"/>
                </a:solidFill>
              </a:rPr>
              <a:t>Vấn đề được giải quyết</a:t>
            </a:r>
            <a:endParaRPr lang="en-US" sz="1300" dirty="0"/>
          </a:p>
        </p:txBody>
      </p:sp>
      <p:sp>
        <p:nvSpPr>
          <p:cNvPr id="11" name="Text 9"/>
          <p:cNvSpPr/>
          <p:nvPr/>
        </p:nvSpPr>
        <p:spPr>
          <a:xfrm>
            <a:off x="1188720" y="1188720"/>
            <a:ext cx="7223760" cy="256032"/>
          </a:xfrm>
          <a:prstGeom prst="rect">
            <a:avLst/>
          </a:prstGeom>
          <a:noFill/>
          <a:ln/>
        </p:spPr>
        <p:txBody>
          <a:bodyPr wrap="square" lIns="0" tIns="0" rIns="0" bIns="0" rtlCol="0" anchor="ctr"/>
          <a:lstStyle/>
          <a:p>
            <a:pPr marL="0" indent="0">
              <a:buNone/>
            </a:pPr>
            <a:r>
              <a:rPr lang="en-US" sz="1000" dirty="0">
                <a:solidFill>
                  <a:srgbClr val="64748B"/>
                </a:solidFill>
              </a:rPr>
              <a:t>EDoS attack, cloud autoscaling, thị trường đám mây</a:t>
            </a:r>
            <a:endParaRPr lang="en-US" sz="1000" dirty="0"/>
          </a:p>
        </p:txBody>
      </p:sp>
      <p:sp>
        <p:nvSpPr>
          <p:cNvPr id="12" name="Shape 10"/>
          <p:cNvSpPr/>
          <p:nvPr/>
        </p:nvSpPr>
        <p:spPr>
          <a:xfrm>
            <a:off x="411480" y="1591056"/>
            <a:ext cx="8321040" cy="65836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13" name="Shape 11"/>
          <p:cNvSpPr/>
          <p:nvPr/>
        </p:nvSpPr>
        <p:spPr>
          <a:xfrm>
            <a:off x="411480" y="1591056"/>
            <a:ext cx="54864" cy="658368"/>
          </a:xfrm>
          <a:prstGeom prst="rect">
            <a:avLst/>
          </a:prstGeom>
          <a:solidFill>
            <a:srgbClr val="0096B7"/>
          </a:solidFill>
          <a:ln w="12700">
            <a:solidFill>
              <a:srgbClr val="0096B7"/>
            </a:solidFill>
            <a:prstDash val="solid"/>
          </a:ln>
        </p:spPr>
      </p:sp>
      <p:sp>
        <p:nvSpPr>
          <p:cNvPr id="14" name="Text 12"/>
          <p:cNvSpPr/>
          <p:nvPr/>
        </p:nvSpPr>
        <p:spPr>
          <a:xfrm>
            <a:off x="521208" y="1591056"/>
            <a:ext cx="594360" cy="658368"/>
          </a:xfrm>
          <a:prstGeom prst="rect">
            <a:avLst/>
          </a:prstGeom>
          <a:noFill/>
          <a:ln/>
        </p:spPr>
        <p:txBody>
          <a:bodyPr wrap="square" lIns="0" tIns="0" rIns="0" bIns="0" rtlCol="0" anchor="ctr"/>
          <a:lstStyle/>
          <a:p>
            <a:pPr marL="0" indent="0" algn="ctr">
              <a:buNone/>
            </a:pPr>
            <a:r>
              <a:rPr lang="en-US" sz="1800" b="1" dirty="0">
                <a:solidFill>
                  <a:srgbClr val="0096B7"/>
                </a:solidFill>
              </a:rPr>
              <a:t>02</a:t>
            </a:r>
            <a:endParaRPr lang="en-US" sz="1800" dirty="0"/>
          </a:p>
        </p:txBody>
      </p:sp>
      <p:sp>
        <p:nvSpPr>
          <p:cNvPr id="15" name="Text 13"/>
          <p:cNvSpPr/>
          <p:nvPr/>
        </p:nvSpPr>
        <p:spPr>
          <a:xfrm>
            <a:off x="1188720" y="1636776"/>
            <a:ext cx="4114800" cy="320040"/>
          </a:xfrm>
          <a:prstGeom prst="rect">
            <a:avLst/>
          </a:prstGeom>
          <a:noFill/>
          <a:ln/>
        </p:spPr>
        <p:txBody>
          <a:bodyPr wrap="square" lIns="0" tIns="0" rIns="0" bIns="0" rtlCol="0" anchor="ctr"/>
          <a:lstStyle/>
          <a:p>
            <a:pPr marL="0" indent="0">
              <a:buNone/>
            </a:pPr>
            <a:r>
              <a:rPr lang="en-US" sz="1300" b="1" dirty="0" err="1" smtClean="0">
                <a:solidFill>
                  <a:srgbClr val="0D1B2A"/>
                </a:solidFill>
              </a:rPr>
              <a:t>Kiến</a:t>
            </a:r>
            <a:r>
              <a:rPr lang="en-US" sz="1300" b="1" dirty="0" smtClean="0">
                <a:solidFill>
                  <a:srgbClr val="0D1B2A"/>
                </a:solidFill>
              </a:rPr>
              <a:t> </a:t>
            </a:r>
            <a:r>
              <a:rPr lang="en-US" sz="1300" b="1" dirty="0" err="1" smtClean="0">
                <a:solidFill>
                  <a:srgbClr val="0D1B2A"/>
                </a:solidFill>
              </a:rPr>
              <a:t>thức</a:t>
            </a:r>
            <a:r>
              <a:rPr lang="en-US" sz="1300" b="1" dirty="0" smtClean="0">
                <a:solidFill>
                  <a:srgbClr val="0D1B2A"/>
                </a:solidFill>
              </a:rPr>
              <a:t> </a:t>
            </a:r>
            <a:r>
              <a:rPr lang="en-US" sz="1300" b="1" dirty="0" err="1" smtClean="0">
                <a:solidFill>
                  <a:srgbClr val="0D1B2A"/>
                </a:solidFill>
              </a:rPr>
              <a:t>nền</a:t>
            </a:r>
            <a:r>
              <a:rPr lang="en-US" sz="1300" b="1" dirty="0" smtClean="0">
                <a:solidFill>
                  <a:srgbClr val="0D1B2A"/>
                </a:solidFill>
              </a:rPr>
              <a:t> </a:t>
            </a:r>
            <a:r>
              <a:rPr lang="en-US" sz="1300" b="1" dirty="0" err="1" smtClean="0">
                <a:solidFill>
                  <a:srgbClr val="0D1B2A"/>
                </a:solidFill>
              </a:rPr>
              <a:t>tảng</a:t>
            </a:r>
            <a:endParaRPr lang="en-US" sz="1300" dirty="0"/>
          </a:p>
        </p:txBody>
      </p:sp>
      <p:sp>
        <p:nvSpPr>
          <p:cNvPr id="16" name="Text 14"/>
          <p:cNvSpPr/>
          <p:nvPr/>
        </p:nvSpPr>
        <p:spPr>
          <a:xfrm>
            <a:off x="1188720" y="1938528"/>
            <a:ext cx="7223760" cy="256032"/>
          </a:xfrm>
          <a:prstGeom prst="rect">
            <a:avLst/>
          </a:prstGeom>
          <a:noFill/>
          <a:ln/>
        </p:spPr>
        <p:txBody>
          <a:bodyPr wrap="square" lIns="0" tIns="0" rIns="0" bIns="0" rtlCol="0" anchor="ctr"/>
          <a:lstStyle/>
          <a:p>
            <a:r>
              <a:rPr lang="en-US" sz="1000" dirty="0">
                <a:solidFill>
                  <a:srgbClr val="64748B"/>
                </a:solidFill>
              </a:rPr>
              <a:t>Kubernetes/HPA, MDP, Semi-MDP, </a:t>
            </a:r>
            <a:r>
              <a:rPr lang="en-US" sz="1000" dirty="0" err="1">
                <a:solidFill>
                  <a:srgbClr val="64748B"/>
                </a:solidFill>
              </a:rPr>
              <a:t>Stackelberg</a:t>
            </a:r>
            <a:r>
              <a:rPr lang="en-US" sz="1000" dirty="0">
                <a:solidFill>
                  <a:srgbClr val="64748B"/>
                </a:solidFill>
              </a:rPr>
              <a:t> </a:t>
            </a:r>
            <a:r>
              <a:rPr lang="en-US" sz="1000" dirty="0" smtClean="0">
                <a:solidFill>
                  <a:srgbClr val="64748B"/>
                </a:solidFill>
              </a:rPr>
              <a:t>Game</a:t>
            </a:r>
            <a:endParaRPr lang="en-US" sz="1000" dirty="0"/>
          </a:p>
        </p:txBody>
      </p:sp>
      <p:sp>
        <p:nvSpPr>
          <p:cNvPr id="17" name="Shape 15"/>
          <p:cNvSpPr/>
          <p:nvPr/>
        </p:nvSpPr>
        <p:spPr>
          <a:xfrm>
            <a:off x="411480" y="2340864"/>
            <a:ext cx="8321040" cy="65836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18" name="Shape 16"/>
          <p:cNvSpPr/>
          <p:nvPr/>
        </p:nvSpPr>
        <p:spPr>
          <a:xfrm>
            <a:off x="411480" y="2340864"/>
            <a:ext cx="54864" cy="658368"/>
          </a:xfrm>
          <a:prstGeom prst="rect">
            <a:avLst/>
          </a:prstGeom>
          <a:solidFill>
            <a:srgbClr val="F47B20"/>
          </a:solidFill>
          <a:ln w="12700">
            <a:solidFill>
              <a:srgbClr val="F47B20"/>
            </a:solidFill>
            <a:prstDash val="solid"/>
          </a:ln>
        </p:spPr>
      </p:sp>
      <p:sp>
        <p:nvSpPr>
          <p:cNvPr id="19" name="Text 17"/>
          <p:cNvSpPr/>
          <p:nvPr/>
        </p:nvSpPr>
        <p:spPr>
          <a:xfrm>
            <a:off x="521208" y="2340864"/>
            <a:ext cx="594360" cy="658368"/>
          </a:xfrm>
          <a:prstGeom prst="rect">
            <a:avLst/>
          </a:prstGeom>
          <a:noFill/>
          <a:ln/>
        </p:spPr>
        <p:txBody>
          <a:bodyPr wrap="square" lIns="0" tIns="0" rIns="0" bIns="0" rtlCol="0" anchor="ctr"/>
          <a:lstStyle/>
          <a:p>
            <a:pPr marL="0" indent="0" algn="ctr">
              <a:buNone/>
            </a:pPr>
            <a:r>
              <a:rPr lang="en-US" sz="1800" b="1" dirty="0">
                <a:solidFill>
                  <a:srgbClr val="F47B20"/>
                </a:solidFill>
              </a:rPr>
              <a:t>03</a:t>
            </a:r>
            <a:endParaRPr lang="en-US" sz="1800" dirty="0"/>
          </a:p>
        </p:txBody>
      </p:sp>
      <p:sp>
        <p:nvSpPr>
          <p:cNvPr id="20" name="Text 18"/>
          <p:cNvSpPr/>
          <p:nvPr/>
        </p:nvSpPr>
        <p:spPr>
          <a:xfrm>
            <a:off x="1188720" y="2386584"/>
            <a:ext cx="4114800" cy="320040"/>
          </a:xfrm>
          <a:prstGeom prst="rect">
            <a:avLst/>
          </a:prstGeom>
          <a:noFill/>
          <a:ln/>
        </p:spPr>
        <p:txBody>
          <a:bodyPr wrap="square" lIns="0" tIns="0" rIns="0" bIns="0" rtlCol="0" anchor="ctr"/>
          <a:lstStyle/>
          <a:p>
            <a:pPr marL="0" indent="0">
              <a:buNone/>
            </a:pPr>
            <a:r>
              <a:rPr lang="en-US" sz="1300" b="1" dirty="0" err="1" smtClean="0">
                <a:solidFill>
                  <a:srgbClr val="0D1B2A"/>
                </a:solidFill>
              </a:rPr>
              <a:t>Giải</a:t>
            </a:r>
            <a:r>
              <a:rPr lang="en-US" sz="1300" b="1" dirty="0" smtClean="0">
                <a:solidFill>
                  <a:srgbClr val="0D1B2A"/>
                </a:solidFill>
              </a:rPr>
              <a:t> </a:t>
            </a:r>
            <a:r>
              <a:rPr lang="en-US" sz="1300" b="1" dirty="0" err="1" smtClean="0">
                <a:solidFill>
                  <a:srgbClr val="0D1B2A"/>
                </a:solidFill>
              </a:rPr>
              <a:t>pháp</a:t>
            </a:r>
            <a:r>
              <a:rPr lang="en-US" sz="1300" b="1" dirty="0" smtClean="0">
                <a:solidFill>
                  <a:srgbClr val="0D1B2A"/>
                </a:solidFill>
              </a:rPr>
              <a:t> </a:t>
            </a:r>
            <a:r>
              <a:rPr lang="en-US" sz="1300" b="1" dirty="0" err="1" smtClean="0">
                <a:solidFill>
                  <a:srgbClr val="0D1B2A"/>
                </a:solidFill>
              </a:rPr>
              <a:t>đề</a:t>
            </a:r>
            <a:r>
              <a:rPr lang="en-US" sz="1300" b="1" dirty="0" smtClean="0">
                <a:solidFill>
                  <a:srgbClr val="0D1B2A"/>
                </a:solidFill>
              </a:rPr>
              <a:t> </a:t>
            </a:r>
            <a:r>
              <a:rPr lang="en-US" sz="1300" b="1" dirty="0" err="1" smtClean="0">
                <a:solidFill>
                  <a:srgbClr val="0D1B2A"/>
                </a:solidFill>
              </a:rPr>
              <a:t>xuất</a:t>
            </a:r>
            <a:endParaRPr lang="en-US" sz="1300" dirty="0"/>
          </a:p>
        </p:txBody>
      </p:sp>
      <p:sp>
        <p:nvSpPr>
          <p:cNvPr id="21" name="Text 19"/>
          <p:cNvSpPr/>
          <p:nvPr/>
        </p:nvSpPr>
        <p:spPr>
          <a:xfrm>
            <a:off x="1188720" y="2688336"/>
            <a:ext cx="7223760" cy="256032"/>
          </a:xfrm>
          <a:prstGeom prst="rect">
            <a:avLst/>
          </a:prstGeom>
          <a:noFill/>
          <a:ln/>
        </p:spPr>
        <p:txBody>
          <a:bodyPr wrap="square" lIns="0" tIns="0" rIns="0" bIns="0" rtlCol="0" anchor="ctr"/>
          <a:lstStyle/>
          <a:p>
            <a:pPr marL="0" indent="0">
              <a:buNone/>
            </a:pPr>
            <a:r>
              <a:rPr lang="en-US" sz="1000" dirty="0" err="1" smtClean="0">
                <a:solidFill>
                  <a:srgbClr val="64748B"/>
                </a:solidFill>
              </a:rPr>
              <a:t>Mô</a:t>
            </a:r>
            <a:r>
              <a:rPr lang="en-US" sz="1000" dirty="0" smtClean="0">
                <a:solidFill>
                  <a:srgbClr val="64748B"/>
                </a:solidFill>
              </a:rPr>
              <a:t> </a:t>
            </a:r>
            <a:r>
              <a:rPr lang="en-US" sz="1000" dirty="0" err="1" smtClean="0">
                <a:solidFill>
                  <a:srgbClr val="64748B"/>
                </a:solidFill>
              </a:rPr>
              <a:t>hình</a:t>
            </a:r>
            <a:r>
              <a:rPr lang="en-US" sz="1000" dirty="0" smtClean="0">
                <a:solidFill>
                  <a:srgbClr val="64748B"/>
                </a:solidFill>
              </a:rPr>
              <a:t> </a:t>
            </a:r>
            <a:r>
              <a:rPr lang="en-US" sz="1000" dirty="0" err="1" smtClean="0">
                <a:solidFill>
                  <a:srgbClr val="64748B"/>
                </a:solidFill>
              </a:rPr>
              <a:t>stackelberg</a:t>
            </a:r>
            <a:r>
              <a:rPr lang="en-US" sz="1000" dirty="0" smtClean="0">
                <a:solidFill>
                  <a:srgbClr val="64748B"/>
                </a:solidFill>
              </a:rPr>
              <a:t> 2 </a:t>
            </a:r>
            <a:r>
              <a:rPr lang="en-US" sz="1000" dirty="0" err="1" smtClean="0">
                <a:solidFill>
                  <a:srgbClr val="64748B"/>
                </a:solidFill>
              </a:rPr>
              <a:t>giai</a:t>
            </a:r>
            <a:r>
              <a:rPr lang="en-US" sz="1000" dirty="0" smtClean="0">
                <a:solidFill>
                  <a:srgbClr val="64748B"/>
                </a:solidFill>
              </a:rPr>
              <a:t> </a:t>
            </a:r>
            <a:r>
              <a:rPr lang="en-US" sz="1000" dirty="0" err="1" smtClean="0">
                <a:solidFill>
                  <a:srgbClr val="64748B"/>
                </a:solidFill>
              </a:rPr>
              <a:t>đoạn</a:t>
            </a:r>
            <a:endParaRPr lang="en-US" sz="1000" dirty="0"/>
          </a:p>
        </p:txBody>
      </p:sp>
      <p:sp>
        <p:nvSpPr>
          <p:cNvPr id="22" name="Shape 20"/>
          <p:cNvSpPr/>
          <p:nvPr/>
        </p:nvSpPr>
        <p:spPr>
          <a:xfrm>
            <a:off x="411480" y="3090672"/>
            <a:ext cx="8321040" cy="65836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3" name="Shape 21"/>
          <p:cNvSpPr/>
          <p:nvPr/>
        </p:nvSpPr>
        <p:spPr>
          <a:xfrm>
            <a:off x="411480" y="3090672"/>
            <a:ext cx="54864" cy="658368"/>
          </a:xfrm>
          <a:prstGeom prst="rect">
            <a:avLst/>
          </a:prstGeom>
          <a:solidFill>
            <a:srgbClr val="F47B20"/>
          </a:solidFill>
          <a:ln w="12700">
            <a:solidFill>
              <a:srgbClr val="F47B20"/>
            </a:solidFill>
            <a:prstDash val="solid"/>
          </a:ln>
        </p:spPr>
      </p:sp>
      <p:sp>
        <p:nvSpPr>
          <p:cNvPr id="24" name="Text 22"/>
          <p:cNvSpPr/>
          <p:nvPr/>
        </p:nvSpPr>
        <p:spPr>
          <a:xfrm>
            <a:off x="521208" y="3090672"/>
            <a:ext cx="594360" cy="658368"/>
          </a:xfrm>
          <a:prstGeom prst="rect">
            <a:avLst/>
          </a:prstGeom>
          <a:noFill/>
          <a:ln/>
        </p:spPr>
        <p:txBody>
          <a:bodyPr wrap="square" lIns="0" tIns="0" rIns="0" bIns="0" rtlCol="0" anchor="ctr"/>
          <a:lstStyle/>
          <a:p>
            <a:pPr marL="0" indent="0" algn="ctr">
              <a:buNone/>
            </a:pPr>
            <a:r>
              <a:rPr lang="en-US" sz="1800" b="1" dirty="0">
                <a:solidFill>
                  <a:srgbClr val="F47B20"/>
                </a:solidFill>
              </a:rPr>
              <a:t>04</a:t>
            </a:r>
            <a:endParaRPr lang="en-US" sz="1800" dirty="0"/>
          </a:p>
        </p:txBody>
      </p:sp>
      <p:sp>
        <p:nvSpPr>
          <p:cNvPr id="25" name="Text 23"/>
          <p:cNvSpPr/>
          <p:nvPr/>
        </p:nvSpPr>
        <p:spPr>
          <a:xfrm>
            <a:off x="1188720" y="3136392"/>
            <a:ext cx="4114800" cy="320040"/>
          </a:xfrm>
          <a:prstGeom prst="rect">
            <a:avLst/>
          </a:prstGeom>
          <a:noFill/>
          <a:ln/>
        </p:spPr>
        <p:txBody>
          <a:bodyPr wrap="square" lIns="0" tIns="0" rIns="0" bIns="0" rtlCol="0" anchor="ctr"/>
          <a:lstStyle/>
          <a:p>
            <a:pPr marL="0" indent="0">
              <a:buNone/>
            </a:pPr>
            <a:r>
              <a:rPr lang="en-US" sz="1300" b="1" dirty="0" err="1" smtClean="0">
                <a:solidFill>
                  <a:srgbClr val="0D1B2A"/>
                </a:solidFill>
              </a:rPr>
              <a:t>Triển</a:t>
            </a:r>
            <a:r>
              <a:rPr lang="en-US" sz="1300" b="1" dirty="0" smtClean="0">
                <a:solidFill>
                  <a:srgbClr val="0D1B2A"/>
                </a:solidFill>
              </a:rPr>
              <a:t> </a:t>
            </a:r>
            <a:r>
              <a:rPr lang="en-US" sz="1300" b="1" dirty="0" err="1" smtClean="0">
                <a:solidFill>
                  <a:srgbClr val="0D1B2A"/>
                </a:solidFill>
              </a:rPr>
              <a:t>khai</a:t>
            </a:r>
            <a:r>
              <a:rPr lang="en-US" sz="1300" b="1" dirty="0" smtClean="0">
                <a:solidFill>
                  <a:srgbClr val="0D1B2A"/>
                </a:solidFill>
              </a:rPr>
              <a:t> </a:t>
            </a:r>
            <a:r>
              <a:rPr lang="en-US" sz="1300" b="1" dirty="0" err="1" smtClean="0">
                <a:solidFill>
                  <a:srgbClr val="0D1B2A"/>
                </a:solidFill>
              </a:rPr>
              <a:t>đánh</a:t>
            </a:r>
            <a:r>
              <a:rPr lang="en-US" sz="1300" b="1" dirty="0" smtClean="0">
                <a:solidFill>
                  <a:srgbClr val="0D1B2A"/>
                </a:solidFill>
              </a:rPr>
              <a:t> </a:t>
            </a:r>
            <a:r>
              <a:rPr lang="en-US" sz="1300" b="1" dirty="0" err="1" smtClean="0">
                <a:solidFill>
                  <a:srgbClr val="0D1B2A"/>
                </a:solidFill>
              </a:rPr>
              <a:t>giá</a:t>
            </a:r>
            <a:r>
              <a:rPr lang="en-US" sz="1300" b="1" dirty="0" smtClean="0">
                <a:solidFill>
                  <a:srgbClr val="0D1B2A"/>
                </a:solidFill>
              </a:rPr>
              <a:t> </a:t>
            </a:r>
            <a:r>
              <a:rPr lang="en-US" sz="1300" b="1" dirty="0" err="1" smtClean="0">
                <a:solidFill>
                  <a:srgbClr val="0D1B2A"/>
                </a:solidFill>
              </a:rPr>
              <a:t>thực</a:t>
            </a:r>
            <a:r>
              <a:rPr lang="en-US" sz="1300" b="1" dirty="0" smtClean="0">
                <a:solidFill>
                  <a:srgbClr val="0D1B2A"/>
                </a:solidFill>
              </a:rPr>
              <a:t> </a:t>
            </a:r>
            <a:r>
              <a:rPr lang="en-US" sz="1300" b="1" dirty="0" err="1" smtClean="0">
                <a:solidFill>
                  <a:srgbClr val="0D1B2A"/>
                </a:solidFill>
              </a:rPr>
              <a:t>nghiệm</a:t>
            </a:r>
            <a:endParaRPr lang="en-US" sz="1300" dirty="0"/>
          </a:p>
        </p:txBody>
      </p:sp>
      <p:sp>
        <p:nvSpPr>
          <p:cNvPr id="26" name="Text 24"/>
          <p:cNvSpPr/>
          <p:nvPr/>
        </p:nvSpPr>
        <p:spPr>
          <a:xfrm>
            <a:off x="1188720" y="3438144"/>
            <a:ext cx="7223760" cy="256032"/>
          </a:xfrm>
          <a:prstGeom prst="rect">
            <a:avLst/>
          </a:prstGeom>
          <a:noFill/>
          <a:ln/>
        </p:spPr>
        <p:txBody>
          <a:bodyPr wrap="square" lIns="0" tIns="0" rIns="0" bIns="0" rtlCol="0" anchor="ctr"/>
          <a:lstStyle/>
          <a:p>
            <a:pPr marL="0" indent="0">
              <a:buNone/>
            </a:pPr>
            <a:r>
              <a:rPr lang="en-US" sz="1000" dirty="0" smtClean="0">
                <a:solidFill>
                  <a:srgbClr val="64748B"/>
                </a:solidFill>
              </a:rPr>
              <a:t>Demo </a:t>
            </a:r>
            <a:r>
              <a:rPr lang="en-US" sz="1000" dirty="0" err="1" smtClean="0">
                <a:solidFill>
                  <a:srgbClr val="64748B"/>
                </a:solidFill>
              </a:rPr>
              <a:t>thực</a:t>
            </a:r>
            <a:r>
              <a:rPr lang="en-US" sz="1000" dirty="0" smtClean="0">
                <a:solidFill>
                  <a:srgbClr val="64748B"/>
                </a:solidFill>
              </a:rPr>
              <a:t> </a:t>
            </a:r>
            <a:r>
              <a:rPr lang="en-US" sz="1000" dirty="0" err="1" smtClean="0">
                <a:solidFill>
                  <a:srgbClr val="64748B"/>
                </a:solidFill>
              </a:rPr>
              <a:t>nghiệm</a:t>
            </a:r>
            <a:r>
              <a:rPr lang="en-US" sz="1000" dirty="0" smtClean="0">
                <a:solidFill>
                  <a:srgbClr val="64748B"/>
                </a:solidFill>
              </a:rPr>
              <a:t> </a:t>
            </a:r>
            <a:r>
              <a:rPr lang="en-US" sz="1000" dirty="0" err="1" smtClean="0">
                <a:solidFill>
                  <a:srgbClr val="64748B"/>
                </a:solidFill>
              </a:rPr>
              <a:t>tấn</a:t>
            </a:r>
            <a:r>
              <a:rPr lang="en-US" sz="1000" dirty="0" smtClean="0">
                <a:solidFill>
                  <a:srgbClr val="64748B"/>
                </a:solidFill>
              </a:rPr>
              <a:t> </a:t>
            </a:r>
            <a:r>
              <a:rPr lang="en-US" sz="1000" dirty="0" err="1" smtClean="0">
                <a:solidFill>
                  <a:srgbClr val="64748B"/>
                </a:solidFill>
              </a:rPr>
              <a:t>công</a:t>
            </a:r>
            <a:r>
              <a:rPr lang="en-US" sz="1000" dirty="0" smtClean="0">
                <a:solidFill>
                  <a:srgbClr val="64748B"/>
                </a:solidFill>
              </a:rPr>
              <a:t> </a:t>
            </a:r>
            <a:r>
              <a:rPr lang="en-US" sz="1000" dirty="0" err="1" smtClean="0">
                <a:solidFill>
                  <a:srgbClr val="64748B"/>
                </a:solidFill>
              </a:rPr>
              <a:t>và</a:t>
            </a:r>
            <a:r>
              <a:rPr lang="en-US" sz="1000" dirty="0" smtClean="0">
                <a:solidFill>
                  <a:srgbClr val="64748B"/>
                </a:solidFill>
              </a:rPr>
              <a:t> </a:t>
            </a:r>
            <a:r>
              <a:rPr lang="en-US" sz="1000" dirty="0" err="1" smtClean="0">
                <a:solidFill>
                  <a:srgbClr val="64748B"/>
                </a:solidFill>
              </a:rPr>
              <a:t>phòng</a:t>
            </a:r>
            <a:r>
              <a:rPr lang="en-US" sz="1000" dirty="0" smtClean="0">
                <a:solidFill>
                  <a:srgbClr val="64748B"/>
                </a:solidFill>
              </a:rPr>
              <a:t> </a:t>
            </a:r>
            <a:r>
              <a:rPr lang="en-US" sz="1000" dirty="0" err="1" smtClean="0">
                <a:solidFill>
                  <a:srgbClr val="64748B"/>
                </a:solidFill>
              </a:rPr>
              <a:t>thủ</a:t>
            </a:r>
            <a:endParaRPr lang="en-US" sz="1000" dirty="0"/>
          </a:p>
        </p:txBody>
      </p:sp>
      <p:sp>
        <p:nvSpPr>
          <p:cNvPr id="27" name="Shape 25"/>
          <p:cNvSpPr/>
          <p:nvPr/>
        </p:nvSpPr>
        <p:spPr>
          <a:xfrm>
            <a:off x="411480" y="3840480"/>
            <a:ext cx="8321040" cy="65836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8" name="Shape 26"/>
          <p:cNvSpPr/>
          <p:nvPr/>
        </p:nvSpPr>
        <p:spPr>
          <a:xfrm>
            <a:off x="411480" y="3840480"/>
            <a:ext cx="54864" cy="658368"/>
          </a:xfrm>
          <a:prstGeom prst="rect">
            <a:avLst/>
          </a:prstGeom>
          <a:solidFill>
            <a:srgbClr val="006A85"/>
          </a:solidFill>
          <a:ln w="12700">
            <a:solidFill>
              <a:srgbClr val="006A85"/>
            </a:solidFill>
            <a:prstDash val="solid"/>
          </a:ln>
        </p:spPr>
      </p:sp>
      <p:sp>
        <p:nvSpPr>
          <p:cNvPr id="29" name="Text 27"/>
          <p:cNvSpPr/>
          <p:nvPr/>
        </p:nvSpPr>
        <p:spPr>
          <a:xfrm>
            <a:off x="521208" y="3840480"/>
            <a:ext cx="594360" cy="658368"/>
          </a:xfrm>
          <a:prstGeom prst="rect">
            <a:avLst/>
          </a:prstGeom>
          <a:noFill/>
          <a:ln/>
        </p:spPr>
        <p:txBody>
          <a:bodyPr wrap="square" lIns="0" tIns="0" rIns="0" bIns="0" rtlCol="0" anchor="ctr"/>
          <a:lstStyle/>
          <a:p>
            <a:pPr marL="0" indent="0" algn="ctr">
              <a:buNone/>
            </a:pPr>
            <a:r>
              <a:rPr lang="en-US" sz="1800" b="1" dirty="0">
                <a:solidFill>
                  <a:srgbClr val="006A85"/>
                </a:solidFill>
              </a:rPr>
              <a:t>05</a:t>
            </a:r>
            <a:endParaRPr lang="en-US" sz="1800" dirty="0"/>
          </a:p>
        </p:txBody>
      </p:sp>
      <p:sp>
        <p:nvSpPr>
          <p:cNvPr id="30" name="Text 28"/>
          <p:cNvSpPr/>
          <p:nvPr/>
        </p:nvSpPr>
        <p:spPr>
          <a:xfrm>
            <a:off x="1188720" y="3886200"/>
            <a:ext cx="4114800" cy="320040"/>
          </a:xfrm>
          <a:prstGeom prst="rect">
            <a:avLst/>
          </a:prstGeom>
          <a:noFill/>
          <a:ln/>
        </p:spPr>
        <p:txBody>
          <a:bodyPr wrap="square" lIns="0" tIns="0" rIns="0" bIns="0" rtlCol="0" anchor="ctr"/>
          <a:lstStyle/>
          <a:p>
            <a:pPr marL="0" indent="0">
              <a:buNone/>
            </a:pPr>
            <a:r>
              <a:rPr lang="en-US" sz="1300" b="1" dirty="0" err="1" smtClean="0">
                <a:solidFill>
                  <a:srgbClr val="0D1B2A"/>
                </a:solidFill>
              </a:rPr>
              <a:t>Kết</a:t>
            </a:r>
            <a:r>
              <a:rPr lang="en-US" sz="1300" b="1" dirty="0" smtClean="0">
                <a:solidFill>
                  <a:srgbClr val="0D1B2A"/>
                </a:solidFill>
              </a:rPr>
              <a:t> </a:t>
            </a:r>
            <a:r>
              <a:rPr lang="en-US" sz="1300" b="1" dirty="0" err="1" smtClean="0">
                <a:solidFill>
                  <a:srgbClr val="0D1B2A"/>
                </a:solidFill>
              </a:rPr>
              <a:t>quả</a:t>
            </a:r>
            <a:r>
              <a:rPr lang="en-US" sz="1300" b="1" dirty="0" smtClean="0">
                <a:solidFill>
                  <a:srgbClr val="0D1B2A"/>
                </a:solidFill>
              </a:rPr>
              <a:t> </a:t>
            </a:r>
            <a:r>
              <a:rPr lang="en-US" sz="1300" b="1" dirty="0" err="1" smtClean="0">
                <a:solidFill>
                  <a:srgbClr val="0D1B2A"/>
                </a:solidFill>
              </a:rPr>
              <a:t>và</a:t>
            </a:r>
            <a:r>
              <a:rPr lang="en-US" sz="1300" b="1" dirty="0" smtClean="0">
                <a:solidFill>
                  <a:srgbClr val="0D1B2A"/>
                </a:solidFill>
              </a:rPr>
              <a:t> </a:t>
            </a:r>
            <a:r>
              <a:rPr lang="en-US" sz="1300" b="1" dirty="0" err="1" smtClean="0">
                <a:solidFill>
                  <a:srgbClr val="0D1B2A"/>
                </a:solidFill>
              </a:rPr>
              <a:t>thảo</a:t>
            </a:r>
            <a:r>
              <a:rPr lang="en-US" sz="1300" b="1" dirty="0" smtClean="0">
                <a:solidFill>
                  <a:srgbClr val="0D1B2A"/>
                </a:solidFill>
              </a:rPr>
              <a:t> </a:t>
            </a:r>
            <a:r>
              <a:rPr lang="en-US" sz="1300" b="1" dirty="0" err="1" smtClean="0">
                <a:solidFill>
                  <a:srgbClr val="0D1B2A"/>
                </a:solidFill>
              </a:rPr>
              <a:t>luận</a:t>
            </a:r>
            <a:endParaRPr lang="en-US" sz="1300" dirty="0"/>
          </a:p>
        </p:txBody>
      </p:sp>
      <p:sp>
        <p:nvSpPr>
          <p:cNvPr id="31" name="Text 29"/>
          <p:cNvSpPr/>
          <p:nvPr/>
        </p:nvSpPr>
        <p:spPr>
          <a:xfrm>
            <a:off x="1188720" y="4187952"/>
            <a:ext cx="7223760" cy="256032"/>
          </a:xfrm>
          <a:prstGeom prst="rect">
            <a:avLst/>
          </a:prstGeom>
          <a:noFill/>
          <a:ln/>
        </p:spPr>
        <p:txBody>
          <a:bodyPr wrap="square" lIns="0" tIns="0" rIns="0" bIns="0" rtlCol="0" anchor="ctr"/>
          <a:lstStyle/>
          <a:p>
            <a:pPr marL="0" indent="0">
              <a:buNone/>
            </a:pPr>
            <a:r>
              <a:rPr lang="en-US" sz="1000" dirty="0" err="1" smtClean="0">
                <a:solidFill>
                  <a:srgbClr val="64748B"/>
                </a:solidFill>
              </a:rPr>
              <a:t>Kết</a:t>
            </a:r>
            <a:r>
              <a:rPr lang="en-US" sz="1000" dirty="0" smtClean="0">
                <a:solidFill>
                  <a:srgbClr val="64748B"/>
                </a:solidFill>
              </a:rPr>
              <a:t> </a:t>
            </a:r>
            <a:r>
              <a:rPr lang="en-US" sz="1000" dirty="0" err="1" smtClean="0">
                <a:solidFill>
                  <a:srgbClr val="64748B"/>
                </a:solidFill>
              </a:rPr>
              <a:t>luận</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01 · Vấn đề được giải quyết</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4114800" cy="393192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31920"/>
          </a:xfrm>
          <a:prstGeom prst="rect">
            <a:avLst/>
          </a:prstGeom>
          <a:solidFill>
            <a:srgbClr val="0096B7"/>
          </a:solidFill>
          <a:ln w="12700">
            <a:solidFill>
              <a:srgbClr val="0096B7"/>
            </a:solidFill>
            <a:prstDash val="solid"/>
          </a:ln>
        </p:spPr>
      </p:sp>
      <p:sp>
        <p:nvSpPr>
          <p:cNvPr id="9" name="Text 7"/>
          <p:cNvSpPr/>
          <p:nvPr/>
        </p:nvSpPr>
        <p:spPr>
          <a:xfrm>
            <a:off x="457200" y="841248"/>
            <a:ext cx="3749040" cy="320040"/>
          </a:xfrm>
          <a:prstGeom prst="rect">
            <a:avLst/>
          </a:prstGeom>
          <a:noFill/>
          <a:ln/>
        </p:spPr>
        <p:txBody>
          <a:bodyPr wrap="square" lIns="0" tIns="0" rIns="0" bIns="0" rtlCol="0" anchor="ctr"/>
          <a:lstStyle/>
          <a:p>
            <a:pPr marL="0" indent="0">
              <a:buNone/>
            </a:pPr>
            <a:r>
              <a:rPr lang="en-US" sz="1300" b="1" dirty="0">
                <a:solidFill>
                  <a:srgbClr val="0D1B2A"/>
                </a:solidFill>
              </a:rPr>
              <a:t>Bối cảnh</a:t>
            </a:r>
            <a:endParaRPr lang="en-US" sz="1300" dirty="0"/>
          </a:p>
        </p:txBody>
      </p:sp>
      <p:sp>
        <p:nvSpPr>
          <p:cNvPr id="10" name="Text 8"/>
          <p:cNvSpPr/>
          <p:nvPr/>
        </p:nvSpPr>
        <p:spPr>
          <a:xfrm>
            <a:off x="457200" y="1216152"/>
            <a:ext cx="3749040" cy="566928"/>
          </a:xfrm>
          <a:prstGeom prst="rect">
            <a:avLst/>
          </a:prstGeom>
          <a:noFill/>
          <a:ln/>
        </p:spPr>
        <p:txBody>
          <a:bodyPr wrap="square" lIns="0" tIns="0" rIns="0" bIns="0" rtlCol="0" anchor="t"/>
          <a:lstStyle/>
          <a:p>
            <a:pPr marL="0" indent="0">
              <a:buNone/>
            </a:pPr>
            <a:r>
              <a:rPr lang="en-US" sz="1100" b="1" dirty="0">
                <a:solidFill>
                  <a:srgbClr val="0096B7"/>
                </a:solidFill>
              </a:rPr>
              <a:t>›  </a:t>
            </a:r>
            <a:r>
              <a:rPr lang="en-US" sz="1100" dirty="0">
                <a:solidFill>
                  <a:srgbClr val="0D1B2A"/>
                </a:solidFill>
              </a:rPr>
              <a:t>Thị trường cloud công cộng dự kiến đạt 725 tỷ USD năm 2025 [2]</a:t>
            </a:r>
            <a:endParaRPr lang="en-US" sz="1100" dirty="0"/>
          </a:p>
        </p:txBody>
      </p:sp>
      <p:sp>
        <p:nvSpPr>
          <p:cNvPr id="11" name="Text 9"/>
          <p:cNvSpPr/>
          <p:nvPr/>
        </p:nvSpPr>
        <p:spPr>
          <a:xfrm>
            <a:off x="457200" y="1874520"/>
            <a:ext cx="3749040" cy="566928"/>
          </a:xfrm>
          <a:prstGeom prst="rect">
            <a:avLst/>
          </a:prstGeom>
          <a:noFill/>
          <a:ln/>
        </p:spPr>
        <p:txBody>
          <a:bodyPr wrap="square" lIns="0" tIns="0" rIns="0" bIns="0" rtlCol="0" anchor="t"/>
          <a:lstStyle/>
          <a:p>
            <a:pPr marL="0" indent="0">
              <a:buNone/>
            </a:pPr>
            <a:r>
              <a:rPr lang="en-US" sz="1100" b="1" dirty="0">
                <a:solidFill>
                  <a:srgbClr val="0096B7"/>
                </a:solidFill>
              </a:rPr>
              <a:t>›  </a:t>
            </a:r>
            <a:r>
              <a:rPr lang="en-US" sz="1100" dirty="0">
                <a:solidFill>
                  <a:srgbClr val="0D1B2A"/>
                </a:solidFill>
              </a:rPr>
              <a:t>Kubernetes trở thành nền tảng orchestration container hàng đầu [3]</a:t>
            </a:r>
            <a:endParaRPr lang="en-US" sz="1100" dirty="0"/>
          </a:p>
        </p:txBody>
      </p:sp>
      <p:sp>
        <p:nvSpPr>
          <p:cNvPr id="12" name="Text 10"/>
          <p:cNvSpPr/>
          <p:nvPr/>
        </p:nvSpPr>
        <p:spPr>
          <a:xfrm>
            <a:off x="457200" y="2532888"/>
            <a:ext cx="3749040" cy="566928"/>
          </a:xfrm>
          <a:prstGeom prst="rect">
            <a:avLst/>
          </a:prstGeom>
          <a:noFill/>
          <a:ln/>
        </p:spPr>
        <p:txBody>
          <a:bodyPr wrap="square" lIns="0" tIns="0" rIns="0" bIns="0" rtlCol="0" anchor="t"/>
          <a:lstStyle/>
          <a:p>
            <a:pPr marL="0" indent="0">
              <a:buNone/>
            </a:pPr>
            <a:r>
              <a:rPr lang="en-US" sz="1100" b="1" dirty="0">
                <a:solidFill>
                  <a:srgbClr val="0096B7"/>
                </a:solidFill>
              </a:rPr>
              <a:t>›  </a:t>
            </a:r>
            <a:r>
              <a:rPr lang="en-US" sz="1100" dirty="0">
                <a:solidFill>
                  <a:srgbClr val="0D1B2A"/>
                </a:solidFill>
              </a:rPr>
              <a:t>Autoscaling = lợi thế cạnh tranh nhưng cũng là điểm yếu mới</a:t>
            </a:r>
            <a:endParaRPr lang="en-US" sz="1100" dirty="0"/>
          </a:p>
        </p:txBody>
      </p:sp>
      <p:sp>
        <p:nvSpPr>
          <p:cNvPr id="13" name="Text 11"/>
          <p:cNvSpPr/>
          <p:nvPr/>
        </p:nvSpPr>
        <p:spPr>
          <a:xfrm>
            <a:off x="457200" y="3191256"/>
            <a:ext cx="3749040" cy="566928"/>
          </a:xfrm>
          <a:prstGeom prst="rect">
            <a:avLst/>
          </a:prstGeom>
          <a:noFill/>
          <a:ln/>
        </p:spPr>
        <p:txBody>
          <a:bodyPr wrap="square" lIns="0" tIns="0" rIns="0" bIns="0" rtlCol="0" anchor="t"/>
          <a:lstStyle/>
          <a:p>
            <a:pPr marL="0" indent="0">
              <a:buNone/>
            </a:pPr>
            <a:r>
              <a:rPr lang="en-US" sz="1100" b="1" dirty="0">
                <a:solidFill>
                  <a:srgbClr val="0096B7"/>
                </a:solidFill>
              </a:rPr>
              <a:t>›  </a:t>
            </a:r>
            <a:r>
              <a:rPr lang="en-US" sz="1100" dirty="0">
                <a:solidFill>
                  <a:srgbClr val="0D1B2A"/>
                </a:solidFill>
              </a:rPr>
              <a:t>Tấn công DDoS truyền thống đã có phòng thủ → EDoS là mối đe dọa mới [1]</a:t>
            </a:r>
            <a:endParaRPr lang="en-US" sz="1100" dirty="0"/>
          </a:p>
        </p:txBody>
      </p:sp>
      <p:sp>
        <p:nvSpPr>
          <p:cNvPr id="14" name="Shape 12"/>
          <p:cNvSpPr/>
          <p:nvPr/>
        </p:nvSpPr>
        <p:spPr>
          <a:xfrm>
            <a:off x="4572000" y="804672"/>
            <a:ext cx="4251960" cy="3931920"/>
          </a:xfrm>
          <a:prstGeom prst="rect">
            <a:avLst/>
          </a:prstGeom>
          <a:solidFill>
            <a:srgbClr val="0D1B2A"/>
          </a:solidFill>
          <a:ln w="9525">
            <a:solidFill>
              <a:srgbClr val="D4E3EE"/>
            </a:solidFill>
            <a:prstDash val="solid"/>
          </a:ln>
          <a:effectLst>
            <a:outerShdw blurRad="63500" dist="25400" dir="8100000" algn="bl" rotWithShape="0">
              <a:srgbClr val="000000">
                <a:alpha val="7000"/>
              </a:srgbClr>
            </a:outerShdw>
          </a:effectLst>
        </p:spPr>
      </p:sp>
      <p:sp>
        <p:nvSpPr>
          <p:cNvPr id="15" name="Text 13"/>
          <p:cNvSpPr/>
          <p:nvPr/>
        </p:nvSpPr>
        <p:spPr>
          <a:xfrm>
            <a:off x="4736592" y="868680"/>
            <a:ext cx="3840480" cy="347472"/>
          </a:xfrm>
          <a:prstGeom prst="rect">
            <a:avLst/>
          </a:prstGeom>
          <a:noFill/>
          <a:ln/>
        </p:spPr>
        <p:txBody>
          <a:bodyPr wrap="square" lIns="0" tIns="0" rIns="0" bIns="0" rtlCol="0" anchor="ctr"/>
          <a:lstStyle/>
          <a:p>
            <a:pPr marL="0" indent="0">
              <a:buNone/>
            </a:pPr>
            <a:r>
              <a:rPr lang="en-US" sz="1300" b="1" dirty="0">
                <a:solidFill>
                  <a:srgbClr val="0096B7"/>
                </a:solidFill>
              </a:rPr>
              <a:t>EDoS là gì?</a:t>
            </a:r>
            <a:endParaRPr lang="en-US" sz="1300" dirty="0"/>
          </a:p>
        </p:txBody>
      </p:sp>
      <p:sp>
        <p:nvSpPr>
          <p:cNvPr id="16" name="Text 14"/>
          <p:cNvSpPr/>
          <p:nvPr/>
        </p:nvSpPr>
        <p:spPr>
          <a:xfrm>
            <a:off x="4736592" y="1261872"/>
            <a:ext cx="3840480" cy="777240"/>
          </a:xfrm>
          <a:prstGeom prst="rect">
            <a:avLst/>
          </a:prstGeom>
          <a:noFill/>
          <a:ln/>
        </p:spPr>
        <p:txBody>
          <a:bodyPr wrap="square" lIns="0" tIns="0" rIns="0" bIns="0" rtlCol="0" anchor="ctr"/>
          <a:lstStyle/>
          <a:p>
            <a:pPr marL="0" indent="0">
              <a:buNone/>
            </a:pPr>
            <a:r>
              <a:rPr lang="en-US" sz="1800" b="1" dirty="0">
                <a:solidFill>
                  <a:srgbClr val="FFFFFF"/>
                </a:solidFill>
              </a:rPr>
              <a:t>Economic Denial</a:t>
            </a:r>
            <a:endParaRPr lang="en-US" sz="1800" dirty="0"/>
          </a:p>
          <a:p>
            <a:pPr marL="0" indent="0">
              <a:buNone/>
            </a:pPr>
            <a:r>
              <a:rPr lang="en-US" sz="1800" b="1" dirty="0">
                <a:solidFill>
                  <a:srgbClr val="FFFFFF"/>
                </a:solidFill>
              </a:rPr>
              <a:t>of Sustainability</a:t>
            </a:r>
            <a:endParaRPr lang="en-US" sz="1800" dirty="0"/>
          </a:p>
        </p:txBody>
      </p:sp>
      <p:sp>
        <p:nvSpPr>
          <p:cNvPr id="17" name="Text 15"/>
          <p:cNvSpPr/>
          <p:nvPr/>
        </p:nvSpPr>
        <p:spPr>
          <a:xfrm>
            <a:off x="4736592" y="2084832"/>
            <a:ext cx="3840480" cy="822960"/>
          </a:xfrm>
          <a:prstGeom prst="rect">
            <a:avLst/>
          </a:prstGeom>
          <a:noFill/>
          <a:ln/>
        </p:spPr>
        <p:txBody>
          <a:bodyPr wrap="square" lIns="0" tIns="0" rIns="0" bIns="0" rtlCol="0" anchor="ctr"/>
          <a:lstStyle/>
          <a:p>
            <a:pPr marL="0" indent="0">
              <a:buNone/>
            </a:pPr>
            <a:r>
              <a:rPr lang="en-US" sz="1050" dirty="0">
                <a:solidFill>
                  <a:srgbClr val="B8D4E8"/>
                </a:solidFill>
              </a:rPr>
              <a:t>Tấn công không làm sập hệ thống ngay lập tức — mà ép nạn nhân cạn kiệt tài chính bằng cách khai thác autoscaling để phát sinh chi phí khổng lồ.</a:t>
            </a:r>
            <a:endParaRPr lang="en-US" sz="1050" dirty="0"/>
          </a:p>
        </p:txBody>
      </p:sp>
      <p:sp>
        <p:nvSpPr>
          <p:cNvPr id="18" name="Shape 16"/>
          <p:cNvSpPr/>
          <p:nvPr/>
        </p:nvSpPr>
        <p:spPr>
          <a:xfrm>
            <a:off x="4736592" y="2999232"/>
            <a:ext cx="1207008" cy="1536192"/>
          </a:xfrm>
          <a:prstGeom prst="rect">
            <a:avLst/>
          </a:prstGeom>
          <a:solidFill>
            <a:srgbClr val="162435"/>
          </a:solidFill>
          <a:ln w="12700">
            <a:solidFill>
              <a:srgbClr val="F47B20"/>
            </a:solidFill>
            <a:prstDash val="solid"/>
          </a:ln>
        </p:spPr>
      </p:sp>
      <p:sp>
        <p:nvSpPr>
          <p:cNvPr id="19" name="Text 17"/>
          <p:cNvSpPr/>
          <p:nvPr/>
        </p:nvSpPr>
        <p:spPr>
          <a:xfrm>
            <a:off x="4736592" y="3044952"/>
            <a:ext cx="1207008" cy="640080"/>
          </a:xfrm>
          <a:prstGeom prst="rect">
            <a:avLst/>
          </a:prstGeom>
          <a:noFill/>
          <a:ln/>
        </p:spPr>
        <p:txBody>
          <a:bodyPr wrap="square" lIns="0" tIns="0" rIns="0" bIns="0" rtlCol="0" anchor="ctr"/>
          <a:lstStyle/>
          <a:p>
            <a:pPr marL="0" indent="0" algn="ctr">
              <a:buNone/>
            </a:pPr>
            <a:r>
              <a:rPr lang="en-US" sz="1800" b="1" dirty="0">
                <a:solidFill>
                  <a:srgbClr val="F47B20"/>
                </a:solidFill>
              </a:rPr>
              <a:t>$$$</a:t>
            </a:r>
            <a:endParaRPr lang="en-US" sz="1800" dirty="0"/>
          </a:p>
        </p:txBody>
      </p:sp>
      <p:sp>
        <p:nvSpPr>
          <p:cNvPr id="20" name="Text 18"/>
          <p:cNvSpPr/>
          <p:nvPr/>
        </p:nvSpPr>
        <p:spPr>
          <a:xfrm>
            <a:off x="4736592" y="3703320"/>
            <a:ext cx="1207008" cy="713232"/>
          </a:xfrm>
          <a:prstGeom prst="rect">
            <a:avLst/>
          </a:prstGeom>
          <a:noFill/>
          <a:ln/>
        </p:spPr>
        <p:txBody>
          <a:bodyPr wrap="square" lIns="0" tIns="0" rIns="0" bIns="0" rtlCol="0" anchor="ctr"/>
          <a:lstStyle/>
          <a:p>
            <a:pPr marL="0" indent="0" algn="ctr">
              <a:buNone/>
            </a:pPr>
            <a:r>
              <a:rPr lang="en-US" sz="950" dirty="0">
                <a:solidFill>
                  <a:srgbClr val="FFFFFF"/>
                </a:solidFill>
              </a:rPr>
              <a:t>Tăng hóa đơn</a:t>
            </a:r>
            <a:endParaRPr lang="en-US" sz="950" dirty="0"/>
          </a:p>
        </p:txBody>
      </p:sp>
      <p:sp>
        <p:nvSpPr>
          <p:cNvPr id="21" name="Shape 19"/>
          <p:cNvSpPr/>
          <p:nvPr/>
        </p:nvSpPr>
        <p:spPr>
          <a:xfrm>
            <a:off x="6062472" y="2999232"/>
            <a:ext cx="1207008" cy="1536192"/>
          </a:xfrm>
          <a:prstGeom prst="rect">
            <a:avLst/>
          </a:prstGeom>
          <a:solidFill>
            <a:srgbClr val="162435"/>
          </a:solidFill>
          <a:ln w="12700">
            <a:solidFill>
              <a:srgbClr val="0096B7"/>
            </a:solidFill>
            <a:prstDash val="solid"/>
          </a:ln>
        </p:spPr>
      </p:sp>
      <p:sp>
        <p:nvSpPr>
          <p:cNvPr id="22" name="Text 20"/>
          <p:cNvSpPr/>
          <p:nvPr/>
        </p:nvSpPr>
        <p:spPr>
          <a:xfrm>
            <a:off x="6062472" y="3044952"/>
            <a:ext cx="1207008" cy="640080"/>
          </a:xfrm>
          <a:prstGeom prst="rect">
            <a:avLst/>
          </a:prstGeom>
          <a:noFill/>
          <a:ln/>
        </p:spPr>
        <p:txBody>
          <a:bodyPr wrap="square" lIns="0" tIns="0" rIns="0" bIns="0" rtlCol="0" anchor="ctr"/>
          <a:lstStyle/>
          <a:p>
            <a:pPr marL="0" indent="0" algn="ctr">
              <a:buNone/>
            </a:pPr>
            <a:r>
              <a:rPr lang="en-US" sz="1800" b="1" dirty="0">
                <a:solidFill>
                  <a:srgbClr val="0096B7"/>
                </a:solidFill>
              </a:rPr>
              <a:t>↺↺</a:t>
            </a:r>
            <a:endParaRPr lang="en-US" sz="1800" dirty="0"/>
          </a:p>
        </p:txBody>
      </p:sp>
      <p:sp>
        <p:nvSpPr>
          <p:cNvPr id="23" name="Text 21"/>
          <p:cNvSpPr/>
          <p:nvPr/>
        </p:nvSpPr>
        <p:spPr>
          <a:xfrm>
            <a:off x="6062472" y="3703320"/>
            <a:ext cx="1207008" cy="713232"/>
          </a:xfrm>
          <a:prstGeom prst="rect">
            <a:avLst/>
          </a:prstGeom>
          <a:noFill/>
          <a:ln/>
        </p:spPr>
        <p:txBody>
          <a:bodyPr wrap="square" lIns="0" tIns="0" rIns="0" bIns="0" rtlCol="0" anchor="ctr"/>
          <a:lstStyle/>
          <a:p>
            <a:pPr marL="0" indent="0" algn="ctr">
              <a:buNone/>
            </a:pPr>
            <a:r>
              <a:rPr lang="en-US" sz="950" dirty="0">
                <a:solidFill>
                  <a:srgbClr val="FFFFFF"/>
                </a:solidFill>
              </a:rPr>
              <a:t>Kích autoscale</a:t>
            </a:r>
            <a:endParaRPr lang="en-US" sz="950" dirty="0"/>
          </a:p>
        </p:txBody>
      </p:sp>
      <p:sp>
        <p:nvSpPr>
          <p:cNvPr id="24" name="Shape 22"/>
          <p:cNvSpPr/>
          <p:nvPr/>
        </p:nvSpPr>
        <p:spPr>
          <a:xfrm>
            <a:off x="7388352" y="2999232"/>
            <a:ext cx="1207008" cy="1536192"/>
          </a:xfrm>
          <a:prstGeom prst="rect">
            <a:avLst/>
          </a:prstGeom>
          <a:solidFill>
            <a:srgbClr val="162435"/>
          </a:solidFill>
          <a:ln w="12700">
            <a:solidFill>
              <a:srgbClr val="D62828"/>
            </a:solidFill>
            <a:prstDash val="solid"/>
          </a:ln>
        </p:spPr>
      </p:sp>
      <p:sp>
        <p:nvSpPr>
          <p:cNvPr id="25" name="Text 23"/>
          <p:cNvSpPr/>
          <p:nvPr/>
        </p:nvSpPr>
        <p:spPr>
          <a:xfrm>
            <a:off x="7388352" y="3044952"/>
            <a:ext cx="1207008" cy="640080"/>
          </a:xfrm>
          <a:prstGeom prst="rect">
            <a:avLst/>
          </a:prstGeom>
          <a:noFill/>
          <a:ln/>
        </p:spPr>
        <p:txBody>
          <a:bodyPr wrap="square" lIns="0" tIns="0" rIns="0" bIns="0" rtlCol="0" anchor="ctr"/>
          <a:lstStyle/>
          <a:p>
            <a:pPr marL="0" indent="0" algn="ctr">
              <a:buNone/>
            </a:pPr>
            <a:r>
              <a:rPr lang="en-US" sz="1800" b="1" dirty="0">
                <a:solidFill>
                  <a:srgbClr val="D62828"/>
                </a:solidFill>
              </a:rPr>
              <a:t>✕✕</a:t>
            </a:r>
            <a:endParaRPr lang="en-US" sz="1800" dirty="0"/>
          </a:p>
        </p:txBody>
      </p:sp>
      <p:sp>
        <p:nvSpPr>
          <p:cNvPr id="26" name="Text 24"/>
          <p:cNvSpPr/>
          <p:nvPr/>
        </p:nvSpPr>
        <p:spPr>
          <a:xfrm>
            <a:off x="7388352" y="3703320"/>
            <a:ext cx="1207008" cy="713232"/>
          </a:xfrm>
          <a:prstGeom prst="rect">
            <a:avLst/>
          </a:prstGeom>
          <a:noFill/>
          <a:ln/>
        </p:spPr>
        <p:txBody>
          <a:bodyPr wrap="square" lIns="0" tIns="0" rIns="0" bIns="0" rtlCol="0" anchor="ctr"/>
          <a:lstStyle/>
          <a:p>
            <a:pPr marL="0" indent="0" algn="ctr">
              <a:buNone/>
            </a:pPr>
            <a:r>
              <a:rPr lang="en-US" sz="950" dirty="0">
                <a:solidFill>
                  <a:srgbClr val="FFFFFF"/>
                </a:solidFill>
              </a:rPr>
              <a:t>Phá sản nạn nhân</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smtClean="0">
                <a:solidFill>
                  <a:srgbClr val="FFFFFF"/>
                </a:solidFill>
              </a:rPr>
              <a:t>02 </a:t>
            </a:r>
            <a:r>
              <a:rPr lang="en-US" sz="2200" b="1" dirty="0">
                <a:solidFill>
                  <a:srgbClr val="FFFFFF"/>
                </a:solidFill>
              </a:rPr>
              <a:t>· Kiến thức nền tảng — Kubernetes &amp; Autoscaling</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22960"/>
            <a:ext cx="4160520" cy="393192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Text 6"/>
          <p:cNvSpPr/>
          <p:nvPr/>
        </p:nvSpPr>
        <p:spPr>
          <a:xfrm>
            <a:off x="411480" y="896112"/>
            <a:ext cx="3840480" cy="320040"/>
          </a:xfrm>
          <a:prstGeom prst="rect">
            <a:avLst/>
          </a:prstGeom>
          <a:noFill/>
          <a:ln/>
        </p:spPr>
        <p:txBody>
          <a:bodyPr wrap="square" lIns="0" tIns="0" rIns="0" bIns="0" rtlCol="0" anchor="ctr"/>
          <a:lstStyle/>
          <a:p>
            <a:pPr marL="0" indent="0">
              <a:buNone/>
            </a:pPr>
            <a:r>
              <a:rPr lang="en-US" sz="1200" b="1" dirty="0">
                <a:solidFill>
                  <a:srgbClr val="0D1B2A"/>
                </a:solidFill>
              </a:rPr>
              <a:t>Kiến trúc Kubernetes</a:t>
            </a:r>
            <a:endParaRPr lang="en-US" sz="1200" dirty="0"/>
          </a:p>
        </p:txBody>
      </p:sp>
      <p:sp>
        <p:nvSpPr>
          <p:cNvPr id="9" name="Shape 7"/>
          <p:cNvSpPr/>
          <p:nvPr/>
        </p:nvSpPr>
        <p:spPr>
          <a:xfrm>
            <a:off x="502920" y="1298448"/>
            <a:ext cx="3657600" cy="502920"/>
          </a:xfrm>
          <a:prstGeom prst="rect">
            <a:avLst/>
          </a:prstGeom>
          <a:solidFill>
            <a:srgbClr val="0096B7">
              <a:alpha val="85000"/>
            </a:srgbClr>
          </a:solidFill>
          <a:ln w="12700">
            <a:solidFill>
              <a:srgbClr val="0096B7"/>
            </a:solidFill>
            <a:prstDash val="solid"/>
          </a:ln>
        </p:spPr>
      </p:sp>
      <p:sp>
        <p:nvSpPr>
          <p:cNvPr id="10" name="Text 8"/>
          <p:cNvSpPr/>
          <p:nvPr/>
        </p:nvSpPr>
        <p:spPr>
          <a:xfrm>
            <a:off x="502920" y="1298448"/>
            <a:ext cx="3657600" cy="502920"/>
          </a:xfrm>
          <a:prstGeom prst="rect">
            <a:avLst/>
          </a:prstGeom>
          <a:noFill/>
          <a:ln/>
        </p:spPr>
        <p:txBody>
          <a:bodyPr wrap="square" lIns="0" tIns="0" rIns="0" bIns="0" rtlCol="0" anchor="ctr"/>
          <a:lstStyle/>
          <a:p>
            <a:pPr marL="0" indent="0" algn="ctr">
              <a:buNone/>
            </a:pPr>
            <a:r>
              <a:rPr lang="en-US" sz="1100" b="1" dirty="0">
                <a:solidFill>
                  <a:srgbClr val="FFFFFF"/>
                </a:solidFill>
              </a:rPr>
              <a:t>Cluster Autoscaler [5]</a:t>
            </a:r>
            <a:endParaRPr lang="en-US" sz="1100" dirty="0"/>
          </a:p>
        </p:txBody>
      </p:sp>
      <p:sp>
        <p:nvSpPr>
          <p:cNvPr id="11" name="Shape 9"/>
          <p:cNvSpPr/>
          <p:nvPr/>
        </p:nvSpPr>
        <p:spPr>
          <a:xfrm>
            <a:off x="502920" y="1938528"/>
            <a:ext cx="3657600" cy="502920"/>
          </a:xfrm>
          <a:prstGeom prst="rect">
            <a:avLst/>
          </a:prstGeom>
          <a:solidFill>
            <a:srgbClr val="F47B20">
              <a:alpha val="85000"/>
            </a:srgbClr>
          </a:solidFill>
          <a:ln w="12700">
            <a:solidFill>
              <a:srgbClr val="F47B20"/>
            </a:solidFill>
            <a:prstDash val="solid"/>
          </a:ln>
        </p:spPr>
      </p:sp>
      <p:sp>
        <p:nvSpPr>
          <p:cNvPr id="12" name="Text 10"/>
          <p:cNvSpPr/>
          <p:nvPr/>
        </p:nvSpPr>
        <p:spPr>
          <a:xfrm>
            <a:off x="502920" y="1938528"/>
            <a:ext cx="3657600" cy="502920"/>
          </a:xfrm>
          <a:prstGeom prst="rect">
            <a:avLst/>
          </a:prstGeom>
          <a:noFill/>
          <a:ln/>
        </p:spPr>
        <p:txBody>
          <a:bodyPr wrap="square" lIns="0" tIns="0" rIns="0" bIns="0" rtlCol="0" anchor="ctr"/>
          <a:lstStyle/>
          <a:p>
            <a:pPr marL="0" indent="0" algn="ctr">
              <a:buNone/>
            </a:pPr>
            <a:r>
              <a:rPr lang="en-US" sz="1100" b="1" dirty="0">
                <a:solidFill>
                  <a:srgbClr val="FFFFFF"/>
                </a:solidFill>
              </a:rPr>
              <a:t>HPA – Horizontal Pod Autoscaler [4]</a:t>
            </a:r>
            <a:endParaRPr lang="en-US" sz="1100" dirty="0"/>
          </a:p>
        </p:txBody>
      </p:sp>
      <p:sp>
        <p:nvSpPr>
          <p:cNvPr id="13" name="Shape 11"/>
          <p:cNvSpPr/>
          <p:nvPr/>
        </p:nvSpPr>
        <p:spPr>
          <a:xfrm>
            <a:off x="502920" y="2578608"/>
            <a:ext cx="3657600" cy="502920"/>
          </a:xfrm>
          <a:prstGeom prst="rect">
            <a:avLst/>
          </a:prstGeom>
          <a:solidFill>
            <a:srgbClr val="4A90D9">
              <a:alpha val="85000"/>
            </a:srgbClr>
          </a:solidFill>
          <a:ln w="12700">
            <a:solidFill>
              <a:srgbClr val="4A90D9"/>
            </a:solidFill>
            <a:prstDash val="solid"/>
          </a:ln>
        </p:spPr>
      </p:sp>
      <p:sp>
        <p:nvSpPr>
          <p:cNvPr id="14" name="Text 12"/>
          <p:cNvSpPr/>
          <p:nvPr/>
        </p:nvSpPr>
        <p:spPr>
          <a:xfrm>
            <a:off x="502920" y="2578608"/>
            <a:ext cx="3657600" cy="502920"/>
          </a:xfrm>
          <a:prstGeom prst="rect">
            <a:avLst/>
          </a:prstGeom>
          <a:noFill/>
          <a:ln/>
        </p:spPr>
        <p:txBody>
          <a:bodyPr wrap="square" lIns="0" tIns="0" rIns="0" bIns="0" rtlCol="0" anchor="ctr"/>
          <a:lstStyle/>
          <a:p>
            <a:pPr marL="0" indent="0" algn="ctr">
              <a:buNone/>
            </a:pPr>
            <a:r>
              <a:rPr lang="en-US" sz="1100" b="1" dirty="0">
                <a:solidFill>
                  <a:srgbClr val="FFFFFF"/>
                </a:solidFill>
              </a:rPr>
              <a:t>Pods / Service Units (SUs)</a:t>
            </a:r>
            <a:endParaRPr lang="en-US" sz="1100" dirty="0"/>
          </a:p>
        </p:txBody>
      </p:sp>
      <p:sp>
        <p:nvSpPr>
          <p:cNvPr id="15" name="Shape 13"/>
          <p:cNvSpPr/>
          <p:nvPr/>
        </p:nvSpPr>
        <p:spPr>
          <a:xfrm>
            <a:off x="502920" y="3218688"/>
            <a:ext cx="3657600" cy="502920"/>
          </a:xfrm>
          <a:prstGeom prst="rect">
            <a:avLst/>
          </a:prstGeom>
          <a:solidFill>
            <a:srgbClr val="64748B">
              <a:alpha val="85000"/>
            </a:srgbClr>
          </a:solidFill>
          <a:ln w="12700">
            <a:solidFill>
              <a:srgbClr val="64748B"/>
            </a:solidFill>
            <a:prstDash val="solid"/>
          </a:ln>
        </p:spPr>
      </p:sp>
      <p:sp>
        <p:nvSpPr>
          <p:cNvPr id="16" name="Text 14"/>
          <p:cNvSpPr/>
          <p:nvPr/>
        </p:nvSpPr>
        <p:spPr>
          <a:xfrm>
            <a:off x="502920" y="3218688"/>
            <a:ext cx="3657600" cy="502920"/>
          </a:xfrm>
          <a:prstGeom prst="rect">
            <a:avLst/>
          </a:prstGeom>
          <a:noFill/>
          <a:ln/>
        </p:spPr>
        <p:txBody>
          <a:bodyPr wrap="square" lIns="0" tIns="0" rIns="0" bIns="0" rtlCol="0" anchor="ctr"/>
          <a:lstStyle/>
          <a:p>
            <a:pPr marL="0" indent="0" algn="ctr">
              <a:buNone/>
            </a:pPr>
            <a:r>
              <a:rPr lang="en-US" sz="1100" b="1" dirty="0">
                <a:solidFill>
                  <a:srgbClr val="FFFFFF"/>
                </a:solidFill>
              </a:rPr>
              <a:t>Node (VM) / Worker</a:t>
            </a:r>
            <a:endParaRPr lang="en-US" sz="1100" dirty="0"/>
          </a:p>
        </p:txBody>
      </p:sp>
      <p:sp>
        <p:nvSpPr>
          <p:cNvPr id="17" name="Shape 15"/>
          <p:cNvSpPr/>
          <p:nvPr/>
        </p:nvSpPr>
        <p:spPr>
          <a:xfrm>
            <a:off x="2194560" y="1801368"/>
            <a:ext cx="9144" cy="137160"/>
          </a:xfrm>
          <a:prstGeom prst="line">
            <a:avLst/>
          </a:prstGeom>
          <a:noFill/>
          <a:ln w="19050">
            <a:solidFill>
              <a:srgbClr val="64748B"/>
            </a:solidFill>
            <a:prstDash val="solid"/>
          </a:ln>
        </p:spPr>
      </p:sp>
      <p:sp>
        <p:nvSpPr>
          <p:cNvPr id="18" name="Shape 16"/>
          <p:cNvSpPr/>
          <p:nvPr/>
        </p:nvSpPr>
        <p:spPr>
          <a:xfrm>
            <a:off x="2194560" y="2441448"/>
            <a:ext cx="9144" cy="137160"/>
          </a:xfrm>
          <a:prstGeom prst="line">
            <a:avLst/>
          </a:prstGeom>
          <a:noFill/>
          <a:ln w="19050">
            <a:solidFill>
              <a:srgbClr val="64748B"/>
            </a:solidFill>
            <a:prstDash val="solid"/>
          </a:ln>
        </p:spPr>
      </p:sp>
      <p:sp>
        <p:nvSpPr>
          <p:cNvPr id="19" name="Shape 17"/>
          <p:cNvSpPr/>
          <p:nvPr/>
        </p:nvSpPr>
        <p:spPr>
          <a:xfrm>
            <a:off x="2194560" y="3081528"/>
            <a:ext cx="9144" cy="137160"/>
          </a:xfrm>
          <a:prstGeom prst="line">
            <a:avLst/>
          </a:prstGeom>
          <a:noFill/>
          <a:ln w="19050">
            <a:solidFill>
              <a:srgbClr val="64748B"/>
            </a:solidFill>
            <a:prstDash val="solid"/>
          </a:ln>
        </p:spPr>
      </p:sp>
      <p:sp>
        <p:nvSpPr>
          <p:cNvPr id="20" name="Text 18"/>
          <p:cNvSpPr/>
          <p:nvPr/>
        </p:nvSpPr>
        <p:spPr>
          <a:xfrm>
            <a:off x="411480" y="3977640"/>
            <a:ext cx="3840480" cy="658368"/>
          </a:xfrm>
          <a:prstGeom prst="rect">
            <a:avLst/>
          </a:prstGeom>
          <a:noFill/>
          <a:ln/>
        </p:spPr>
        <p:txBody>
          <a:bodyPr wrap="square" lIns="0" tIns="0" rIns="0" bIns="0" rtlCol="0" anchor="ctr"/>
          <a:lstStyle/>
          <a:p>
            <a:pPr marL="0" indent="0">
              <a:buNone/>
            </a:pPr>
            <a:r>
              <a:rPr lang="en-US" sz="1000" dirty="0">
                <a:solidFill>
                  <a:srgbClr val="64748B"/>
                </a:solidFill>
              </a:rPr>
              <a:t>HPA điều chỉnh số Pod dựa trên CPU/RAM;</a:t>
            </a:r>
            <a:endParaRPr lang="en-US" sz="1000" dirty="0"/>
          </a:p>
          <a:p>
            <a:pPr marL="0" indent="0">
              <a:buNone/>
            </a:pPr>
            <a:r>
              <a:rPr lang="en-US" sz="1000" dirty="0">
                <a:solidFill>
                  <a:srgbClr val="64748B"/>
                </a:solidFill>
              </a:rPr>
              <a:t>Cluster Autoscaler thêm/xóa Node.</a:t>
            </a:r>
            <a:endParaRPr lang="en-US" sz="1000" dirty="0"/>
          </a:p>
        </p:txBody>
      </p:sp>
      <p:sp>
        <p:nvSpPr>
          <p:cNvPr id="21" name="Shape 19"/>
          <p:cNvSpPr/>
          <p:nvPr/>
        </p:nvSpPr>
        <p:spPr>
          <a:xfrm>
            <a:off x="4658868" y="786384"/>
            <a:ext cx="4160520" cy="393192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2" name="Shape 20"/>
          <p:cNvSpPr/>
          <p:nvPr/>
        </p:nvSpPr>
        <p:spPr>
          <a:xfrm>
            <a:off x="4663440" y="822960"/>
            <a:ext cx="54864" cy="3931920"/>
          </a:xfrm>
          <a:prstGeom prst="rect">
            <a:avLst/>
          </a:prstGeom>
          <a:solidFill>
            <a:srgbClr val="F47B20"/>
          </a:solidFill>
          <a:ln w="12700">
            <a:solidFill>
              <a:srgbClr val="F47B20"/>
            </a:solidFill>
            <a:prstDash val="solid"/>
          </a:ln>
        </p:spPr>
      </p:sp>
      <p:sp>
        <p:nvSpPr>
          <p:cNvPr id="23" name="Text 21"/>
          <p:cNvSpPr/>
          <p:nvPr/>
        </p:nvSpPr>
        <p:spPr>
          <a:xfrm>
            <a:off x="4828032" y="896112"/>
            <a:ext cx="3749040" cy="320040"/>
          </a:xfrm>
          <a:prstGeom prst="rect">
            <a:avLst/>
          </a:prstGeom>
          <a:noFill/>
          <a:ln/>
        </p:spPr>
        <p:txBody>
          <a:bodyPr wrap="square" lIns="0" tIns="0" rIns="0" bIns="0" rtlCol="0" anchor="ctr"/>
          <a:lstStyle/>
          <a:p>
            <a:pPr marL="0" indent="0">
              <a:buNone/>
            </a:pPr>
            <a:r>
              <a:rPr lang="en-US" sz="1200" b="1" dirty="0" err="1" smtClean="0">
                <a:solidFill>
                  <a:srgbClr val="0D1B2A"/>
                </a:solidFill>
              </a:rPr>
              <a:t>Cơ</a:t>
            </a:r>
            <a:r>
              <a:rPr lang="en-US" sz="1200" b="1" dirty="0" smtClean="0">
                <a:solidFill>
                  <a:srgbClr val="0D1B2A"/>
                </a:solidFill>
              </a:rPr>
              <a:t> </a:t>
            </a:r>
            <a:r>
              <a:rPr lang="en-US" sz="1200" b="1" dirty="0" err="1" smtClean="0">
                <a:solidFill>
                  <a:srgbClr val="0D1B2A"/>
                </a:solidFill>
              </a:rPr>
              <a:t>chế</a:t>
            </a:r>
            <a:r>
              <a:rPr lang="en-US" sz="1200" b="1" dirty="0" smtClean="0">
                <a:solidFill>
                  <a:srgbClr val="0D1B2A"/>
                </a:solidFill>
              </a:rPr>
              <a:t> </a:t>
            </a:r>
            <a:r>
              <a:rPr lang="en-US" sz="1200" b="1" dirty="0" err="1" smtClean="0">
                <a:solidFill>
                  <a:srgbClr val="0D1B2A"/>
                </a:solidFill>
              </a:rPr>
              <a:t>vận</a:t>
            </a:r>
            <a:r>
              <a:rPr lang="en-US" sz="1200" b="1" dirty="0" smtClean="0">
                <a:solidFill>
                  <a:srgbClr val="0D1B2A"/>
                </a:solidFill>
              </a:rPr>
              <a:t> </a:t>
            </a:r>
            <a:r>
              <a:rPr lang="en-US" sz="1200" b="1" dirty="0" err="1" smtClean="0">
                <a:solidFill>
                  <a:srgbClr val="0D1B2A"/>
                </a:solidFill>
              </a:rPr>
              <a:t>hành</a:t>
            </a:r>
            <a:endParaRPr lang="en-US" sz="1200" dirty="0"/>
          </a:p>
        </p:txBody>
      </p:sp>
      <p:sp>
        <p:nvSpPr>
          <p:cNvPr id="25" name="Text 23"/>
          <p:cNvSpPr/>
          <p:nvPr/>
        </p:nvSpPr>
        <p:spPr>
          <a:xfrm>
            <a:off x="4828032" y="1344168"/>
            <a:ext cx="3730752" cy="756006"/>
          </a:xfrm>
          <a:prstGeom prst="rect">
            <a:avLst/>
          </a:prstGeom>
          <a:noFill/>
          <a:ln/>
        </p:spPr>
        <p:txBody>
          <a:bodyPr wrap="square" lIns="0" tIns="0" rIns="0" bIns="0" rtlCol="0" anchor="ctr"/>
          <a:lstStyle/>
          <a:p>
            <a:r>
              <a:rPr lang="vi-VN" sz="1000" dirty="0" smtClean="0"/>
              <a:t>Horizontal </a:t>
            </a:r>
            <a:r>
              <a:rPr lang="vi-VN" sz="1000" dirty="0"/>
              <a:t>Pod Autoscaler (HPA) [4] là thành phần của Kubernetes chịu trách nhiệm điều chỉnh số lượng bản sao (pod) của một dịch vụ theo thời gian thực, dựa trên các chỉ số mục tiêu như mức sử dụng CPU hoặc </a:t>
            </a:r>
            <a:r>
              <a:rPr lang="vi-VN" sz="1000" dirty="0" smtClean="0"/>
              <a:t>RAM</a:t>
            </a:r>
            <a:endParaRPr lang="en-US" sz="1000" dirty="0"/>
          </a:p>
        </p:txBody>
      </p:sp>
      <p:sp>
        <p:nvSpPr>
          <p:cNvPr id="28" name="Text 26"/>
          <p:cNvSpPr/>
          <p:nvPr/>
        </p:nvSpPr>
        <p:spPr>
          <a:xfrm>
            <a:off x="4919472" y="1682496"/>
            <a:ext cx="3547872" cy="512064"/>
          </a:xfrm>
          <a:prstGeom prst="rect">
            <a:avLst/>
          </a:prstGeom>
          <a:noFill/>
          <a:ln/>
        </p:spPr>
        <p:txBody>
          <a:bodyPr wrap="square" lIns="0" tIns="0" rIns="0" bIns="0" rtlCol="0" anchor="ctr"/>
          <a:lstStyle/>
          <a:p>
            <a:pPr marL="0" indent="0">
              <a:buNone/>
            </a:pP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smtClean="0">
                <a:solidFill>
                  <a:srgbClr val="FFFFFF"/>
                </a:solidFill>
              </a:rPr>
              <a:t>02 </a:t>
            </a:r>
            <a:r>
              <a:rPr lang="en-US" sz="2200" b="1" dirty="0">
                <a:solidFill>
                  <a:srgbClr val="FFFFFF"/>
                </a:solidFill>
              </a:rPr>
              <a:t>· Kiến thức nền tảng — MDP &amp; Stackelberg Game</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416052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50208"/>
          </a:xfrm>
          <a:prstGeom prst="rect">
            <a:avLst/>
          </a:prstGeom>
          <a:solidFill>
            <a:srgbClr val="0096B7"/>
          </a:solidFill>
          <a:ln w="12700">
            <a:solidFill>
              <a:srgbClr val="0096B7"/>
            </a:solidFill>
            <a:prstDash val="solid"/>
          </a:ln>
        </p:spPr>
      </p:sp>
      <p:sp>
        <p:nvSpPr>
          <p:cNvPr id="9" name="Text 7"/>
          <p:cNvSpPr/>
          <p:nvPr/>
        </p:nvSpPr>
        <p:spPr>
          <a:xfrm>
            <a:off x="438912" y="868680"/>
            <a:ext cx="3840480" cy="347472"/>
          </a:xfrm>
          <a:prstGeom prst="rect">
            <a:avLst/>
          </a:prstGeom>
          <a:noFill/>
          <a:ln/>
        </p:spPr>
        <p:txBody>
          <a:bodyPr wrap="square" lIns="0" tIns="0" rIns="0" bIns="0" rtlCol="0" anchor="ctr"/>
          <a:lstStyle/>
          <a:p>
            <a:pPr marL="0" indent="0">
              <a:buNone/>
            </a:pPr>
            <a:r>
              <a:rPr lang="en-US" sz="1200" b="1" dirty="0">
                <a:solidFill>
                  <a:srgbClr val="0D1B2A"/>
                </a:solidFill>
              </a:rPr>
              <a:t>Markov Decision Process (MDP) [9]</a:t>
            </a:r>
            <a:endParaRPr lang="en-US" sz="1200" dirty="0"/>
          </a:p>
        </p:txBody>
      </p:sp>
      <p:sp>
        <p:nvSpPr>
          <p:cNvPr id="10" name="Text 8"/>
          <p:cNvSpPr/>
          <p:nvPr/>
        </p:nvSpPr>
        <p:spPr>
          <a:xfrm>
            <a:off x="438912" y="1298448"/>
            <a:ext cx="2011680" cy="274320"/>
          </a:xfrm>
          <a:prstGeom prst="rect">
            <a:avLst/>
          </a:prstGeom>
          <a:noFill/>
          <a:ln/>
        </p:spPr>
        <p:txBody>
          <a:bodyPr wrap="square" lIns="0" tIns="0" rIns="0" bIns="0" rtlCol="0" anchor="ctr"/>
          <a:lstStyle/>
          <a:p>
            <a:pPr marL="0" indent="0">
              <a:buNone/>
            </a:pPr>
            <a:r>
              <a:rPr lang="en-US" sz="1050" b="1" dirty="0">
                <a:solidFill>
                  <a:srgbClr val="0096B7"/>
                </a:solidFill>
              </a:rPr>
              <a:t>Trạng thái S:</a:t>
            </a:r>
            <a:endParaRPr lang="en-US" sz="1050" dirty="0"/>
          </a:p>
        </p:txBody>
      </p:sp>
      <p:sp>
        <p:nvSpPr>
          <p:cNvPr id="11" name="Text 9"/>
          <p:cNvSpPr/>
          <p:nvPr/>
        </p:nvSpPr>
        <p:spPr>
          <a:xfrm>
            <a:off x="438912" y="1572768"/>
            <a:ext cx="3749040" cy="274320"/>
          </a:xfrm>
          <a:prstGeom prst="rect">
            <a:avLst/>
          </a:prstGeom>
          <a:noFill/>
          <a:ln/>
        </p:spPr>
        <p:txBody>
          <a:bodyPr wrap="square" lIns="0" tIns="0" rIns="0" bIns="0" rtlCol="0" anchor="ctr"/>
          <a:lstStyle/>
          <a:p>
            <a:pPr marL="0" indent="0">
              <a:buNone/>
            </a:pPr>
            <a:r>
              <a:rPr lang="en-US" sz="1000" dirty="0">
                <a:solidFill>
                  <a:srgbClr val="0D1B2A"/>
                </a:solidFill>
              </a:rPr>
              <a:t>(n, m) — số yêu cầu trong hàng đợi × số SU đang chạy</a:t>
            </a:r>
            <a:endParaRPr lang="en-US" sz="1000" dirty="0"/>
          </a:p>
        </p:txBody>
      </p:sp>
      <p:sp>
        <p:nvSpPr>
          <p:cNvPr id="12" name="Text 10"/>
          <p:cNvSpPr/>
          <p:nvPr/>
        </p:nvSpPr>
        <p:spPr>
          <a:xfrm>
            <a:off x="438912" y="1920240"/>
            <a:ext cx="2011680" cy="274320"/>
          </a:xfrm>
          <a:prstGeom prst="rect">
            <a:avLst/>
          </a:prstGeom>
          <a:noFill/>
          <a:ln/>
        </p:spPr>
        <p:txBody>
          <a:bodyPr wrap="square" lIns="0" tIns="0" rIns="0" bIns="0" rtlCol="0" anchor="ctr"/>
          <a:lstStyle/>
          <a:p>
            <a:pPr marL="0" indent="0">
              <a:buNone/>
            </a:pPr>
            <a:r>
              <a:rPr lang="en-US" sz="1050" b="1" dirty="0">
                <a:solidFill>
                  <a:srgbClr val="0096B7"/>
                </a:solidFill>
              </a:rPr>
              <a:t>Hành động D:</a:t>
            </a:r>
            <a:endParaRPr lang="en-US" sz="1050" dirty="0"/>
          </a:p>
        </p:txBody>
      </p:sp>
      <p:sp>
        <p:nvSpPr>
          <p:cNvPr id="13" name="Text 11"/>
          <p:cNvSpPr/>
          <p:nvPr/>
        </p:nvSpPr>
        <p:spPr>
          <a:xfrm>
            <a:off x="438912" y="2194560"/>
            <a:ext cx="3749040" cy="274320"/>
          </a:xfrm>
          <a:prstGeom prst="rect">
            <a:avLst/>
          </a:prstGeom>
          <a:noFill/>
          <a:ln/>
        </p:spPr>
        <p:txBody>
          <a:bodyPr wrap="square" lIns="0" tIns="0" rIns="0" bIns="0" rtlCol="0" anchor="ctr"/>
          <a:lstStyle/>
          <a:p>
            <a:pPr marL="0" indent="0">
              <a:buNone/>
            </a:pPr>
            <a:r>
              <a:rPr lang="en-US" sz="1000" dirty="0">
                <a:solidFill>
                  <a:srgbClr val="0D1B2A"/>
                </a:solidFill>
              </a:rPr>
              <a:t>Quyết định mở rộng/thu hẹp của defender</a:t>
            </a:r>
            <a:endParaRPr lang="en-US" sz="1000" dirty="0"/>
          </a:p>
        </p:txBody>
      </p:sp>
      <p:sp>
        <p:nvSpPr>
          <p:cNvPr id="14" name="Text 12"/>
          <p:cNvSpPr/>
          <p:nvPr/>
        </p:nvSpPr>
        <p:spPr>
          <a:xfrm>
            <a:off x="438912" y="2542032"/>
            <a:ext cx="2011680" cy="274320"/>
          </a:xfrm>
          <a:prstGeom prst="rect">
            <a:avLst/>
          </a:prstGeom>
          <a:noFill/>
          <a:ln/>
        </p:spPr>
        <p:txBody>
          <a:bodyPr wrap="square" lIns="0" tIns="0" rIns="0" bIns="0" rtlCol="0" anchor="ctr"/>
          <a:lstStyle/>
          <a:p>
            <a:pPr marL="0" indent="0">
              <a:buNone/>
            </a:pPr>
            <a:r>
              <a:rPr lang="en-US" sz="1050" b="1" dirty="0">
                <a:solidFill>
                  <a:srgbClr val="0096B7"/>
                </a:solidFill>
              </a:rPr>
              <a:t>Hàm chi phí C(s,d):</a:t>
            </a:r>
            <a:endParaRPr lang="en-US" sz="1050" dirty="0"/>
          </a:p>
        </p:txBody>
      </p:sp>
      <p:sp>
        <p:nvSpPr>
          <p:cNvPr id="15" name="Text 13"/>
          <p:cNvSpPr/>
          <p:nvPr/>
        </p:nvSpPr>
        <p:spPr>
          <a:xfrm>
            <a:off x="438912" y="2816352"/>
            <a:ext cx="3749040" cy="274320"/>
          </a:xfrm>
          <a:prstGeom prst="rect">
            <a:avLst/>
          </a:prstGeom>
          <a:noFill/>
          <a:ln/>
        </p:spPr>
        <p:txBody>
          <a:bodyPr wrap="square" lIns="0" tIns="0" rIns="0" bIns="0" rtlCol="0" anchor="ctr"/>
          <a:lstStyle/>
          <a:p>
            <a:pPr marL="0" indent="0">
              <a:buNone/>
            </a:pPr>
            <a:r>
              <a:rPr lang="en-US" sz="1000" dirty="0">
                <a:solidFill>
                  <a:srgbClr val="0D1B2A"/>
                </a:solidFill>
              </a:rPr>
              <a:t>Chi phí SU + phí idle CD + phạt SLA (CR, CP)</a:t>
            </a:r>
            <a:endParaRPr lang="en-US" sz="1000" dirty="0"/>
          </a:p>
        </p:txBody>
      </p:sp>
      <p:sp>
        <p:nvSpPr>
          <p:cNvPr id="16" name="Text 14"/>
          <p:cNvSpPr/>
          <p:nvPr/>
        </p:nvSpPr>
        <p:spPr>
          <a:xfrm>
            <a:off x="438912" y="3163824"/>
            <a:ext cx="2011680" cy="274320"/>
          </a:xfrm>
          <a:prstGeom prst="rect">
            <a:avLst/>
          </a:prstGeom>
          <a:noFill/>
          <a:ln/>
        </p:spPr>
        <p:txBody>
          <a:bodyPr wrap="square" lIns="0" tIns="0" rIns="0" bIns="0" rtlCol="0" anchor="ctr"/>
          <a:lstStyle/>
          <a:p>
            <a:pPr marL="0" indent="0">
              <a:buNone/>
            </a:pPr>
            <a:r>
              <a:rPr lang="en-US" sz="1050" b="1" dirty="0">
                <a:solidFill>
                  <a:srgbClr val="0096B7"/>
                </a:solidFill>
              </a:rPr>
              <a:t>Value Iteration [9]:</a:t>
            </a:r>
            <a:endParaRPr lang="en-US" sz="1050" dirty="0"/>
          </a:p>
        </p:txBody>
      </p:sp>
      <p:sp>
        <p:nvSpPr>
          <p:cNvPr id="17" name="Text 15"/>
          <p:cNvSpPr/>
          <p:nvPr/>
        </p:nvSpPr>
        <p:spPr>
          <a:xfrm>
            <a:off x="438912" y="3438144"/>
            <a:ext cx="3749040" cy="274320"/>
          </a:xfrm>
          <a:prstGeom prst="rect">
            <a:avLst/>
          </a:prstGeom>
          <a:noFill/>
          <a:ln/>
        </p:spPr>
        <p:txBody>
          <a:bodyPr wrap="square" lIns="0" tIns="0" rIns="0" bIns="0" rtlCol="0" anchor="ctr"/>
          <a:lstStyle/>
          <a:p>
            <a:pPr marL="0" indent="0">
              <a:buNone/>
            </a:pPr>
            <a:r>
              <a:rPr lang="en-US" sz="1000" dirty="0">
                <a:solidFill>
                  <a:srgbClr val="0D1B2A"/>
                </a:solidFill>
              </a:rPr>
              <a:t>Tìm chính sách π* tối ưu với hệ số β = 0.95</a:t>
            </a:r>
            <a:endParaRPr lang="en-US" sz="1000" dirty="0"/>
          </a:p>
        </p:txBody>
      </p:sp>
      <p:sp>
        <p:nvSpPr>
          <p:cNvPr id="18" name="Text 16"/>
          <p:cNvSpPr/>
          <p:nvPr/>
        </p:nvSpPr>
        <p:spPr>
          <a:xfrm>
            <a:off x="438912" y="3785616"/>
            <a:ext cx="2011680" cy="274320"/>
          </a:xfrm>
          <a:prstGeom prst="rect">
            <a:avLst/>
          </a:prstGeom>
          <a:noFill/>
          <a:ln/>
        </p:spPr>
        <p:txBody>
          <a:bodyPr wrap="square" lIns="0" tIns="0" rIns="0" bIns="0" rtlCol="0" anchor="ctr"/>
          <a:lstStyle/>
          <a:p>
            <a:pPr marL="0" indent="0">
              <a:buNone/>
            </a:pPr>
            <a:r>
              <a:rPr lang="en-US" sz="1050" b="1" dirty="0">
                <a:solidFill>
                  <a:srgbClr val="0096B7"/>
                </a:solidFill>
              </a:rPr>
              <a:t>Giả thuyết Trễ [11]:</a:t>
            </a:r>
            <a:endParaRPr lang="en-US" sz="1050" dirty="0"/>
          </a:p>
        </p:txBody>
      </p:sp>
      <p:sp>
        <p:nvSpPr>
          <p:cNvPr id="19" name="Text 17"/>
          <p:cNvSpPr/>
          <p:nvPr/>
        </p:nvSpPr>
        <p:spPr>
          <a:xfrm>
            <a:off x="438912" y="4059936"/>
            <a:ext cx="3749040" cy="274320"/>
          </a:xfrm>
          <a:prstGeom prst="rect">
            <a:avLst/>
          </a:prstGeom>
          <a:noFill/>
          <a:ln/>
        </p:spPr>
        <p:txBody>
          <a:bodyPr wrap="square" lIns="0" tIns="0" rIns="0" bIns="0" rtlCol="0" anchor="ctr"/>
          <a:lstStyle/>
          <a:p>
            <a:pPr marL="0" indent="0">
              <a:buNone/>
            </a:pPr>
            <a:r>
              <a:rPr lang="en-US" sz="1000" dirty="0">
                <a:solidFill>
                  <a:srgbClr val="0D1B2A"/>
                </a:solidFill>
              </a:rPr>
              <a:t>Ngưỡng mở rộng ≠ ngưỡng thu hẹp (hysteresis)</a:t>
            </a:r>
            <a:endParaRPr lang="en-US" sz="1000" dirty="0"/>
          </a:p>
        </p:txBody>
      </p:sp>
      <p:sp>
        <p:nvSpPr>
          <p:cNvPr id="20" name="Shape 18"/>
          <p:cNvSpPr/>
          <p:nvPr/>
        </p:nvSpPr>
        <p:spPr>
          <a:xfrm>
            <a:off x="4663440" y="804672"/>
            <a:ext cx="4160520" cy="3950208"/>
          </a:xfrm>
          <a:prstGeom prst="rect">
            <a:avLst/>
          </a:prstGeom>
          <a:solidFill>
            <a:srgbClr val="0D1B2A"/>
          </a:solidFill>
          <a:ln w="9525">
            <a:solidFill>
              <a:srgbClr val="D4E3EE"/>
            </a:solidFill>
            <a:prstDash val="solid"/>
          </a:ln>
          <a:effectLst>
            <a:outerShdw blurRad="63500" dist="25400" dir="8100000" algn="bl" rotWithShape="0">
              <a:srgbClr val="000000">
                <a:alpha val="7000"/>
              </a:srgbClr>
            </a:outerShdw>
          </a:effectLst>
        </p:spPr>
      </p:sp>
      <p:sp>
        <p:nvSpPr>
          <p:cNvPr id="21" name="Text 19"/>
          <p:cNvSpPr/>
          <p:nvPr/>
        </p:nvSpPr>
        <p:spPr>
          <a:xfrm>
            <a:off x="4828032" y="868680"/>
            <a:ext cx="3840480" cy="347472"/>
          </a:xfrm>
          <a:prstGeom prst="rect">
            <a:avLst/>
          </a:prstGeom>
          <a:noFill/>
          <a:ln/>
        </p:spPr>
        <p:txBody>
          <a:bodyPr wrap="square" lIns="0" tIns="0" rIns="0" bIns="0" rtlCol="0" anchor="ctr"/>
          <a:lstStyle/>
          <a:p>
            <a:pPr marL="0" indent="0">
              <a:buNone/>
            </a:pPr>
            <a:r>
              <a:rPr lang="en-US" sz="1200" b="1" dirty="0">
                <a:solidFill>
                  <a:srgbClr val="0096B7"/>
                </a:solidFill>
              </a:rPr>
              <a:t>Stackelberg Security Game [13,14]</a:t>
            </a:r>
            <a:endParaRPr lang="en-US" sz="1200" dirty="0"/>
          </a:p>
        </p:txBody>
      </p:sp>
      <p:sp>
        <p:nvSpPr>
          <p:cNvPr id="22" name="Text 20"/>
          <p:cNvSpPr/>
          <p:nvPr/>
        </p:nvSpPr>
        <p:spPr>
          <a:xfrm>
            <a:off x="4828032" y="1280160"/>
            <a:ext cx="3840480" cy="320040"/>
          </a:xfrm>
          <a:prstGeom prst="rect">
            <a:avLst/>
          </a:prstGeom>
          <a:noFill/>
          <a:ln/>
        </p:spPr>
        <p:txBody>
          <a:bodyPr wrap="square" lIns="0" tIns="0" rIns="0" bIns="0" rtlCol="0" anchor="ctr"/>
          <a:lstStyle/>
          <a:p>
            <a:pPr marL="0" indent="0">
              <a:buNone/>
            </a:pPr>
            <a:r>
              <a:rPr lang="en-US" sz="1050" dirty="0">
                <a:solidFill>
                  <a:srgbClr val="B8D4E8"/>
                </a:solidFill>
              </a:rPr>
              <a:t>Trò chơi 2 giai đoạn bất đối xứng thông tin:</a:t>
            </a:r>
            <a:endParaRPr lang="en-US" sz="1050" dirty="0"/>
          </a:p>
        </p:txBody>
      </p:sp>
      <p:sp>
        <p:nvSpPr>
          <p:cNvPr id="23" name="Shape 21"/>
          <p:cNvSpPr/>
          <p:nvPr/>
        </p:nvSpPr>
        <p:spPr>
          <a:xfrm>
            <a:off x="4828032" y="1691640"/>
            <a:ext cx="3822192" cy="1298448"/>
          </a:xfrm>
          <a:prstGeom prst="rect">
            <a:avLst/>
          </a:prstGeom>
          <a:solidFill>
            <a:srgbClr val="162435"/>
          </a:solidFill>
          <a:ln w="12700">
            <a:solidFill>
              <a:srgbClr val="0096B7"/>
            </a:solidFill>
            <a:prstDash val="solid"/>
          </a:ln>
        </p:spPr>
      </p:sp>
      <p:sp>
        <p:nvSpPr>
          <p:cNvPr id="24" name="Shape 22"/>
          <p:cNvSpPr/>
          <p:nvPr/>
        </p:nvSpPr>
        <p:spPr>
          <a:xfrm>
            <a:off x="4892040" y="1764792"/>
            <a:ext cx="347472" cy="347472"/>
          </a:xfrm>
          <a:prstGeom prst="ellipse">
            <a:avLst/>
          </a:prstGeom>
          <a:solidFill>
            <a:srgbClr val="0096B7"/>
          </a:solidFill>
          <a:ln w="12700">
            <a:solidFill>
              <a:srgbClr val="0096B7"/>
            </a:solidFill>
            <a:prstDash val="solid"/>
          </a:ln>
        </p:spPr>
      </p:sp>
      <p:sp>
        <p:nvSpPr>
          <p:cNvPr id="25" name="Text 23"/>
          <p:cNvSpPr/>
          <p:nvPr/>
        </p:nvSpPr>
        <p:spPr>
          <a:xfrm>
            <a:off x="4892040" y="1764792"/>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rPr>
              <a:t>1</a:t>
            </a:r>
            <a:endParaRPr lang="en-US" sz="1200" dirty="0"/>
          </a:p>
        </p:txBody>
      </p:sp>
      <p:sp>
        <p:nvSpPr>
          <p:cNvPr id="26" name="Text 24"/>
          <p:cNvSpPr/>
          <p:nvPr/>
        </p:nvSpPr>
        <p:spPr>
          <a:xfrm>
            <a:off x="5321808" y="1783080"/>
            <a:ext cx="3200400" cy="274320"/>
          </a:xfrm>
          <a:prstGeom prst="rect">
            <a:avLst/>
          </a:prstGeom>
          <a:noFill/>
          <a:ln/>
        </p:spPr>
        <p:txBody>
          <a:bodyPr wrap="square" lIns="0" tIns="0" rIns="0" bIns="0" rtlCol="0" anchor="ctr"/>
          <a:lstStyle/>
          <a:p>
            <a:pPr marL="0" indent="0">
              <a:buNone/>
            </a:pPr>
            <a:r>
              <a:rPr lang="en-US" sz="1100" b="1" dirty="0">
                <a:solidFill>
                  <a:srgbClr val="0096B7"/>
                </a:solidFill>
              </a:rPr>
              <a:t>Defender (Leader)</a:t>
            </a:r>
            <a:endParaRPr lang="en-US" sz="1100" dirty="0"/>
          </a:p>
        </p:txBody>
      </p:sp>
      <p:sp>
        <p:nvSpPr>
          <p:cNvPr id="27" name="Text 25"/>
          <p:cNvSpPr/>
          <p:nvPr/>
        </p:nvSpPr>
        <p:spPr>
          <a:xfrm>
            <a:off x="4892040" y="2167128"/>
            <a:ext cx="3639312" cy="749808"/>
          </a:xfrm>
          <a:prstGeom prst="rect">
            <a:avLst/>
          </a:prstGeom>
          <a:noFill/>
          <a:ln/>
        </p:spPr>
        <p:txBody>
          <a:bodyPr wrap="square" lIns="0" tIns="0" rIns="0" bIns="0" rtlCol="0" anchor="ctr"/>
          <a:lstStyle/>
          <a:p>
            <a:pPr marL="0" indent="0">
              <a:buNone/>
            </a:pPr>
            <a:r>
              <a:rPr lang="en-US" sz="1000" dirty="0">
                <a:solidFill>
                  <a:srgbClr val="B8D4E8"/>
                </a:solidFill>
              </a:rPr>
              <a:t>Thiết lập chính sách autoscaling π* không biết có tấn công. Tối thiểu hóa C(s, π(s)).</a:t>
            </a:r>
            <a:endParaRPr lang="en-US" sz="1000" dirty="0"/>
          </a:p>
        </p:txBody>
      </p:sp>
      <p:sp>
        <p:nvSpPr>
          <p:cNvPr id="28" name="Shape 26"/>
          <p:cNvSpPr/>
          <p:nvPr/>
        </p:nvSpPr>
        <p:spPr>
          <a:xfrm>
            <a:off x="4828032" y="3108960"/>
            <a:ext cx="3822192" cy="1298448"/>
          </a:xfrm>
          <a:prstGeom prst="rect">
            <a:avLst/>
          </a:prstGeom>
          <a:solidFill>
            <a:srgbClr val="162435"/>
          </a:solidFill>
          <a:ln w="12700">
            <a:solidFill>
              <a:srgbClr val="F47B20"/>
            </a:solidFill>
            <a:prstDash val="solid"/>
          </a:ln>
        </p:spPr>
      </p:sp>
      <p:sp>
        <p:nvSpPr>
          <p:cNvPr id="29" name="Shape 27"/>
          <p:cNvSpPr/>
          <p:nvPr/>
        </p:nvSpPr>
        <p:spPr>
          <a:xfrm>
            <a:off x="4892040" y="3182112"/>
            <a:ext cx="347472" cy="347472"/>
          </a:xfrm>
          <a:prstGeom prst="ellipse">
            <a:avLst/>
          </a:prstGeom>
          <a:solidFill>
            <a:srgbClr val="F47B20"/>
          </a:solidFill>
          <a:ln w="12700">
            <a:solidFill>
              <a:srgbClr val="F47B20"/>
            </a:solidFill>
            <a:prstDash val="solid"/>
          </a:ln>
        </p:spPr>
      </p:sp>
      <p:sp>
        <p:nvSpPr>
          <p:cNvPr id="30" name="Text 28"/>
          <p:cNvSpPr/>
          <p:nvPr/>
        </p:nvSpPr>
        <p:spPr>
          <a:xfrm>
            <a:off x="4892040" y="3182112"/>
            <a:ext cx="347472" cy="347472"/>
          </a:xfrm>
          <a:prstGeom prst="rect">
            <a:avLst/>
          </a:prstGeom>
          <a:noFill/>
          <a:ln/>
        </p:spPr>
        <p:txBody>
          <a:bodyPr wrap="square" lIns="0" tIns="0" rIns="0" bIns="0" rtlCol="0" anchor="ctr"/>
          <a:lstStyle/>
          <a:p>
            <a:pPr marL="0" indent="0" algn="ctr">
              <a:buNone/>
            </a:pPr>
            <a:r>
              <a:rPr lang="en-US" sz="1200" b="1" dirty="0">
                <a:solidFill>
                  <a:srgbClr val="FFFFFF"/>
                </a:solidFill>
              </a:rPr>
              <a:t>2</a:t>
            </a:r>
            <a:endParaRPr lang="en-US" sz="1200" dirty="0"/>
          </a:p>
        </p:txBody>
      </p:sp>
      <p:sp>
        <p:nvSpPr>
          <p:cNvPr id="31" name="Text 29"/>
          <p:cNvSpPr/>
          <p:nvPr/>
        </p:nvSpPr>
        <p:spPr>
          <a:xfrm>
            <a:off x="5321808" y="3200400"/>
            <a:ext cx="3200400" cy="274320"/>
          </a:xfrm>
          <a:prstGeom prst="rect">
            <a:avLst/>
          </a:prstGeom>
          <a:noFill/>
          <a:ln/>
        </p:spPr>
        <p:txBody>
          <a:bodyPr wrap="square" lIns="0" tIns="0" rIns="0" bIns="0" rtlCol="0" anchor="ctr"/>
          <a:lstStyle/>
          <a:p>
            <a:pPr marL="0" indent="0">
              <a:buNone/>
            </a:pPr>
            <a:r>
              <a:rPr lang="en-US" sz="1100" b="1" dirty="0">
                <a:solidFill>
                  <a:srgbClr val="F47B20"/>
                </a:solidFill>
              </a:rPr>
              <a:t>Attacker (Follower)</a:t>
            </a:r>
            <a:endParaRPr lang="en-US" sz="1100" dirty="0"/>
          </a:p>
        </p:txBody>
      </p:sp>
      <p:sp>
        <p:nvSpPr>
          <p:cNvPr id="32" name="Text 30"/>
          <p:cNvSpPr/>
          <p:nvPr/>
        </p:nvSpPr>
        <p:spPr>
          <a:xfrm>
            <a:off x="4892040" y="3584448"/>
            <a:ext cx="3639312" cy="749808"/>
          </a:xfrm>
          <a:prstGeom prst="rect">
            <a:avLst/>
          </a:prstGeom>
          <a:noFill/>
          <a:ln/>
        </p:spPr>
        <p:txBody>
          <a:bodyPr wrap="square" lIns="0" tIns="0" rIns="0" bIns="0" rtlCol="0" anchor="ctr"/>
          <a:lstStyle/>
          <a:p>
            <a:pPr marL="0" indent="0">
              <a:buNone/>
            </a:pPr>
            <a:r>
              <a:rPr lang="en-US" sz="1000" dirty="0">
                <a:solidFill>
                  <a:srgbClr val="B8D4E8"/>
                </a:solidFill>
              </a:rPr>
              <a:t>Biết π của defender, tối đa hóa phần thưởng R(s,a) = chi phí của nạn nhân − chi phí tấn công K×CA.</a:t>
            </a:r>
            <a:endParaRPr lang="en-US" sz="1000" dirty="0"/>
          </a:p>
        </p:txBody>
      </p:sp>
      <p:sp>
        <p:nvSpPr>
          <p:cNvPr id="33" name="Text 31"/>
          <p:cNvSpPr/>
          <p:nvPr/>
        </p:nvSpPr>
        <p:spPr>
          <a:xfrm>
            <a:off x="4828032" y="4315968"/>
            <a:ext cx="3840480" cy="292608"/>
          </a:xfrm>
          <a:prstGeom prst="rect">
            <a:avLst/>
          </a:prstGeom>
          <a:noFill/>
          <a:ln/>
        </p:spPr>
        <p:txBody>
          <a:bodyPr wrap="square" lIns="0" tIns="0" rIns="0" bIns="0" rtlCol="0" anchor="ctr"/>
          <a:lstStyle/>
          <a:p>
            <a:pPr marL="0" indent="0">
              <a:buNone/>
            </a:pPr>
            <a:r>
              <a:rPr lang="en-US" sz="950" i="1" dirty="0">
                <a:solidFill>
                  <a:srgbClr val="64748B"/>
                </a:solidFill>
              </a:rPr>
              <a:t>Thư viện Marmote [12] + Discounted Value Iteration (beta=0.95)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04 · Giải pháp đề xuất — Mô hình hóa hệ thống</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8595360" cy="1719072"/>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1719072"/>
          </a:xfrm>
          <a:prstGeom prst="rect">
            <a:avLst/>
          </a:prstGeom>
          <a:solidFill>
            <a:srgbClr val="0096B7"/>
          </a:solidFill>
          <a:ln w="12700">
            <a:solidFill>
              <a:srgbClr val="0096B7"/>
            </a:solidFill>
            <a:prstDash val="solid"/>
          </a:ln>
        </p:spPr>
      </p:sp>
      <p:sp>
        <p:nvSpPr>
          <p:cNvPr id="9" name="Text 7"/>
          <p:cNvSpPr/>
          <p:nvPr/>
        </p:nvSpPr>
        <p:spPr>
          <a:xfrm>
            <a:off x="457200" y="868680"/>
            <a:ext cx="3657600" cy="320040"/>
          </a:xfrm>
          <a:prstGeom prst="rect">
            <a:avLst/>
          </a:prstGeom>
          <a:noFill/>
          <a:ln/>
        </p:spPr>
        <p:txBody>
          <a:bodyPr wrap="square" lIns="0" tIns="0" rIns="0" bIns="0" rtlCol="0" anchor="ctr"/>
          <a:lstStyle/>
          <a:p>
            <a:pPr marL="0" indent="0">
              <a:buNone/>
            </a:pPr>
            <a:r>
              <a:rPr lang="en-US" sz="1200" b="1" dirty="0">
                <a:solidFill>
                  <a:srgbClr val="0D1B2A"/>
                </a:solidFill>
              </a:rPr>
              <a:t>Mô hình hàng đợi M/M/m/N</a:t>
            </a:r>
            <a:endParaRPr lang="en-US" sz="1200" dirty="0"/>
          </a:p>
        </p:txBody>
      </p:sp>
      <p:sp>
        <p:nvSpPr>
          <p:cNvPr id="10" name="Shape 8"/>
          <p:cNvSpPr/>
          <p:nvPr/>
        </p:nvSpPr>
        <p:spPr>
          <a:xfrm>
            <a:off x="457200" y="1234440"/>
            <a:ext cx="384048" cy="292608"/>
          </a:xfrm>
          <a:prstGeom prst="rect">
            <a:avLst/>
          </a:prstGeom>
          <a:solidFill>
            <a:srgbClr val="0096B7"/>
          </a:solidFill>
          <a:ln w="12700">
            <a:solidFill>
              <a:srgbClr val="0096B7"/>
            </a:solidFill>
            <a:prstDash val="solid"/>
          </a:ln>
        </p:spPr>
      </p:sp>
      <p:sp>
        <p:nvSpPr>
          <p:cNvPr id="11" name="Text 9"/>
          <p:cNvSpPr/>
          <p:nvPr/>
        </p:nvSpPr>
        <p:spPr>
          <a:xfrm>
            <a:off x="457200" y="1234440"/>
            <a:ext cx="384048" cy="292608"/>
          </a:xfrm>
          <a:prstGeom prst="rect">
            <a:avLst/>
          </a:prstGeom>
          <a:noFill/>
          <a:ln/>
        </p:spPr>
        <p:txBody>
          <a:bodyPr wrap="square" lIns="0" tIns="0" rIns="0" bIns="0" rtlCol="0" anchor="ctr"/>
          <a:lstStyle/>
          <a:p>
            <a:pPr marL="0" indent="0" algn="ctr">
              <a:buNone/>
            </a:pPr>
            <a:r>
              <a:rPr lang="en-US" sz="1100" b="1" i="1" dirty="0">
                <a:solidFill>
                  <a:srgbClr val="FFFFFF"/>
                </a:solidFill>
              </a:rPr>
              <a:t>λ</a:t>
            </a:r>
            <a:endParaRPr lang="en-US" sz="1100" dirty="0"/>
          </a:p>
        </p:txBody>
      </p:sp>
      <p:sp>
        <p:nvSpPr>
          <p:cNvPr id="12" name="Text 10"/>
          <p:cNvSpPr/>
          <p:nvPr/>
        </p:nvSpPr>
        <p:spPr>
          <a:xfrm>
            <a:off x="914400" y="1234440"/>
            <a:ext cx="3566160" cy="292608"/>
          </a:xfrm>
          <a:prstGeom prst="rect">
            <a:avLst/>
          </a:prstGeom>
          <a:noFill/>
          <a:ln/>
        </p:spPr>
        <p:txBody>
          <a:bodyPr wrap="square" lIns="0" tIns="0" rIns="0" bIns="0" rtlCol="0" anchor="ctr"/>
          <a:lstStyle/>
          <a:p>
            <a:pPr marL="0" indent="0">
              <a:buNone/>
            </a:pPr>
            <a:r>
              <a:rPr lang="en-US" sz="1000" dirty="0">
                <a:solidFill>
                  <a:srgbClr val="0D1B2A"/>
                </a:solidFill>
              </a:rPr>
              <a:t>Tốc độ đến của traffic hợp lệ (Poisson) [10]</a:t>
            </a:r>
            <a:endParaRPr lang="en-US" sz="1000" dirty="0"/>
          </a:p>
        </p:txBody>
      </p:sp>
      <p:sp>
        <p:nvSpPr>
          <p:cNvPr id="13" name="Shape 11"/>
          <p:cNvSpPr/>
          <p:nvPr/>
        </p:nvSpPr>
        <p:spPr>
          <a:xfrm>
            <a:off x="457200" y="1627632"/>
            <a:ext cx="384048" cy="292608"/>
          </a:xfrm>
          <a:prstGeom prst="rect">
            <a:avLst/>
          </a:prstGeom>
          <a:solidFill>
            <a:srgbClr val="0096B7"/>
          </a:solidFill>
          <a:ln w="12700">
            <a:solidFill>
              <a:srgbClr val="0096B7"/>
            </a:solidFill>
            <a:prstDash val="solid"/>
          </a:ln>
        </p:spPr>
      </p:sp>
      <p:sp>
        <p:nvSpPr>
          <p:cNvPr id="14" name="Text 12"/>
          <p:cNvSpPr/>
          <p:nvPr/>
        </p:nvSpPr>
        <p:spPr>
          <a:xfrm>
            <a:off x="457200" y="1627632"/>
            <a:ext cx="384048" cy="292608"/>
          </a:xfrm>
          <a:prstGeom prst="rect">
            <a:avLst/>
          </a:prstGeom>
          <a:noFill/>
          <a:ln/>
        </p:spPr>
        <p:txBody>
          <a:bodyPr wrap="square" lIns="0" tIns="0" rIns="0" bIns="0" rtlCol="0" anchor="ctr"/>
          <a:lstStyle/>
          <a:p>
            <a:pPr marL="0" indent="0" algn="ctr">
              <a:buNone/>
            </a:pPr>
            <a:r>
              <a:rPr lang="en-US" sz="1100" b="1" i="1" dirty="0">
                <a:solidFill>
                  <a:srgbClr val="FFFFFF"/>
                </a:solidFill>
              </a:rPr>
              <a:t>Kλ</a:t>
            </a:r>
            <a:endParaRPr lang="en-US" sz="1100" dirty="0"/>
          </a:p>
        </p:txBody>
      </p:sp>
      <p:sp>
        <p:nvSpPr>
          <p:cNvPr id="15" name="Text 13"/>
          <p:cNvSpPr/>
          <p:nvPr/>
        </p:nvSpPr>
        <p:spPr>
          <a:xfrm>
            <a:off x="914400" y="1627632"/>
            <a:ext cx="3566160" cy="292608"/>
          </a:xfrm>
          <a:prstGeom prst="rect">
            <a:avLst/>
          </a:prstGeom>
          <a:noFill/>
          <a:ln/>
        </p:spPr>
        <p:txBody>
          <a:bodyPr wrap="square" lIns="0" tIns="0" rIns="0" bIns="0" rtlCol="0" anchor="ctr"/>
          <a:lstStyle/>
          <a:p>
            <a:pPr marL="0" indent="0">
              <a:buNone/>
            </a:pPr>
            <a:r>
              <a:rPr lang="en-US" sz="1000" dirty="0">
                <a:solidFill>
                  <a:srgbClr val="0D1B2A"/>
                </a:solidFill>
              </a:rPr>
              <a:t>Lưu lượng tấn công (K = sức mạnh kẻ thù)</a:t>
            </a:r>
            <a:endParaRPr lang="en-US" sz="1000" dirty="0"/>
          </a:p>
        </p:txBody>
      </p:sp>
      <p:sp>
        <p:nvSpPr>
          <p:cNvPr id="16" name="Shape 14"/>
          <p:cNvSpPr/>
          <p:nvPr/>
        </p:nvSpPr>
        <p:spPr>
          <a:xfrm>
            <a:off x="457200" y="2020824"/>
            <a:ext cx="384048" cy="292608"/>
          </a:xfrm>
          <a:prstGeom prst="rect">
            <a:avLst/>
          </a:prstGeom>
          <a:solidFill>
            <a:srgbClr val="0096B7"/>
          </a:solidFill>
          <a:ln w="12700">
            <a:solidFill>
              <a:srgbClr val="0096B7"/>
            </a:solidFill>
            <a:prstDash val="solid"/>
          </a:ln>
        </p:spPr>
      </p:sp>
      <p:sp>
        <p:nvSpPr>
          <p:cNvPr id="17" name="Text 15"/>
          <p:cNvSpPr/>
          <p:nvPr/>
        </p:nvSpPr>
        <p:spPr>
          <a:xfrm>
            <a:off x="457200" y="2020824"/>
            <a:ext cx="384048" cy="292608"/>
          </a:xfrm>
          <a:prstGeom prst="rect">
            <a:avLst/>
          </a:prstGeom>
          <a:noFill/>
          <a:ln/>
        </p:spPr>
        <p:txBody>
          <a:bodyPr wrap="square" lIns="0" tIns="0" rIns="0" bIns="0" rtlCol="0" anchor="ctr"/>
          <a:lstStyle/>
          <a:p>
            <a:pPr marL="0" indent="0" algn="ctr">
              <a:buNone/>
            </a:pPr>
            <a:r>
              <a:rPr lang="en-US" sz="1100" b="1" i="1" dirty="0">
                <a:solidFill>
                  <a:srgbClr val="FFFFFF"/>
                </a:solidFill>
              </a:rPr>
              <a:t>μ</a:t>
            </a:r>
            <a:endParaRPr lang="en-US" sz="1100" dirty="0"/>
          </a:p>
        </p:txBody>
      </p:sp>
      <p:sp>
        <p:nvSpPr>
          <p:cNvPr id="18" name="Text 16"/>
          <p:cNvSpPr/>
          <p:nvPr/>
        </p:nvSpPr>
        <p:spPr>
          <a:xfrm>
            <a:off x="914400" y="2020824"/>
            <a:ext cx="3566160" cy="292608"/>
          </a:xfrm>
          <a:prstGeom prst="rect">
            <a:avLst/>
          </a:prstGeom>
          <a:noFill/>
          <a:ln/>
        </p:spPr>
        <p:txBody>
          <a:bodyPr wrap="square" lIns="0" tIns="0" rIns="0" bIns="0" rtlCol="0" anchor="ctr"/>
          <a:lstStyle/>
          <a:p>
            <a:pPr marL="0" indent="0">
              <a:buNone/>
            </a:pPr>
            <a:r>
              <a:rPr lang="en-US" sz="1000" dirty="0">
                <a:solidFill>
                  <a:srgbClr val="0D1B2A"/>
                </a:solidFill>
              </a:rPr>
              <a:t>Tốc độ phục vụ mỗi SU (hàm mũ) [10]</a:t>
            </a:r>
            <a:endParaRPr lang="en-US" sz="1000" dirty="0"/>
          </a:p>
        </p:txBody>
      </p:sp>
      <p:sp>
        <p:nvSpPr>
          <p:cNvPr id="19" name="Shape 17"/>
          <p:cNvSpPr/>
          <p:nvPr/>
        </p:nvSpPr>
        <p:spPr>
          <a:xfrm>
            <a:off x="4663440" y="1234440"/>
            <a:ext cx="384048" cy="292608"/>
          </a:xfrm>
          <a:prstGeom prst="rect">
            <a:avLst/>
          </a:prstGeom>
          <a:solidFill>
            <a:srgbClr val="0096B7"/>
          </a:solidFill>
          <a:ln w="12700">
            <a:solidFill>
              <a:srgbClr val="0096B7"/>
            </a:solidFill>
            <a:prstDash val="solid"/>
          </a:ln>
        </p:spPr>
      </p:sp>
      <p:sp>
        <p:nvSpPr>
          <p:cNvPr id="20" name="Text 18"/>
          <p:cNvSpPr/>
          <p:nvPr/>
        </p:nvSpPr>
        <p:spPr>
          <a:xfrm>
            <a:off x="4663440" y="1234440"/>
            <a:ext cx="384048" cy="292608"/>
          </a:xfrm>
          <a:prstGeom prst="rect">
            <a:avLst/>
          </a:prstGeom>
          <a:noFill/>
          <a:ln/>
        </p:spPr>
        <p:txBody>
          <a:bodyPr wrap="square" lIns="0" tIns="0" rIns="0" bIns="0" rtlCol="0" anchor="ctr"/>
          <a:lstStyle/>
          <a:p>
            <a:pPr marL="0" indent="0" algn="ctr">
              <a:buNone/>
            </a:pPr>
            <a:r>
              <a:rPr lang="en-US" sz="1100" b="1" i="1" dirty="0">
                <a:solidFill>
                  <a:srgbClr val="FFFFFF"/>
                </a:solidFill>
              </a:rPr>
              <a:t>m</a:t>
            </a:r>
            <a:endParaRPr lang="en-US" sz="1100" dirty="0"/>
          </a:p>
        </p:txBody>
      </p:sp>
      <p:sp>
        <p:nvSpPr>
          <p:cNvPr id="21" name="Text 19"/>
          <p:cNvSpPr/>
          <p:nvPr/>
        </p:nvSpPr>
        <p:spPr>
          <a:xfrm>
            <a:off x="5120640" y="1234440"/>
            <a:ext cx="3566160" cy="292608"/>
          </a:xfrm>
          <a:prstGeom prst="rect">
            <a:avLst/>
          </a:prstGeom>
          <a:noFill/>
          <a:ln/>
        </p:spPr>
        <p:txBody>
          <a:bodyPr wrap="square" lIns="0" tIns="0" rIns="0" bIns="0" rtlCol="0" anchor="ctr"/>
          <a:lstStyle/>
          <a:p>
            <a:pPr marL="0" indent="0">
              <a:buNone/>
            </a:pPr>
            <a:r>
              <a:rPr lang="en-US" sz="1000" dirty="0">
                <a:solidFill>
                  <a:srgbClr val="0D1B2A"/>
                </a:solidFill>
              </a:rPr>
              <a:t>Số SU đang chạy (1 ≤ m ≤ M)</a:t>
            </a:r>
            <a:endParaRPr lang="en-US" sz="1000" dirty="0"/>
          </a:p>
        </p:txBody>
      </p:sp>
      <p:sp>
        <p:nvSpPr>
          <p:cNvPr id="22" name="Shape 20"/>
          <p:cNvSpPr/>
          <p:nvPr/>
        </p:nvSpPr>
        <p:spPr>
          <a:xfrm>
            <a:off x="4663440" y="1627632"/>
            <a:ext cx="384048" cy="292608"/>
          </a:xfrm>
          <a:prstGeom prst="rect">
            <a:avLst/>
          </a:prstGeom>
          <a:solidFill>
            <a:srgbClr val="0096B7"/>
          </a:solidFill>
          <a:ln w="12700">
            <a:solidFill>
              <a:srgbClr val="0096B7"/>
            </a:solidFill>
            <a:prstDash val="solid"/>
          </a:ln>
        </p:spPr>
      </p:sp>
      <p:sp>
        <p:nvSpPr>
          <p:cNvPr id="23" name="Text 21"/>
          <p:cNvSpPr/>
          <p:nvPr/>
        </p:nvSpPr>
        <p:spPr>
          <a:xfrm>
            <a:off x="4663440" y="1627632"/>
            <a:ext cx="384048" cy="292608"/>
          </a:xfrm>
          <a:prstGeom prst="rect">
            <a:avLst/>
          </a:prstGeom>
          <a:noFill/>
          <a:ln/>
        </p:spPr>
        <p:txBody>
          <a:bodyPr wrap="square" lIns="0" tIns="0" rIns="0" bIns="0" rtlCol="0" anchor="ctr"/>
          <a:lstStyle/>
          <a:p>
            <a:pPr marL="0" indent="0" algn="ctr">
              <a:buNone/>
            </a:pPr>
            <a:r>
              <a:rPr lang="en-US" sz="1100" b="1" i="1" dirty="0">
                <a:solidFill>
                  <a:srgbClr val="FFFFFF"/>
                </a:solidFill>
              </a:rPr>
              <a:t>N</a:t>
            </a:r>
            <a:endParaRPr lang="en-US" sz="1100" dirty="0"/>
          </a:p>
        </p:txBody>
      </p:sp>
      <p:sp>
        <p:nvSpPr>
          <p:cNvPr id="24" name="Text 22"/>
          <p:cNvSpPr/>
          <p:nvPr/>
        </p:nvSpPr>
        <p:spPr>
          <a:xfrm>
            <a:off x="5120640" y="1627632"/>
            <a:ext cx="3566160" cy="292608"/>
          </a:xfrm>
          <a:prstGeom prst="rect">
            <a:avLst/>
          </a:prstGeom>
          <a:noFill/>
          <a:ln/>
        </p:spPr>
        <p:txBody>
          <a:bodyPr wrap="square" lIns="0" tIns="0" rIns="0" bIns="0" rtlCol="0" anchor="ctr"/>
          <a:lstStyle/>
          <a:p>
            <a:pPr marL="0" indent="0">
              <a:buNone/>
            </a:pPr>
            <a:r>
              <a:rPr lang="en-US" sz="1000" dirty="0">
                <a:solidFill>
                  <a:srgbClr val="0D1B2A"/>
                </a:solidFill>
              </a:rPr>
              <a:t>Dung lượng hàng đợi tối đa</a:t>
            </a:r>
            <a:endParaRPr lang="en-US" sz="1000" dirty="0"/>
          </a:p>
        </p:txBody>
      </p:sp>
      <p:sp>
        <p:nvSpPr>
          <p:cNvPr id="25" name="Shape 23"/>
          <p:cNvSpPr/>
          <p:nvPr/>
        </p:nvSpPr>
        <p:spPr>
          <a:xfrm>
            <a:off x="274320" y="2633472"/>
            <a:ext cx="4114800" cy="210312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6" name="Shape 24"/>
          <p:cNvSpPr/>
          <p:nvPr/>
        </p:nvSpPr>
        <p:spPr>
          <a:xfrm>
            <a:off x="274320" y="2633472"/>
            <a:ext cx="54864" cy="2103120"/>
          </a:xfrm>
          <a:prstGeom prst="rect">
            <a:avLst/>
          </a:prstGeom>
          <a:solidFill>
            <a:srgbClr val="F47B20"/>
          </a:solidFill>
          <a:ln w="12700">
            <a:solidFill>
              <a:srgbClr val="F47B20"/>
            </a:solidFill>
            <a:prstDash val="solid"/>
          </a:ln>
        </p:spPr>
      </p:sp>
      <p:sp>
        <p:nvSpPr>
          <p:cNvPr id="27" name="Text 25"/>
          <p:cNvSpPr/>
          <p:nvPr/>
        </p:nvSpPr>
        <p:spPr>
          <a:xfrm>
            <a:off x="457200" y="2697480"/>
            <a:ext cx="3749040" cy="320040"/>
          </a:xfrm>
          <a:prstGeom prst="rect">
            <a:avLst/>
          </a:prstGeom>
          <a:noFill/>
          <a:ln/>
        </p:spPr>
        <p:txBody>
          <a:bodyPr wrap="square" lIns="0" tIns="0" rIns="0" bIns="0" rtlCol="0" anchor="ctr"/>
          <a:lstStyle/>
          <a:p>
            <a:pPr marL="0" indent="0">
              <a:buNone/>
            </a:pPr>
            <a:r>
              <a:rPr lang="en-US" sz="1150" b="1" dirty="0">
                <a:solidFill>
                  <a:srgbClr val="0D1B2A"/>
                </a:solidFill>
              </a:rPr>
              <a:t>Hàm chi phí C(s,d) của Defender</a:t>
            </a:r>
            <a:endParaRPr lang="en-US" sz="1150" dirty="0"/>
          </a:p>
        </p:txBody>
      </p:sp>
      <p:sp>
        <p:nvSpPr>
          <p:cNvPr id="28" name="Text 26"/>
          <p:cNvSpPr/>
          <p:nvPr/>
        </p:nvSpPr>
        <p:spPr>
          <a:xfrm>
            <a:off x="457200" y="3108960"/>
            <a:ext cx="457200" cy="320040"/>
          </a:xfrm>
          <a:prstGeom prst="rect">
            <a:avLst/>
          </a:prstGeom>
          <a:noFill/>
          <a:ln/>
        </p:spPr>
        <p:txBody>
          <a:bodyPr wrap="square" lIns="0" tIns="0" rIns="0" bIns="0" rtlCol="0" anchor="ctr"/>
          <a:lstStyle/>
          <a:p>
            <a:pPr marL="0" indent="0">
              <a:buNone/>
            </a:pPr>
            <a:r>
              <a:rPr lang="en-US" sz="1050" b="1" i="1" dirty="0">
                <a:solidFill>
                  <a:srgbClr val="F47B20"/>
                </a:solidFill>
              </a:rPr>
              <a:t>CS:</a:t>
            </a:r>
            <a:endParaRPr lang="en-US" sz="1050" dirty="0"/>
          </a:p>
        </p:txBody>
      </p:sp>
      <p:sp>
        <p:nvSpPr>
          <p:cNvPr id="29" name="Text 27"/>
          <p:cNvSpPr/>
          <p:nvPr/>
        </p:nvSpPr>
        <p:spPr>
          <a:xfrm>
            <a:off x="960120" y="3108960"/>
            <a:ext cx="3246120" cy="320040"/>
          </a:xfrm>
          <a:prstGeom prst="rect">
            <a:avLst/>
          </a:prstGeom>
          <a:noFill/>
          <a:ln/>
        </p:spPr>
        <p:txBody>
          <a:bodyPr wrap="square" lIns="0" tIns="0" rIns="0" bIns="0" rtlCol="0" anchor="ctr"/>
          <a:lstStyle/>
          <a:p>
            <a:pPr marL="0" indent="0">
              <a:buNone/>
            </a:pPr>
            <a:r>
              <a:rPr lang="en-US" sz="1000" dirty="0">
                <a:solidFill>
                  <a:srgbClr val="0D1B2A"/>
                </a:solidFill>
              </a:rPr>
              <a:t>Chi phí vận hành mỗi SU đang chạy</a:t>
            </a:r>
            <a:endParaRPr lang="en-US" sz="1000" dirty="0"/>
          </a:p>
        </p:txBody>
      </p:sp>
      <p:sp>
        <p:nvSpPr>
          <p:cNvPr id="30" name="Text 28"/>
          <p:cNvSpPr/>
          <p:nvPr/>
        </p:nvSpPr>
        <p:spPr>
          <a:xfrm>
            <a:off x="457200" y="3493008"/>
            <a:ext cx="457200" cy="320040"/>
          </a:xfrm>
          <a:prstGeom prst="rect">
            <a:avLst/>
          </a:prstGeom>
          <a:noFill/>
          <a:ln/>
        </p:spPr>
        <p:txBody>
          <a:bodyPr wrap="square" lIns="0" tIns="0" rIns="0" bIns="0" rtlCol="0" anchor="ctr"/>
          <a:lstStyle/>
          <a:p>
            <a:pPr marL="0" indent="0">
              <a:buNone/>
            </a:pPr>
            <a:r>
              <a:rPr lang="en-US" sz="1050" b="1" i="1" dirty="0">
                <a:solidFill>
                  <a:srgbClr val="F47B20"/>
                </a:solidFill>
              </a:rPr>
              <a:t>CD:</a:t>
            </a:r>
            <a:endParaRPr lang="en-US" sz="1050" dirty="0"/>
          </a:p>
        </p:txBody>
      </p:sp>
      <p:sp>
        <p:nvSpPr>
          <p:cNvPr id="31" name="Text 29"/>
          <p:cNvSpPr/>
          <p:nvPr/>
        </p:nvSpPr>
        <p:spPr>
          <a:xfrm>
            <a:off x="960120" y="3493008"/>
            <a:ext cx="3246120" cy="320040"/>
          </a:xfrm>
          <a:prstGeom prst="rect">
            <a:avLst/>
          </a:prstGeom>
          <a:noFill/>
          <a:ln/>
        </p:spPr>
        <p:txBody>
          <a:bodyPr wrap="square" lIns="0" tIns="0" rIns="0" bIns="0" rtlCol="0" anchor="ctr"/>
          <a:lstStyle/>
          <a:p>
            <a:pPr marL="0" indent="0">
              <a:buNone/>
            </a:pPr>
            <a:r>
              <a:rPr lang="en-US" sz="1000" dirty="0">
                <a:solidFill>
                  <a:srgbClr val="0D1B2A"/>
                </a:solidFill>
              </a:rPr>
              <a:t>Phí idle do tính phí tối thiểu (idle penalty)</a:t>
            </a:r>
            <a:endParaRPr lang="en-US" sz="1000" dirty="0"/>
          </a:p>
        </p:txBody>
      </p:sp>
      <p:sp>
        <p:nvSpPr>
          <p:cNvPr id="32" name="Text 30"/>
          <p:cNvSpPr/>
          <p:nvPr/>
        </p:nvSpPr>
        <p:spPr>
          <a:xfrm>
            <a:off x="457200" y="3877056"/>
            <a:ext cx="457200" cy="320040"/>
          </a:xfrm>
          <a:prstGeom prst="rect">
            <a:avLst/>
          </a:prstGeom>
          <a:noFill/>
          <a:ln/>
        </p:spPr>
        <p:txBody>
          <a:bodyPr wrap="square" lIns="0" tIns="0" rIns="0" bIns="0" rtlCol="0" anchor="ctr"/>
          <a:lstStyle/>
          <a:p>
            <a:pPr marL="0" indent="0">
              <a:buNone/>
            </a:pPr>
            <a:r>
              <a:rPr lang="en-US" sz="1050" b="1" i="1" dirty="0">
                <a:solidFill>
                  <a:srgbClr val="F47B20"/>
                </a:solidFill>
              </a:rPr>
              <a:t>CR:</a:t>
            </a:r>
            <a:endParaRPr lang="en-US" sz="1050" dirty="0"/>
          </a:p>
        </p:txBody>
      </p:sp>
      <p:sp>
        <p:nvSpPr>
          <p:cNvPr id="33" name="Text 31"/>
          <p:cNvSpPr/>
          <p:nvPr/>
        </p:nvSpPr>
        <p:spPr>
          <a:xfrm>
            <a:off x="960120" y="3877056"/>
            <a:ext cx="3246120" cy="320040"/>
          </a:xfrm>
          <a:prstGeom prst="rect">
            <a:avLst/>
          </a:prstGeom>
          <a:noFill/>
          <a:ln/>
        </p:spPr>
        <p:txBody>
          <a:bodyPr wrap="square" lIns="0" tIns="0" rIns="0" bIns="0" rtlCol="0" anchor="ctr"/>
          <a:lstStyle/>
          <a:p>
            <a:pPr marL="0" indent="0">
              <a:buNone/>
            </a:pPr>
            <a:r>
              <a:rPr lang="en-US" sz="1000" dirty="0">
                <a:solidFill>
                  <a:srgbClr val="0D1B2A"/>
                </a:solidFill>
              </a:rPr>
              <a:t>Phạt SLA khi yêu cầu bị rớt (drop)</a:t>
            </a:r>
            <a:endParaRPr lang="en-US" sz="1000" dirty="0"/>
          </a:p>
        </p:txBody>
      </p:sp>
      <p:sp>
        <p:nvSpPr>
          <p:cNvPr id="34" name="Text 32"/>
          <p:cNvSpPr/>
          <p:nvPr/>
        </p:nvSpPr>
        <p:spPr>
          <a:xfrm>
            <a:off x="457200" y="4261104"/>
            <a:ext cx="457200" cy="320040"/>
          </a:xfrm>
          <a:prstGeom prst="rect">
            <a:avLst/>
          </a:prstGeom>
          <a:noFill/>
          <a:ln/>
        </p:spPr>
        <p:txBody>
          <a:bodyPr wrap="square" lIns="0" tIns="0" rIns="0" bIns="0" rtlCol="0" anchor="ctr"/>
          <a:lstStyle/>
          <a:p>
            <a:pPr marL="0" indent="0">
              <a:buNone/>
            </a:pPr>
            <a:r>
              <a:rPr lang="en-US" sz="1050" b="1" i="1" dirty="0">
                <a:solidFill>
                  <a:srgbClr val="F47B20"/>
                </a:solidFill>
              </a:rPr>
              <a:t>CP:</a:t>
            </a:r>
            <a:endParaRPr lang="en-US" sz="1050" dirty="0"/>
          </a:p>
        </p:txBody>
      </p:sp>
      <p:sp>
        <p:nvSpPr>
          <p:cNvPr id="35" name="Text 33"/>
          <p:cNvSpPr/>
          <p:nvPr/>
        </p:nvSpPr>
        <p:spPr>
          <a:xfrm>
            <a:off x="960120" y="4261104"/>
            <a:ext cx="3246120" cy="320040"/>
          </a:xfrm>
          <a:prstGeom prst="rect">
            <a:avLst/>
          </a:prstGeom>
          <a:noFill/>
          <a:ln/>
        </p:spPr>
        <p:txBody>
          <a:bodyPr wrap="square" lIns="0" tIns="0" rIns="0" bIns="0" rtlCol="0" anchor="ctr"/>
          <a:lstStyle/>
          <a:p>
            <a:pPr marL="0" indent="0">
              <a:buNone/>
            </a:pPr>
            <a:r>
              <a:rPr lang="en-US" sz="1000" dirty="0">
                <a:solidFill>
                  <a:srgbClr val="0D1B2A"/>
                </a:solidFill>
              </a:rPr>
              <a:t>Phạt SLA khi yêu cầu vượt timeout W</a:t>
            </a:r>
            <a:endParaRPr lang="en-US" sz="1000" dirty="0"/>
          </a:p>
        </p:txBody>
      </p:sp>
      <p:sp>
        <p:nvSpPr>
          <p:cNvPr id="36" name="Shape 34"/>
          <p:cNvSpPr/>
          <p:nvPr/>
        </p:nvSpPr>
        <p:spPr>
          <a:xfrm>
            <a:off x="4617720" y="2633472"/>
            <a:ext cx="4160520" cy="210312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37" name="Shape 35"/>
          <p:cNvSpPr/>
          <p:nvPr/>
        </p:nvSpPr>
        <p:spPr>
          <a:xfrm>
            <a:off x="4617720" y="2633472"/>
            <a:ext cx="54864" cy="2103120"/>
          </a:xfrm>
          <a:prstGeom prst="rect">
            <a:avLst/>
          </a:prstGeom>
          <a:solidFill>
            <a:srgbClr val="D62828"/>
          </a:solidFill>
          <a:ln w="12700">
            <a:solidFill>
              <a:srgbClr val="D62828"/>
            </a:solidFill>
            <a:prstDash val="solid"/>
          </a:ln>
        </p:spPr>
      </p:sp>
      <p:sp>
        <p:nvSpPr>
          <p:cNvPr id="38" name="Text 36"/>
          <p:cNvSpPr/>
          <p:nvPr/>
        </p:nvSpPr>
        <p:spPr>
          <a:xfrm>
            <a:off x="4773168" y="2697480"/>
            <a:ext cx="3840480" cy="320040"/>
          </a:xfrm>
          <a:prstGeom prst="rect">
            <a:avLst/>
          </a:prstGeom>
          <a:noFill/>
          <a:ln/>
        </p:spPr>
        <p:txBody>
          <a:bodyPr wrap="square" lIns="0" tIns="0" rIns="0" bIns="0" rtlCol="0" anchor="ctr"/>
          <a:lstStyle/>
          <a:p>
            <a:pPr marL="0" indent="0">
              <a:buNone/>
            </a:pPr>
            <a:r>
              <a:rPr lang="en-US" sz="1150" b="1" dirty="0">
                <a:solidFill>
                  <a:srgbClr val="0D1B2A"/>
                </a:solidFill>
              </a:rPr>
              <a:t>Hàm phần thưởng R(s,a) của Attacker</a:t>
            </a:r>
            <a:endParaRPr lang="en-US" sz="1150" dirty="0"/>
          </a:p>
        </p:txBody>
      </p:sp>
      <p:sp>
        <p:nvSpPr>
          <p:cNvPr id="39" name="Text 37"/>
          <p:cNvSpPr/>
          <p:nvPr/>
        </p:nvSpPr>
        <p:spPr>
          <a:xfrm>
            <a:off x="4773168" y="3108960"/>
            <a:ext cx="3840480" cy="411480"/>
          </a:xfrm>
          <a:prstGeom prst="rect">
            <a:avLst/>
          </a:prstGeom>
          <a:noFill/>
          <a:ln/>
        </p:spPr>
        <p:txBody>
          <a:bodyPr wrap="square" lIns="0" tIns="0" rIns="0" bIns="0" rtlCol="0" anchor="ctr"/>
          <a:lstStyle/>
          <a:p>
            <a:pPr marL="0" indent="0" algn="ctr">
              <a:buNone/>
            </a:pPr>
            <a:r>
              <a:rPr lang="en-US" sz="1400" b="1" dirty="0">
                <a:solidFill>
                  <a:srgbClr val="D62828"/>
                </a:solidFill>
              </a:rPr>
              <a:t>R(s,a) = C(s, π(s))  −  K × CA</a:t>
            </a:r>
            <a:endParaRPr lang="en-US" sz="1400" dirty="0"/>
          </a:p>
        </p:txBody>
      </p:sp>
      <p:sp>
        <p:nvSpPr>
          <p:cNvPr id="40" name="Text 38"/>
          <p:cNvSpPr/>
          <p:nvPr/>
        </p:nvSpPr>
        <p:spPr>
          <a:xfrm>
            <a:off x="4773168" y="3547872"/>
            <a:ext cx="3840480" cy="1051560"/>
          </a:xfrm>
          <a:prstGeom prst="rect">
            <a:avLst/>
          </a:prstGeom>
          <a:noFill/>
          <a:ln/>
        </p:spPr>
        <p:txBody>
          <a:bodyPr wrap="square" lIns="0" tIns="0" rIns="0" bIns="0" rtlCol="0" anchor="ctr"/>
          <a:lstStyle/>
          <a:p>
            <a:pPr marL="0" indent="0">
              <a:buNone/>
            </a:pPr>
            <a:r>
              <a:rPr lang="en-US" sz="1000" dirty="0">
                <a:solidFill>
                  <a:srgbClr val="0D1B2A"/>
                </a:solidFill>
              </a:rPr>
              <a:t>• Tối đa hóa chi phí nạn nhân phải gánh
• Trừ chi phí bơm traffic K×CA
• Kẻ tấn công biết trước chính sách π của defender</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04 · Kết quả phân tích lý thuyết chính</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8595360" cy="12070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1207008"/>
          </a:xfrm>
          <a:prstGeom prst="rect">
            <a:avLst/>
          </a:prstGeom>
          <a:solidFill>
            <a:srgbClr val="F47B20"/>
          </a:solidFill>
          <a:ln w="12700">
            <a:solidFill>
              <a:srgbClr val="F47B20"/>
            </a:solidFill>
            <a:prstDash val="solid"/>
          </a:ln>
        </p:spPr>
      </p:sp>
      <p:sp>
        <p:nvSpPr>
          <p:cNvPr id="9" name="Shape 7"/>
          <p:cNvSpPr/>
          <p:nvPr/>
        </p:nvSpPr>
        <p:spPr>
          <a:xfrm>
            <a:off x="411480" y="1216152"/>
            <a:ext cx="384048" cy="384048"/>
          </a:xfrm>
          <a:prstGeom prst="ellipse">
            <a:avLst/>
          </a:prstGeom>
          <a:solidFill>
            <a:srgbClr val="F47B20"/>
          </a:solidFill>
          <a:ln w="12700">
            <a:solidFill>
              <a:srgbClr val="F47B20"/>
            </a:solidFill>
            <a:prstDash val="solid"/>
          </a:ln>
        </p:spPr>
      </p:sp>
      <p:sp>
        <p:nvSpPr>
          <p:cNvPr id="10" name="Text 8"/>
          <p:cNvSpPr/>
          <p:nvPr/>
        </p:nvSpPr>
        <p:spPr>
          <a:xfrm>
            <a:off x="411480" y="121615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11" name="Text 9"/>
          <p:cNvSpPr/>
          <p:nvPr/>
        </p:nvSpPr>
        <p:spPr>
          <a:xfrm>
            <a:off x="914400" y="914400"/>
            <a:ext cx="7772400" cy="347472"/>
          </a:xfrm>
          <a:prstGeom prst="rect">
            <a:avLst/>
          </a:prstGeom>
          <a:noFill/>
          <a:ln/>
        </p:spPr>
        <p:txBody>
          <a:bodyPr wrap="square" lIns="0" tIns="0" rIns="0" bIns="0" rtlCol="0" anchor="ctr"/>
          <a:lstStyle/>
          <a:p>
            <a:pPr marL="0" indent="0">
              <a:buNone/>
            </a:pPr>
            <a:r>
              <a:rPr lang="en-US" sz="1200" b="1" dirty="0">
                <a:solidFill>
                  <a:srgbClr val="0D1B2A"/>
                </a:solidFill>
              </a:rPr>
              <a:t>Billing Per-Hour phá vỡ giả thuyết Trễ</a:t>
            </a:r>
            <a:endParaRPr lang="en-US" sz="1200" dirty="0"/>
          </a:p>
        </p:txBody>
      </p:sp>
      <p:sp>
        <p:nvSpPr>
          <p:cNvPr id="12" name="Text 10"/>
          <p:cNvSpPr/>
          <p:nvPr/>
        </p:nvSpPr>
        <p:spPr>
          <a:xfrm>
            <a:off x="914400" y="1280160"/>
            <a:ext cx="7772400" cy="658368"/>
          </a:xfrm>
          <a:prstGeom prst="rect">
            <a:avLst/>
          </a:prstGeom>
          <a:noFill/>
          <a:ln/>
        </p:spPr>
        <p:txBody>
          <a:bodyPr wrap="square" lIns="0" tIns="0" rIns="0" bIns="0" rtlCol="0" anchor="ctr"/>
          <a:lstStyle/>
          <a:p>
            <a:pPr marL="0" indent="0">
              <a:buNone/>
            </a:pPr>
            <a:r>
              <a:rPr lang="en-US" sz="1050" dirty="0">
                <a:solidFill>
                  <a:srgbClr val="64748B"/>
                </a:solidFill>
              </a:rPr>
              <a:t>Khi CD = CS (tính phí theo giờ), hệ thống mất động lực thu hẹp SU dư thừa → ngưỡng tấn công giảm mạnh, tạo điều kiện hoàn hảo cho EDoS.</a:t>
            </a:r>
            <a:endParaRPr lang="en-US" sz="1050" dirty="0"/>
          </a:p>
        </p:txBody>
      </p:sp>
      <p:sp>
        <p:nvSpPr>
          <p:cNvPr id="13" name="Shape 11"/>
          <p:cNvSpPr/>
          <p:nvPr/>
        </p:nvSpPr>
        <p:spPr>
          <a:xfrm>
            <a:off x="274320" y="2130552"/>
            <a:ext cx="8595360" cy="12070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14" name="Shape 12"/>
          <p:cNvSpPr/>
          <p:nvPr/>
        </p:nvSpPr>
        <p:spPr>
          <a:xfrm>
            <a:off x="274320" y="2130552"/>
            <a:ext cx="54864" cy="1207008"/>
          </a:xfrm>
          <a:prstGeom prst="rect">
            <a:avLst/>
          </a:prstGeom>
          <a:solidFill>
            <a:srgbClr val="D62828"/>
          </a:solidFill>
          <a:ln w="12700">
            <a:solidFill>
              <a:srgbClr val="D62828"/>
            </a:solidFill>
            <a:prstDash val="solid"/>
          </a:ln>
        </p:spPr>
      </p:sp>
      <p:sp>
        <p:nvSpPr>
          <p:cNvPr id="15" name="Shape 13"/>
          <p:cNvSpPr/>
          <p:nvPr/>
        </p:nvSpPr>
        <p:spPr>
          <a:xfrm>
            <a:off x="411480" y="2542032"/>
            <a:ext cx="384048" cy="384048"/>
          </a:xfrm>
          <a:prstGeom prst="ellipse">
            <a:avLst/>
          </a:prstGeom>
          <a:solidFill>
            <a:srgbClr val="D62828"/>
          </a:solidFill>
          <a:ln w="12700">
            <a:solidFill>
              <a:srgbClr val="D62828"/>
            </a:solidFill>
            <a:prstDash val="solid"/>
          </a:ln>
        </p:spPr>
      </p:sp>
      <p:sp>
        <p:nvSpPr>
          <p:cNvPr id="16" name="Text 14"/>
          <p:cNvSpPr/>
          <p:nvPr/>
        </p:nvSpPr>
        <p:spPr>
          <a:xfrm>
            <a:off x="411480" y="254203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17" name="Text 15"/>
          <p:cNvSpPr/>
          <p:nvPr/>
        </p:nvSpPr>
        <p:spPr>
          <a:xfrm>
            <a:off x="914400" y="2240280"/>
            <a:ext cx="7772400" cy="347472"/>
          </a:xfrm>
          <a:prstGeom prst="rect">
            <a:avLst/>
          </a:prstGeom>
          <a:noFill/>
          <a:ln/>
        </p:spPr>
        <p:txBody>
          <a:bodyPr wrap="square" lIns="0" tIns="0" rIns="0" bIns="0" rtlCol="0" anchor="ctr"/>
          <a:lstStyle/>
          <a:p>
            <a:pPr marL="0" indent="0">
              <a:buNone/>
            </a:pPr>
            <a:r>
              <a:rPr lang="en-US" sz="1200" b="1" dirty="0">
                <a:solidFill>
                  <a:srgbClr val="0D1B2A"/>
                </a:solidFill>
              </a:rPr>
              <a:t>Hỏa lực cao có giới hạn lợi ích</a:t>
            </a:r>
            <a:endParaRPr lang="en-US" sz="1200" dirty="0"/>
          </a:p>
        </p:txBody>
      </p:sp>
      <p:sp>
        <p:nvSpPr>
          <p:cNvPr id="18" name="Text 16"/>
          <p:cNvSpPr/>
          <p:nvPr/>
        </p:nvSpPr>
        <p:spPr>
          <a:xfrm>
            <a:off x="914400" y="2606040"/>
            <a:ext cx="7772400" cy="658368"/>
          </a:xfrm>
          <a:prstGeom prst="rect">
            <a:avLst/>
          </a:prstGeom>
          <a:noFill/>
          <a:ln/>
        </p:spPr>
        <p:txBody>
          <a:bodyPr wrap="square" lIns="0" tIns="0" rIns="0" bIns="0" rtlCol="0" anchor="ctr"/>
          <a:lstStyle/>
          <a:p>
            <a:pPr marL="0" indent="0">
              <a:buNone/>
            </a:pPr>
            <a:r>
              <a:rPr lang="en-US" sz="1050" dirty="0">
                <a:solidFill>
                  <a:srgbClr val="64748B"/>
                </a:solidFill>
              </a:rPr>
              <a:t>Tăng K từ 10→20 làm tăng chi phí K×CA của chính kẻ thù, tỷ suất lợi nhuận bị triệt tiêu. Hàng đợi đầy nhanh → gói bị drop thay vì kích autoscale.</a:t>
            </a:r>
            <a:endParaRPr lang="en-US" sz="1050" dirty="0"/>
          </a:p>
        </p:txBody>
      </p:sp>
      <p:sp>
        <p:nvSpPr>
          <p:cNvPr id="19" name="Shape 17"/>
          <p:cNvSpPr/>
          <p:nvPr/>
        </p:nvSpPr>
        <p:spPr>
          <a:xfrm>
            <a:off x="274320" y="3456432"/>
            <a:ext cx="8595360" cy="12070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0" name="Shape 18"/>
          <p:cNvSpPr/>
          <p:nvPr/>
        </p:nvSpPr>
        <p:spPr>
          <a:xfrm>
            <a:off x="274320" y="3456432"/>
            <a:ext cx="54864" cy="1207008"/>
          </a:xfrm>
          <a:prstGeom prst="rect">
            <a:avLst/>
          </a:prstGeom>
          <a:solidFill>
            <a:srgbClr val="0096B7"/>
          </a:solidFill>
          <a:ln w="12700">
            <a:solidFill>
              <a:srgbClr val="0096B7"/>
            </a:solidFill>
            <a:prstDash val="solid"/>
          </a:ln>
        </p:spPr>
      </p:sp>
      <p:sp>
        <p:nvSpPr>
          <p:cNvPr id="21" name="Shape 19"/>
          <p:cNvSpPr/>
          <p:nvPr/>
        </p:nvSpPr>
        <p:spPr>
          <a:xfrm>
            <a:off x="411480" y="3867912"/>
            <a:ext cx="384048" cy="384048"/>
          </a:xfrm>
          <a:prstGeom prst="ellipse">
            <a:avLst/>
          </a:prstGeom>
          <a:solidFill>
            <a:srgbClr val="0096B7"/>
          </a:solidFill>
          <a:ln w="12700">
            <a:solidFill>
              <a:srgbClr val="0096B7"/>
            </a:solidFill>
            <a:prstDash val="solid"/>
          </a:ln>
        </p:spPr>
      </p:sp>
      <p:sp>
        <p:nvSpPr>
          <p:cNvPr id="22" name="Text 20"/>
          <p:cNvSpPr/>
          <p:nvPr/>
        </p:nvSpPr>
        <p:spPr>
          <a:xfrm>
            <a:off x="411480" y="386791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23" name="Text 21"/>
          <p:cNvSpPr/>
          <p:nvPr/>
        </p:nvSpPr>
        <p:spPr>
          <a:xfrm>
            <a:off x="914400" y="3566160"/>
            <a:ext cx="7772400" cy="347472"/>
          </a:xfrm>
          <a:prstGeom prst="rect">
            <a:avLst/>
          </a:prstGeom>
          <a:noFill/>
          <a:ln/>
        </p:spPr>
        <p:txBody>
          <a:bodyPr wrap="square" lIns="0" tIns="0" rIns="0" bIns="0" rtlCol="0" anchor="ctr"/>
          <a:lstStyle/>
          <a:p>
            <a:pPr marL="0" indent="0">
              <a:buNone/>
            </a:pPr>
            <a:r>
              <a:rPr lang="en-US" sz="1200" b="1" dirty="0">
                <a:solidFill>
                  <a:srgbClr val="0D1B2A"/>
                </a:solidFill>
              </a:rPr>
              <a:t>Hệ thống tài nguyên eo hẹp dễ bị nhất</a:t>
            </a:r>
            <a:endParaRPr lang="en-US" sz="1200" dirty="0"/>
          </a:p>
        </p:txBody>
      </p:sp>
      <p:sp>
        <p:nvSpPr>
          <p:cNvPr id="24" name="Text 22"/>
          <p:cNvSpPr/>
          <p:nvPr/>
        </p:nvSpPr>
        <p:spPr>
          <a:xfrm>
            <a:off x="914400" y="3931920"/>
            <a:ext cx="7772400" cy="658368"/>
          </a:xfrm>
          <a:prstGeom prst="rect">
            <a:avLst/>
          </a:prstGeom>
          <a:noFill/>
          <a:ln/>
        </p:spPr>
        <p:txBody>
          <a:bodyPr wrap="square" lIns="0" tIns="0" rIns="0" bIns="0" rtlCol="0" anchor="ctr"/>
          <a:lstStyle/>
          <a:p>
            <a:pPr marL="0" indent="0">
              <a:buNone/>
            </a:pPr>
            <a:r>
              <a:rPr lang="en-US" sz="1050" dirty="0">
                <a:solidFill>
                  <a:srgbClr val="64748B"/>
                </a:solidFill>
              </a:rPr>
              <a:t>Model C (M=3 SU) với CD &gt; 0 và K ≥ 10: kẻ tấn công luôn có lợi ở MỌI trạng thái. Model A (M=64, CD=0): ngưỡng tấn công cực cao (63,397).</a:t>
            </a:r>
            <a:endParaRPr lang="en-US" sz="1050" dirty="0"/>
          </a:p>
        </p:txBody>
      </p:sp>
      <p:sp>
        <p:nvSpPr>
          <p:cNvPr id="25" name="Shape 23"/>
          <p:cNvSpPr/>
          <p:nvPr/>
        </p:nvSpPr>
        <p:spPr>
          <a:xfrm>
            <a:off x="274320" y="4663440"/>
            <a:ext cx="8595360" cy="182880"/>
          </a:xfrm>
          <a:prstGeom prst="rect">
            <a:avLst/>
          </a:prstGeom>
          <a:solidFill>
            <a:srgbClr val="0096B7">
              <a:alpha val="30000"/>
            </a:srgbClr>
          </a:solidFill>
          <a:ln w="12700">
            <a:solidFill>
              <a:srgbClr val="0096B7">
                <a:alpha val="30000"/>
              </a:srgbClr>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05 · Thiết lập môi trường thực nghiệm</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411480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50208"/>
          </a:xfrm>
          <a:prstGeom prst="rect">
            <a:avLst/>
          </a:prstGeom>
          <a:solidFill>
            <a:srgbClr val="0096B7"/>
          </a:solidFill>
          <a:ln w="12700">
            <a:solidFill>
              <a:srgbClr val="0096B7"/>
            </a:solidFill>
            <a:prstDash val="solid"/>
          </a:ln>
        </p:spPr>
      </p:sp>
      <p:sp>
        <p:nvSpPr>
          <p:cNvPr id="9" name="Text 7"/>
          <p:cNvSpPr/>
          <p:nvPr/>
        </p:nvSpPr>
        <p:spPr>
          <a:xfrm>
            <a:off x="457200" y="868680"/>
            <a:ext cx="3749040" cy="320040"/>
          </a:xfrm>
          <a:prstGeom prst="rect">
            <a:avLst/>
          </a:prstGeom>
          <a:noFill/>
          <a:ln/>
        </p:spPr>
        <p:txBody>
          <a:bodyPr wrap="square" lIns="0" tIns="0" rIns="0" bIns="0" rtlCol="0" anchor="ctr"/>
          <a:lstStyle/>
          <a:p>
            <a:pPr marL="0" indent="0">
              <a:buNone/>
            </a:pPr>
            <a:r>
              <a:rPr lang="en-US" sz="1200" b="1" dirty="0">
                <a:solidFill>
                  <a:srgbClr val="0D1B2A"/>
                </a:solidFill>
              </a:rPr>
              <a:t>Môi trường &amp; Công cụ</a:t>
            </a:r>
            <a:endParaRPr lang="en-US" sz="1200" dirty="0"/>
          </a:p>
        </p:txBody>
      </p:sp>
      <p:sp>
        <p:nvSpPr>
          <p:cNvPr id="10" name="Text 8"/>
          <p:cNvSpPr/>
          <p:nvPr/>
        </p:nvSpPr>
        <p:spPr>
          <a:xfrm>
            <a:off x="457200" y="1298448"/>
            <a:ext cx="3749040" cy="256032"/>
          </a:xfrm>
          <a:prstGeom prst="rect">
            <a:avLst/>
          </a:prstGeom>
          <a:noFill/>
          <a:ln/>
        </p:spPr>
        <p:txBody>
          <a:bodyPr wrap="square" lIns="0" tIns="0" rIns="0" bIns="0" rtlCol="0" anchor="ctr"/>
          <a:lstStyle/>
          <a:p>
            <a:pPr marL="0" indent="0">
              <a:buNone/>
            </a:pPr>
            <a:r>
              <a:rPr lang="en-US" sz="1050" b="1" dirty="0">
                <a:solidFill>
                  <a:srgbClr val="0096B7"/>
                </a:solidFill>
              </a:rPr>
              <a:t>[ HW ]  Phần cứng</a:t>
            </a:r>
            <a:endParaRPr lang="en-US" sz="1050" dirty="0"/>
          </a:p>
        </p:txBody>
      </p:sp>
      <p:sp>
        <p:nvSpPr>
          <p:cNvPr id="11" name="Text 9"/>
          <p:cNvSpPr/>
          <p:nvPr/>
        </p:nvSpPr>
        <p:spPr>
          <a:xfrm>
            <a:off x="621792" y="1554480"/>
            <a:ext cx="3611880" cy="320040"/>
          </a:xfrm>
          <a:prstGeom prst="rect">
            <a:avLst/>
          </a:prstGeom>
          <a:noFill/>
          <a:ln/>
        </p:spPr>
        <p:txBody>
          <a:bodyPr wrap="square" lIns="0" tIns="0" rIns="0" bIns="0" rtlCol="0" anchor="ctr"/>
          <a:lstStyle/>
          <a:p>
            <a:pPr marL="0" indent="0">
              <a:buNone/>
            </a:pPr>
            <a:r>
              <a:rPr lang="en-US" sz="1000" dirty="0">
                <a:solidFill>
                  <a:srgbClr val="64748B"/>
                </a:solidFill>
              </a:rPr>
              <a:t>Intel Core i9-13900K</a:t>
            </a:r>
            <a:endParaRPr lang="en-US" sz="1000" dirty="0"/>
          </a:p>
          <a:p>
            <a:pPr marL="0" indent="0">
              <a:buNone/>
            </a:pPr>
            <a:r>
              <a:rPr lang="en-US" sz="1000" dirty="0">
                <a:solidFill>
                  <a:srgbClr val="64748B"/>
                </a:solidFill>
              </a:rPr>
              <a:t>32 luồng, 64 GB RAM</a:t>
            </a:r>
            <a:endParaRPr lang="en-US" sz="1000" dirty="0"/>
          </a:p>
        </p:txBody>
      </p:sp>
      <p:sp>
        <p:nvSpPr>
          <p:cNvPr id="12" name="Text 10"/>
          <p:cNvSpPr/>
          <p:nvPr/>
        </p:nvSpPr>
        <p:spPr>
          <a:xfrm>
            <a:off x="457200" y="1938528"/>
            <a:ext cx="3749040" cy="256032"/>
          </a:xfrm>
          <a:prstGeom prst="rect">
            <a:avLst/>
          </a:prstGeom>
          <a:noFill/>
          <a:ln/>
        </p:spPr>
        <p:txBody>
          <a:bodyPr wrap="square" lIns="0" tIns="0" rIns="0" bIns="0" rtlCol="0" anchor="ctr"/>
          <a:lstStyle/>
          <a:p>
            <a:pPr marL="0" indent="0">
              <a:buNone/>
            </a:pPr>
            <a:r>
              <a:rPr lang="en-US" sz="1050" b="1" dirty="0">
                <a:solidFill>
                  <a:srgbClr val="0096B7"/>
                </a:solidFill>
              </a:rPr>
              <a:t>[ K8s ]  Docker [19→K8s]</a:t>
            </a:r>
            <a:endParaRPr lang="en-US" sz="1050" dirty="0"/>
          </a:p>
        </p:txBody>
      </p:sp>
      <p:sp>
        <p:nvSpPr>
          <p:cNvPr id="13" name="Text 11"/>
          <p:cNvSpPr/>
          <p:nvPr/>
        </p:nvSpPr>
        <p:spPr>
          <a:xfrm>
            <a:off x="621792" y="2194560"/>
            <a:ext cx="3611880" cy="320040"/>
          </a:xfrm>
          <a:prstGeom prst="rect">
            <a:avLst/>
          </a:prstGeom>
          <a:noFill/>
          <a:ln/>
        </p:spPr>
        <p:txBody>
          <a:bodyPr wrap="square" lIns="0" tIns="0" rIns="0" bIns="0" rtlCol="0" anchor="ctr"/>
          <a:lstStyle/>
          <a:p>
            <a:pPr marL="0" indent="0">
              <a:buNone/>
            </a:pPr>
            <a:r>
              <a:rPr lang="en-US" sz="1000" dirty="0">
                <a:solidFill>
                  <a:srgbClr val="64748B"/>
                </a:solidFill>
              </a:rPr>
              <a:t>Kubernetes cluster trong container</a:t>
            </a:r>
            <a:endParaRPr lang="en-US" sz="1000" dirty="0"/>
          </a:p>
        </p:txBody>
      </p:sp>
      <p:sp>
        <p:nvSpPr>
          <p:cNvPr id="14" name="Text 12"/>
          <p:cNvSpPr/>
          <p:nvPr/>
        </p:nvSpPr>
        <p:spPr>
          <a:xfrm>
            <a:off x="457200" y="2578608"/>
            <a:ext cx="3749040" cy="256032"/>
          </a:xfrm>
          <a:prstGeom prst="rect">
            <a:avLst/>
          </a:prstGeom>
          <a:noFill/>
          <a:ln/>
        </p:spPr>
        <p:txBody>
          <a:bodyPr wrap="square" lIns="0" tIns="0" rIns="0" bIns="0" rtlCol="0" anchor="ctr"/>
          <a:lstStyle/>
          <a:p>
            <a:pPr marL="0" indent="0">
              <a:buNone/>
            </a:pPr>
            <a:r>
              <a:rPr lang="en-US" sz="1050" b="1" dirty="0">
                <a:solidFill>
                  <a:srgbClr val="0096B7"/>
                </a:solidFill>
              </a:rPr>
              <a:t>[ App ]  TeaStore [18]</a:t>
            </a:r>
            <a:endParaRPr lang="en-US" sz="1050" dirty="0"/>
          </a:p>
        </p:txBody>
      </p:sp>
      <p:sp>
        <p:nvSpPr>
          <p:cNvPr id="15" name="Text 13"/>
          <p:cNvSpPr/>
          <p:nvPr/>
        </p:nvSpPr>
        <p:spPr>
          <a:xfrm>
            <a:off x="621792" y="2834640"/>
            <a:ext cx="3611880" cy="320040"/>
          </a:xfrm>
          <a:prstGeom prst="rect">
            <a:avLst/>
          </a:prstGeom>
          <a:noFill/>
          <a:ln/>
        </p:spPr>
        <p:txBody>
          <a:bodyPr wrap="square" lIns="0" tIns="0" rIns="0" bIns="0" rtlCol="0" anchor="ctr"/>
          <a:lstStyle/>
          <a:p>
            <a:pPr marL="0" indent="0">
              <a:buNone/>
            </a:pPr>
            <a:r>
              <a:rPr lang="en-US" sz="1000" dirty="0">
                <a:solidFill>
                  <a:srgbClr val="64748B"/>
                </a:solidFill>
              </a:rPr>
              <a:t>E-commerce microservices (6 thành phần)</a:t>
            </a:r>
            <a:endParaRPr lang="en-US" sz="1000" dirty="0"/>
          </a:p>
        </p:txBody>
      </p:sp>
      <p:sp>
        <p:nvSpPr>
          <p:cNvPr id="16" name="Text 14"/>
          <p:cNvSpPr/>
          <p:nvPr/>
        </p:nvSpPr>
        <p:spPr>
          <a:xfrm>
            <a:off x="457200" y="3218688"/>
            <a:ext cx="3749040" cy="256032"/>
          </a:xfrm>
          <a:prstGeom prst="rect">
            <a:avLst/>
          </a:prstGeom>
          <a:noFill/>
          <a:ln/>
        </p:spPr>
        <p:txBody>
          <a:bodyPr wrap="square" lIns="0" tIns="0" rIns="0" bIns="0" rtlCol="0" anchor="ctr"/>
          <a:lstStyle/>
          <a:p>
            <a:pPr marL="0" indent="0">
              <a:buNone/>
            </a:pPr>
            <a:r>
              <a:rPr lang="en-US" sz="1050" b="1" dirty="0">
                <a:solidFill>
                  <a:srgbClr val="0096B7"/>
                </a:solidFill>
              </a:rPr>
              <a:t>[Load]  Apache jMeter [19]</a:t>
            </a:r>
            <a:endParaRPr lang="en-US" sz="1050" dirty="0"/>
          </a:p>
        </p:txBody>
      </p:sp>
      <p:sp>
        <p:nvSpPr>
          <p:cNvPr id="17" name="Text 15"/>
          <p:cNvSpPr/>
          <p:nvPr/>
        </p:nvSpPr>
        <p:spPr>
          <a:xfrm>
            <a:off x="621792" y="3474720"/>
            <a:ext cx="3611880" cy="320040"/>
          </a:xfrm>
          <a:prstGeom prst="rect">
            <a:avLst/>
          </a:prstGeom>
          <a:noFill/>
          <a:ln/>
        </p:spPr>
        <p:txBody>
          <a:bodyPr wrap="square" lIns="0" tIns="0" rIns="0" bIns="0" rtlCol="0" anchor="ctr"/>
          <a:lstStyle/>
          <a:p>
            <a:pPr marL="0" indent="0">
              <a:buNone/>
            </a:pPr>
            <a:r>
              <a:rPr lang="en-US" sz="1000" dirty="0">
                <a:solidFill>
                  <a:srgbClr val="64748B"/>
                </a:solidFill>
              </a:rPr>
              <a:t>Tạo traffic hợp lệ 36 req/s</a:t>
            </a:r>
            <a:endParaRPr lang="en-US" sz="1000" dirty="0"/>
          </a:p>
        </p:txBody>
      </p:sp>
      <p:sp>
        <p:nvSpPr>
          <p:cNvPr id="18" name="Text 16"/>
          <p:cNvSpPr/>
          <p:nvPr/>
        </p:nvSpPr>
        <p:spPr>
          <a:xfrm>
            <a:off x="457200" y="3858768"/>
            <a:ext cx="3749040" cy="256032"/>
          </a:xfrm>
          <a:prstGeom prst="rect">
            <a:avLst/>
          </a:prstGeom>
          <a:noFill/>
          <a:ln/>
        </p:spPr>
        <p:txBody>
          <a:bodyPr wrap="square" lIns="0" tIns="0" rIns="0" bIns="0" rtlCol="0" anchor="ctr"/>
          <a:lstStyle/>
          <a:p>
            <a:pPr marL="0" indent="0">
              <a:buNone/>
            </a:pPr>
            <a:r>
              <a:rPr lang="en-US" sz="1050" b="1" dirty="0">
                <a:solidFill>
                  <a:srgbClr val="0096B7"/>
                </a:solidFill>
              </a:rPr>
              <a:t>[Mon.]  Prometheus [20] + Grafana [21]</a:t>
            </a:r>
            <a:endParaRPr lang="en-US" sz="1050" dirty="0"/>
          </a:p>
        </p:txBody>
      </p:sp>
      <p:sp>
        <p:nvSpPr>
          <p:cNvPr id="19" name="Text 17"/>
          <p:cNvSpPr/>
          <p:nvPr/>
        </p:nvSpPr>
        <p:spPr>
          <a:xfrm>
            <a:off x="621792" y="4114800"/>
            <a:ext cx="3611880" cy="320040"/>
          </a:xfrm>
          <a:prstGeom prst="rect">
            <a:avLst/>
          </a:prstGeom>
          <a:noFill/>
          <a:ln/>
        </p:spPr>
        <p:txBody>
          <a:bodyPr wrap="square" lIns="0" tIns="0" rIns="0" bIns="0" rtlCol="0" anchor="ctr"/>
          <a:lstStyle/>
          <a:p>
            <a:pPr marL="0" indent="0">
              <a:buNone/>
            </a:pPr>
            <a:r>
              <a:rPr lang="en-US" sz="1000" dirty="0">
                <a:solidFill>
                  <a:srgbClr val="64748B"/>
                </a:solidFill>
              </a:rPr>
              <a:t>Giám sát &amp; trực quan hóa</a:t>
            </a:r>
            <a:endParaRPr lang="en-US" sz="1000" dirty="0"/>
          </a:p>
        </p:txBody>
      </p:sp>
      <p:sp>
        <p:nvSpPr>
          <p:cNvPr id="20" name="Shape 18"/>
          <p:cNvSpPr/>
          <p:nvPr/>
        </p:nvSpPr>
        <p:spPr>
          <a:xfrm>
            <a:off x="4617720" y="804672"/>
            <a:ext cx="416052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1" name="Shape 19"/>
          <p:cNvSpPr/>
          <p:nvPr/>
        </p:nvSpPr>
        <p:spPr>
          <a:xfrm>
            <a:off x="4617720" y="804672"/>
            <a:ext cx="54864" cy="3950208"/>
          </a:xfrm>
          <a:prstGeom prst="rect">
            <a:avLst/>
          </a:prstGeom>
          <a:solidFill>
            <a:srgbClr val="F47B20"/>
          </a:solidFill>
          <a:ln w="12700">
            <a:solidFill>
              <a:srgbClr val="F47B20"/>
            </a:solidFill>
            <a:prstDash val="solid"/>
          </a:ln>
        </p:spPr>
      </p:sp>
      <p:sp>
        <p:nvSpPr>
          <p:cNvPr id="22" name="Text 20"/>
          <p:cNvSpPr/>
          <p:nvPr/>
        </p:nvSpPr>
        <p:spPr>
          <a:xfrm>
            <a:off x="4773168" y="868680"/>
            <a:ext cx="3840480" cy="320040"/>
          </a:xfrm>
          <a:prstGeom prst="rect">
            <a:avLst/>
          </a:prstGeom>
          <a:noFill/>
          <a:ln/>
        </p:spPr>
        <p:txBody>
          <a:bodyPr wrap="square" lIns="0" tIns="0" rIns="0" bIns="0" rtlCol="0" anchor="ctr"/>
          <a:lstStyle/>
          <a:p>
            <a:pPr marL="0" indent="0">
              <a:buNone/>
            </a:pPr>
            <a:r>
              <a:rPr lang="en-US" sz="1200" b="1" dirty="0">
                <a:solidFill>
                  <a:srgbClr val="0D1B2A"/>
                </a:solidFill>
              </a:rPr>
              <a:t>Kịch bản &amp; Tham số</a:t>
            </a:r>
            <a:endParaRPr lang="en-US" sz="1200" dirty="0"/>
          </a:p>
        </p:txBody>
      </p:sp>
      <p:sp>
        <p:nvSpPr>
          <p:cNvPr id="23" name="Text 21"/>
          <p:cNvSpPr/>
          <p:nvPr/>
        </p:nvSpPr>
        <p:spPr>
          <a:xfrm>
            <a:off x="4773168" y="1261872"/>
            <a:ext cx="3840480" cy="256032"/>
          </a:xfrm>
          <a:prstGeom prst="rect">
            <a:avLst/>
          </a:prstGeom>
          <a:noFill/>
          <a:ln/>
        </p:spPr>
        <p:txBody>
          <a:bodyPr wrap="square" lIns="0" tIns="0" rIns="0" bIns="0" rtlCol="0" anchor="ctr"/>
          <a:lstStyle/>
          <a:p>
            <a:pPr marL="0" indent="0">
              <a:buNone/>
            </a:pPr>
            <a:r>
              <a:rPr lang="en-US" sz="1050" b="1" dirty="0">
                <a:solidFill>
                  <a:srgbClr val="0D1B2A"/>
                </a:solidFill>
              </a:rPr>
              <a:t>Mẫu lưu lượng khách hàng:</a:t>
            </a:r>
            <a:endParaRPr lang="en-US" sz="1050" dirty="0"/>
          </a:p>
        </p:txBody>
      </p:sp>
      <p:sp>
        <p:nvSpPr>
          <p:cNvPr id="24" name="Shape 22"/>
          <p:cNvSpPr/>
          <p:nvPr/>
        </p:nvSpPr>
        <p:spPr>
          <a:xfrm>
            <a:off x="4773168" y="1581912"/>
            <a:ext cx="347472" cy="347472"/>
          </a:xfrm>
          <a:prstGeom prst="ellipse">
            <a:avLst/>
          </a:prstGeom>
          <a:solidFill>
            <a:srgbClr val="F47B20"/>
          </a:solidFill>
          <a:ln w="12700">
            <a:solidFill>
              <a:srgbClr val="F47B20"/>
            </a:solidFill>
            <a:prstDash val="solid"/>
          </a:ln>
        </p:spPr>
      </p:sp>
      <p:sp>
        <p:nvSpPr>
          <p:cNvPr id="25" name="Text 23"/>
          <p:cNvSpPr/>
          <p:nvPr/>
        </p:nvSpPr>
        <p:spPr>
          <a:xfrm>
            <a:off x="4773168" y="158191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1</a:t>
            </a:r>
            <a:endParaRPr lang="en-US" sz="1100" dirty="0"/>
          </a:p>
        </p:txBody>
      </p:sp>
      <p:sp>
        <p:nvSpPr>
          <p:cNvPr id="26" name="Text 24"/>
          <p:cNvSpPr/>
          <p:nvPr/>
        </p:nvSpPr>
        <p:spPr>
          <a:xfrm>
            <a:off x="5212080" y="1581912"/>
            <a:ext cx="1188720" cy="320040"/>
          </a:xfrm>
          <a:prstGeom prst="rect">
            <a:avLst/>
          </a:prstGeom>
          <a:noFill/>
          <a:ln/>
        </p:spPr>
        <p:txBody>
          <a:bodyPr wrap="square" lIns="0" tIns="0" rIns="0" bIns="0" rtlCol="0" anchor="ctr"/>
          <a:lstStyle/>
          <a:p>
            <a:pPr marL="0" indent="0">
              <a:buNone/>
            </a:pPr>
            <a:r>
              <a:rPr lang="en-US" sz="1050" b="1" dirty="0">
                <a:solidFill>
                  <a:srgbClr val="0D1B2A"/>
                </a:solidFill>
              </a:rPr>
              <a:t>On/Off: </a:t>
            </a:r>
            <a:endParaRPr lang="en-US" sz="1050" dirty="0"/>
          </a:p>
        </p:txBody>
      </p:sp>
      <p:sp>
        <p:nvSpPr>
          <p:cNvPr id="27" name="Text 25"/>
          <p:cNvSpPr/>
          <p:nvPr/>
        </p:nvSpPr>
        <p:spPr>
          <a:xfrm>
            <a:off x="6446520" y="1581912"/>
            <a:ext cx="2331720" cy="320040"/>
          </a:xfrm>
          <a:prstGeom prst="rect">
            <a:avLst/>
          </a:prstGeom>
          <a:noFill/>
          <a:ln/>
        </p:spPr>
        <p:txBody>
          <a:bodyPr wrap="square" lIns="0" tIns="0" rIns="0" bIns="0" rtlCol="0" anchor="ctr"/>
          <a:lstStyle/>
          <a:p>
            <a:pPr marL="0" indent="0">
              <a:buNone/>
            </a:pPr>
            <a:r>
              <a:rPr lang="en-US" sz="1000" dirty="0">
                <a:solidFill>
                  <a:srgbClr val="64748B"/>
                </a:solidFill>
              </a:rPr>
              <a:t>8 phút hoạt động xen kẽ 2 phút nghỉ</a:t>
            </a:r>
            <a:endParaRPr lang="en-US" sz="1000" dirty="0"/>
          </a:p>
        </p:txBody>
      </p:sp>
      <p:sp>
        <p:nvSpPr>
          <p:cNvPr id="28" name="Shape 26"/>
          <p:cNvSpPr/>
          <p:nvPr/>
        </p:nvSpPr>
        <p:spPr>
          <a:xfrm>
            <a:off x="4773168" y="2176272"/>
            <a:ext cx="347472" cy="347472"/>
          </a:xfrm>
          <a:prstGeom prst="ellipse">
            <a:avLst/>
          </a:prstGeom>
          <a:solidFill>
            <a:srgbClr val="F47B20"/>
          </a:solidFill>
          <a:ln w="12700">
            <a:solidFill>
              <a:srgbClr val="F47B20"/>
            </a:solidFill>
            <a:prstDash val="solid"/>
          </a:ln>
        </p:spPr>
      </p:sp>
      <p:sp>
        <p:nvSpPr>
          <p:cNvPr id="29" name="Text 27"/>
          <p:cNvSpPr/>
          <p:nvPr/>
        </p:nvSpPr>
        <p:spPr>
          <a:xfrm>
            <a:off x="4773168" y="217627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2</a:t>
            </a:r>
            <a:endParaRPr lang="en-US" sz="1100" dirty="0"/>
          </a:p>
        </p:txBody>
      </p:sp>
      <p:sp>
        <p:nvSpPr>
          <p:cNvPr id="30" name="Text 28"/>
          <p:cNvSpPr/>
          <p:nvPr/>
        </p:nvSpPr>
        <p:spPr>
          <a:xfrm>
            <a:off x="5212080" y="2176272"/>
            <a:ext cx="1188720" cy="320040"/>
          </a:xfrm>
          <a:prstGeom prst="rect">
            <a:avLst/>
          </a:prstGeom>
          <a:noFill/>
          <a:ln/>
        </p:spPr>
        <p:txBody>
          <a:bodyPr wrap="square" lIns="0" tIns="0" rIns="0" bIns="0" rtlCol="0" anchor="ctr"/>
          <a:lstStyle/>
          <a:p>
            <a:pPr marL="0" indent="0">
              <a:buNone/>
            </a:pPr>
            <a:r>
              <a:rPr lang="en-US" sz="1050" b="1" dirty="0">
                <a:solidFill>
                  <a:srgbClr val="0D1B2A"/>
                </a:solidFill>
              </a:rPr>
              <a:t>Bursty: </a:t>
            </a:r>
            <a:endParaRPr lang="en-US" sz="1050" dirty="0"/>
          </a:p>
        </p:txBody>
      </p:sp>
      <p:sp>
        <p:nvSpPr>
          <p:cNvPr id="31" name="Text 29"/>
          <p:cNvSpPr/>
          <p:nvPr/>
        </p:nvSpPr>
        <p:spPr>
          <a:xfrm>
            <a:off x="6446520" y="2176272"/>
            <a:ext cx="2331720" cy="320040"/>
          </a:xfrm>
          <a:prstGeom prst="rect">
            <a:avLst/>
          </a:prstGeom>
          <a:noFill/>
          <a:ln/>
        </p:spPr>
        <p:txBody>
          <a:bodyPr wrap="square" lIns="0" tIns="0" rIns="0" bIns="0" rtlCol="0" anchor="ctr"/>
          <a:lstStyle/>
          <a:p>
            <a:pPr marL="0" indent="0">
              <a:buNone/>
            </a:pPr>
            <a:r>
              <a:rPr lang="en-US" sz="1000" dirty="0">
                <a:solidFill>
                  <a:srgbClr val="64748B"/>
                </a:solidFill>
              </a:rPr>
              <a:t>Burst 50 luồng, độ trễ 500ms giữa các nhóm</a:t>
            </a:r>
            <a:endParaRPr lang="en-US" sz="1000" dirty="0"/>
          </a:p>
        </p:txBody>
      </p:sp>
      <p:sp>
        <p:nvSpPr>
          <p:cNvPr id="32" name="Shape 30"/>
          <p:cNvSpPr/>
          <p:nvPr/>
        </p:nvSpPr>
        <p:spPr>
          <a:xfrm>
            <a:off x="4773168" y="2770632"/>
            <a:ext cx="347472" cy="347472"/>
          </a:xfrm>
          <a:prstGeom prst="ellipse">
            <a:avLst/>
          </a:prstGeom>
          <a:solidFill>
            <a:srgbClr val="F47B20"/>
          </a:solidFill>
          <a:ln w="12700">
            <a:solidFill>
              <a:srgbClr val="F47B20"/>
            </a:solidFill>
            <a:prstDash val="solid"/>
          </a:ln>
        </p:spPr>
      </p:sp>
      <p:sp>
        <p:nvSpPr>
          <p:cNvPr id="33" name="Text 31"/>
          <p:cNvSpPr/>
          <p:nvPr/>
        </p:nvSpPr>
        <p:spPr>
          <a:xfrm>
            <a:off x="4773168" y="277063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3</a:t>
            </a:r>
            <a:endParaRPr lang="en-US" sz="1100" dirty="0"/>
          </a:p>
        </p:txBody>
      </p:sp>
      <p:sp>
        <p:nvSpPr>
          <p:cNvPr id="34" name="Text 32"/>
          <p:cNvSpPr/>
          <p:nvPr/>
        </p:nvSpPr>
        <p:spPr>
          <a:xfrm>
            <a:off x="5212080" y="2770632"/>
            <a:ext cx="1188720" cy="320040"/>
          </a:xfrm>
          <a:prstGeom prst="rect">
            <a:avLst/>
          </a:prstGeom>
          <a:noFill/>
          <a:ln/>
        </p:spPr>
        <p:txBody>
          <a:bodyPr wrap="square" lIns="0" tIns="0" rIns="0" bIns="0" rtlCol="0" anchor="ctr"/>
          <a:lstStyle/>
          <a:p>
            <a:pPr marL="0" indent="0">
              <a:buNone/>
            </a:pPr>
            <a:r>
              <a:rPr lang="en-US" sz="1050" b="1" dirty="0">
                <a:solidFill>
                  <a:srgbClr val="0D1B2A"/>
                </a:solidFill>
              </a:rPr>
              <a:t>Random: </a:t>
            </a:r>
            <a:endParaRPr lang="en-US" sz="1050" dirty="0"/>
          </a:p>
        </p:txBody>
      </p:sp>
      <p:sp>
        <p:nvSpPr>
          <p:cNvPr id="35" name="Text 33"/>
          <p:cNvSpPr/>
          <p:nvPr/>
        </p:nvSpPr>
        <p:spPr>
          <a:xfrm>
            <a:off x="6446520" y="2770632"/>
            <a:ext cx="2331720" cy="320040"/>
          </a:xfrm>
          <a:prstGeom prst="rect">
            <a:avLst/>
          </a:prstGeom>
          <a:noFill/>
          <a:ln/>
        </p:spPr>
        <p:txBody>
          <a:bodyPr wrap="square" lIns="0" tIns="0" rIns="0" bIns="0" rtlCol="0" anchor="ctr"/>
          <a:lstStyle/>
          <a:p>
            <a:pPr marL="0" indent="0">
              <a:buNone/>
            </a:pPr>
            <a:r>
              <a:rPr lang="en-US" sz="1000" dirty="0">
                <a:solidFill>
                  <a:srgbClr val="64748B"/>
                </a:solidFill>
              </a:rPr>
              <a:t>Phân phối Poisson ngẫu nhiên liên tục</a:t>
            </a:r>
            <a:endParaRPr lang="en-US" sz="1000" dirty="0"/>
          </a:p>
        </p:txBody>
      </p:sp>
      <p:sp>
        <p:nvSpPr>
          <p:cNvPr id="36" name="Text 34"/>
          <p:cNvSpPr/>
          <p:nvPr/>
        </p:nvSpPr>
        <p:spPr>
          <a:xfrm>
            <a:off x="4773168" y="3429000"/>
            <a:ext cx="3840480" cy="256032"/>
          </a:xfrm>
          <a:prstGeom prst="rect">
            <a:avLst/>
          </a:prstGeom>
          <a:noFill/>
          <a:ln/>
        </p:spPr>
        <p:txBody>
          <a:bodyPr wrap="square" lIns="0" tIns="0" rIns="0" bIns="0" rtlCol="0" anchor="ctr"/>
          <a:lstStyle/>
          <a:p>
            <a:pPr marL="0" indent="0">
              <a:buNone/>
            </a:pPr>
            <a:r>
              <a:rPr lang="en-US" sz="1050" b="1" dirty="0">
                <a:solidFill>
                  <a:srgbClr val="0D1B2A"/>
                </a:solidFill>
              </a:rPr>
              <a:t>Tham số tấn công:</a:t>
            </a:r>
            <a:endParaRPr lang="en-US" sz="1050" dirty="0"/>
          </a:p>
        </p:txBody>
      </p:sp>
      <p:sp>
        <p:nvSpPr>
          <p:cNvPr id="37" name="Shape 35"/>
          <p:cNvSpPr/>
          <p:nvPr/>
        </p:nvSpPr>
        <p:spPr>
          <a:xfrm>
            <a:off x="4773168" y="3730752"/>
            <a:ext cx="1143000" cy="502920"/>
          </a:xfrm>
          <a:prstGeom prst="rect">
            <a:avLst/>
          </a:prstGeom>
          <a:solidFill>
            <a:srgbClr val="0096B7">
              <a:alpha val="85000"/>
            </a:srgbClr>
          </a:solidFill>
          <a:ln w="12700">
            <a:solidFill>
              <a:srgbClr val="0096B7"/>
            </a:solidFill>
            <a:prstDash val="solid"/>
          </a:ln>
        </p:spPr>
      </p:sp>
      <p:sp>
        <p:nvSpPr>
          <p:cNvPr id="38" name="Text 36"/>
          <p:cNvSpPr/>
          <p:nvPr/>
        </p:nvSpPr>
        <p:spPr>
          <a:xfrm>
            <a:off x="4773168" y="3730752"/>
            <a:ext cx="1143000" cy="502920"/>
          </a:xfrm>
          <a:prstGeom prst="rect">
            <a:avLst/>
          </a:prstGeom>
          <a:noFill/>
          <a:ln/>
        </p:spPr>
        <p:txBody>
          <a:bodyPr wrap="square" lIns="0" tIns="0" rIns="0" bIns="0" rtlCol="0" anchor="ctr"/>
          <a:lstStyle/>
          <a:p>
            <a:pPr marL="0" indent="0" algn="ctr">
              <a:buNone/>
            </a:pPr>
            <a:r>
              <a:rPr lang="en-US" sz="1400" b="1" dirty="0">
                <a:solidFill>
                  <a:srgbClr val="FFFFFF"/>
                </a:solidFill>
              </a:rPr>
              <a:t>K=5</a:t>
            </a:r>
            <a:endParaRPr lang="en-US" sz="1400" dirty="0"/>
          </a:p>
        </p:txBody>
      </p:sp>
      <p:sp>
        <p:nvSpPr>
          <p:cNvPr id="39" name="Shape 37"/>
          <p:cNvSpPr/>
          <p:nvPr/>
        </p:nvSpPr>
        <p:spPr>
          <a:xfrm>
            <a:off x="6071616" y="3730752"/>
            <a:ext cx="1143000" cy="502920"/>
          </a:xfrm>
          <a:prstGeom prst="rect">
            <a:avLst/>
          </a:prstGeom>
          <a:solidFill>
            <a:srgbClr val="F47B20">
              <a:alpha val="85000"/>
            </a:srgbClr>
          </a:solidFill>
          <a:ln w="12700">
            <a:solidFill>
              <a:srgbClr val="F47B20"/>
            </a:solidFill>
            <a:prstDash val="solid"/>
          </a:ln>
        </p:spPr>
      </p:sp>
      <p:sp>
        <p:nvSpPr>
          <p:cNvPr id="40" name="Text 38"/>
          <p:cNvSpPr/>
          <p:nvPr/>
        </p:nvSpPr>
        <p:spPr>
          <a:xfrm>
            <a:off x="6071616" y="3730752"/>
            <a:ext cx="1143000" cy="502920"/>
          </a:xfrm>
          <a:prstGeom prst="rect">
            <a:avLst/>
          </a:prstGeom>
          <a:noFill/>
          <a:ln/>
        </p:spPr>
        <p:txBody>
          <a:bodyPr wrap="square" lIns="0" tIns="0" rIns="0" bIns="0" rtlCol="0" anchor="ctr"/>
          <a:lstStyle/>
          <a:p>
            <a:pPr marL="0" indent="0" algn="ctr">
              <a:buNone/>
            </a:pPr>
            <a:r>
              <a:rPr lang="en-US" sz="1400" b="1" dirty="0">
                <a:solidFill>
                  <a:srgbClr val="FFFFFF"/>
                </a:solidFill>
              </a:rPr>
              <a:t>K=10</a:t>
            </a:r>
            <a:endParaRPr lang="en-US" sz="1400" dirty="0"/>
          </a:p>
        </p:txBody>
      </p:sp>
      <p:sp>
        <p:nvSpPr>
          <p:cNvPr id="41" name="Shape 39"/>
          <p:cNvSpPr/>
          <p:nvPr/>
        </p:nvSpPr>
        <p:spPr>
          <a:xfrm>
            <a:off x="7370064" y="3730752"/>
            <a:ext cx="1143000" cy="502920"/>
          </a:xfrm>
          <a:prstGeom prst="rect">
            <a:avLst/>
          </a:prstGeom>
          <a:solidFill>
            <a:srgbClr val="D62828">
              <a:alpha val="85000"/>
            </a:srgbClr>
          </a:solidFill>
          <a:ln w="12700">
            <a:solidFill>
              <a:srgbClr val="D62828"/>
            </a:solidFill>
            <a:prstDash val="solid"/>
          </a:ln>
        </p:spPr>
      </p:sp>
      <p:sp>
        <p:nvSpPr>
          <p:cNvPr id="42" name="Text 40"/>
          <p:cNvSpPr/>
          <p:nvPr/>
        </p:nvSpPr>
        <p:spPr>
          <a:xfrm>
            <a:off x="7370064" y="3730752"/>
            <a:ext cx="1143000" cy="502920"/>
          </a:xfrm>
          <a:prstGeom prst="rect">
            <a:avLst/>
          </a:prstGeom>
          <a:noFill/>
          <a:ln/>
        </p:spPr>
        <p:txBody>
          <a:bodyPr wrap="square" lIns="0" tIns="0" rIns="0" bIns="0" rtlCol="0" anchor="ctr"/>
          <a:lstStyle/>
          <a:p>
            <a:pPr marL="0" indent="0" algn="ctr">
              <a:buNone/>
            </a:pPr>
            <a:r>
              <a:rPr lang="en-US" sz="1400" b="1" dirty="0">
                <a:solidFill>
                  <a:srgbClr val="FFFFFF"/>
                </a:solidFill>
              </a:rPr>
              <a:t>K=20</a:t>
            </a:r>
            <a:endParaRPr lang="en-US" sz="1400" dirty="0"/>
          </a:p>
        </p:txBody>
      </p:sp>
      <p:sp>
        <p:nvSpPr>
          <p:cNvPr id="43" name="Text 41"/>
          <p:cNvSpPr/>
          <p:nvPr/>
        </p:nvSpPr>
        <p:spPr>
          <a:xfrm>
            <a:off x="4773168" y="4315968"/>
            <a:ext cx="3840480" cy="411480"/>
          </a:xfrm>
          <a:prstGeom prst="rect">
            <a:avLst/>
          </a:prstGeom>
          <a:noFill/>
          <a:ln/>
        </p:spPr>
        <p:txBody>
          <a:bodyPr wrap="square" lIns="0" tIns="0" rIns="0" bIns="0" rtlCol="0" anchor="ctr"/>
          <a:lstStyle/>
          <a:p>
            <a:pPr marL="0" indent="0">
              <a:buNone/>
            </a:pPr>
            <a:r>
              <a:rPr lang="en-US" sz="950" dirty="0">
                <a:solidFill>
                  <a:srgbClr val="64748B"/>
                </a:solidFill>
              </a:rPr>
              <a:t>Thời gian: 2h (1h baseline + 1h tấn công)</a:t>
            </a:r>
            <a:endParaRPr lang="en-US" sz="950" dirty="0"/>
          </a:p>
          <a:p>
            <a:pPr marL="0" indent="0">
              <a:buNone/>
            </a:pPr>
            <a:r>
              <a:rPr lang="en-US" sz="950" dirty="0">
                <a:solidFill>
                  <a:srgbClr val="64748B"/>
                </a:solidFill>
              </a:rPr>
              <a:t>HPA ngưỡng: 80% CPU sử dụng</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05 · Kết quả thực nghiệm</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2788920" cy="1325880"/>
          </a:xfrm>
          <a:prstGeom prst="rect">
            <a:avLst/>
          </a:prstGeom>
          <a:solidFill>
            <a:srgbClr val="0D1B2A"/>
          </a:solidFill>
          <a:ln w="9525">
            <a:solidFill>
              <a:srgbClr val="D4E3EE"/>
            </a:solidFill>
            <a:prstDash val="solid"/>
          </a:ln>
          <a:effectLst>
            <a:outerShdw blurRad="63500" dist="25400" dir="8100000" algn="bl" rotWithShape="0">
              <a:srgbClr val="000000">
                <a:alpha val="7000"/>
              </a:srgbClr>
            </a:outerShdw>
          </a:effectLst>
        </p:spPr>
      </p:sp>
      <p:sp>
        <p:nvSpPr>
          <p:cNvPr id="8" name="Text 6"/>
          <p:cNvSpPr/>
          <p:nvPr/>
        </p:nvSpPr>
        <p:spPr>
          <a:xfrm>
            <a:off x="274320" y="841248"/>
            <a:ext cx="2788920" cy="685800"/>
          </a:xfrm>
          <a:prstGeom prst="rect">
            <a:avLst/>
          </a:prstGeom>
          <a:noFill/>
          <a:ln/>
        </p:spPr>
        <p:txBody>
          <a:bodyPr wrap="square" lIns="0" tIns="0" rIns="0" bIns="0" rtlCol="0" anchor="ctr"/>
          <a:lstStyle/>
          <a:p>
            <a:pPr marL="0" indent="0" algn="ctr">
              <a:buNone/>
            </a:pPr>
            <a:r>
              <a:rPr lang="en-US" sz="3200" b="1" dirty="0">
                <a:solidFill>
                  <a:srgbClr val="F47B20"/>
                </a:solidFill>
              </a:rPr>
              <a:t>0.487</a:t>
            </a:r>
            <a:endParaRPr lang="en-US" sz="3200" dirty="0"/>
          </a:p>
        </p:txBody>
      </p:sp>
      <p:sp>
        <p:nvSpPr>
          <p:cNvPr id="9" name="Text 7"/>
          <p:cNvSpPr/>
          <p:nvPr/>
        </p:nvSpPr>
        <p:spPr>
          <a:xfrm>
            <a:off x="320040" y="1508760"/>
            <a:ext cx="2697480" cy="548640"/>
          </a:xfrm>
          <a:prstGeom prst="rect">
            <a:avLst/>
          </a:prstGeom>
          <a:noFill/>
          <a:ln/>
        </p:spPr>
        <p:txBody>
          <a:bodyPr wrap="square" lIns="0" tIns="0" rIns="0" bIns="0" rtlCol="0" anchor="ctr"/>
          <a:lstStyle/>
          <a:p>
            <a:pPr marL="0" indent="0" algn="ctr">
              <a:buNone/>
            </a:pPr>
            <a:r>
              <a:rPr lang="en-US" sz="950" dirty="0">
                <a:solidFill>
                  <a:srgbClr val="8BA0B4"/>
                </a:solidFill>
              </a:rPr>
              <a:t>Efficiency cao nhất</a:t>
            </a:r>
            <a:endParaRPr lang="en-US" sz="950" dirty="0"/>
          </a:p>
          <a:p>
            <a:pPr marL="0" indent="0" algn="ctr">
              <a:buNone/>
            </a:pPr>
            <a:r>
              <a:rPr lang="en-US" sz="950" dirty="0">
                <a:solidFill>
                  <a:srgbClr val="8BA0B4"/>
                </a:solidFill>
              </a:rPr>
              <a:t>K=10, Bursty, Per-min [1]</a:t>
            </a:r>
            <a:endParaRPr lang="en-US" sz="950" dirty="0"/>
          </a:p>
        </p:txBody>
      </p:sp>
      <p:sp>
        <p:nvSpPr>
          <p:cNvPr id="10" name="Shape 8"/>
          <p:cNvSpPr/>
          <p:nvPr/>
        </p:nvSpPr>
        <p:spPr>
          <a:xfrm>
            <a:off x="3218688" y="804672"/>
            <a:ext cx="2788920" cy="1325880"/>
          </a:xfrm>
          <a:prstGeom prst="rect">
            <a:avLst/>
          </a:prstGeom>
          <a:solidFill>
            <a:srgbClr val="0D1B2A"/>
          </a:solidFill>
          <a:ln w="9525">
            <a:solidFill>
              <a:srgbClr val="D4E3EE"/>
            </a:solidFill>
            <a:prstDash val="solid"/>
          </a:ln>
          <a:effectLst>
            <a:outerShdw blurRad="63500" dist="25400" dir="8100000" algn="bl" rotWithShape="0">
              <a:srgbClr val="000000">
                <a:alpha val="7000"/>
              </a:srgbClr>
            </a:outerShdw>
          </a:effectLst>
        </p:spPr>
      </p:sp>
      <p:sp>
        <p:nvSpPr>
          <p:cNvPr id="11" name="Text 9"/>
          <p:cNvSpPr/>
          <p:nvPr/>
        </p:nvSpPr>
        <p:spPr>
          <a:xfrm>
            <a:off x="3218688" y="841248"/>
            <a:ext cx="2788920" cy="685800"/>
          </a:xfrm>
          <a:prstGeom prst="rect">
            <a:avLst/>
          </a:prstGeom>
          <a:noFill/>
          <a:ln/>
        </p:spPr>
        <p:txBody>
          <a:bodyPr wrap="square" lIns="0" tIns="0" rIns="0" bIns="0" rtlCol="0" anchor="ctr"/>
          <a:lstStyle/>
          <a:p>
            <a:pPr marL="0" indent="0" algn="ctr">
              <a:buNone/>
            </a:pPr>
            <a:r>
              <a:rPr lang="en-US" sz="3200" b="1" dirty="0">
                <a:solidFill>
                  <a:srgbClr val="0096B7"/>
                </a:solidFill>
              </a:rPr>
              <a:t>4×</a:t>
            </a:r>
            <a:endParaRPr lang="en-US" sz="3200" dirty="0"/>
          </a:p>
        </p:txBody>
      </p:sp>
      <p:sp>
        <p:nvSpPr>
          <p:cNvPr id="12" name="Text 10"/>
          <p:cNvSpPr/>
          <p:nvPr/>
        </p:nvSpPr>
        <p:spPr>
          <a:xfrm>
            <a:off x="3264408" y="1508760"/>
            <a:ext cx="2697480" cy="548640"/>
          </a:xfrm>
          <a:prstGeom prst="rect">
            <a:avLst/>
          </a:prstGeom>
          <a:noFill/>
          <a:ln/>
        </p:spPr>
        <p:txBody>
          <a:bodyPr wrap="square" lIns="0" tIns="0" rIns="0" bIns="0" rtlCol="0" anchor="ctr"/>
          <a:lstStyle/>
          <a:p>
            <a:pPr marL="0" indent="0" algn="ctr">
              <a:buNone/>
            </a:pPr>
            <a:r>
              <a:rPr lang="en-US" sz="950" dirty="0">
                <a:solidFill>
                  <a:srgbClr val="8BA0B4"/>
                </a:solidFill>
              </a:rPr>
              <a:t>Tăng lưu lượng</a:t>
            </a:r>
            <a:endParaRPr lang="en-US" sz="950" dirty="0"/>
          </a:p>
          <a:p>
            <a:pPr marL="0" indent="0" algn="ctr">
              <a:buNone/>
            </a:pPr>
            <a:r>
              <a:rPr lang="en-US" sz="950" dirty="0">
                <a:solidFill>
                  <a:srgbClr val="8BA0B4"/>
                </a:solidFill>
              </a:rPr>
              <a:t>nhưng chỉ 3.6× chi phí (per-hr mean) [1]</a:t>
            </a:r>
            <a:endParaRPr lang="en-US" sz="950" dirty="0"/>
          </a:p>
        </p:txBody>
      </p:sp>
      <p:sp>
        <p:nvSpPr>
          <p:cNvPr id="13" name="Shape 11"/>
          <p:cNvSpPr/>
          <p:nvPr/>
        </p:nvSpPr>
        <p:spPr>
          <a:xfrm>
            <a:off x="6163056" y="804672"/>
            <a:ext cx="2788920" cy="1325880"/>
          </a:xfrm>
          <a:prstGeom prst="rect">
            <a:avLst/>
          </a:prstGeom>
          <a:solidFill>
            <a:srgbClr val="0D1B2A"/>
          </a:solidFill>
          <a:ln w="9525">
            <a:solidFill>
              <a:srgbClr val="D4E3EE"/>
            </a:solidFill>
            <a:prstDash val="solid"/>
          </a:ln>
          <a:effectLst>
            <a:outerShdw blurRad="63500" dist="25400" dir="8100000" algn="bl" rotWithShape="0">
              <a:srgbClr val="000000">
                <a:alpha val="7000"/>
              </a:srgbClr>
            </a:outerShdw>
          </a:effectLst>
        </p:spPr>
      </p:sp>
      <p:sp>
        <p:nvSpPr>
          <p:cNvPr id="14" name="Text 12"/>
          <p:cNvSpPr/>
          <p:nvPr/>
        </p:nvSpPr>
        <p:spPr>
          <a:xfrm>
            <a:off x="6163056" y="841248"/>
            <a:ext cx="2788920" cy="685800"/>
          </a:xfrm>
          <a:prstGeom prst="rect">
            <a:avLst/>
          </a:prstGeom>
          <a:noFill/>
          <a:ln/>
        </p:spPr>
        <p:txBody>
          <a:bodyPr wrap="square" lIns="0" tIns="0" rIns="0" bIns="0" rtlCol="0" anchor="ctr"/>
          <a:lstStyle/>
          <a:p>
            <a:pPr marL="0" indent="0" algn="ctr">
              <a:buNone/>
            </a:pPr>
            <a:r>
              <a:rPr lang="en-US" sz="3200" b="1" dirty="0">
                <a:solidFill>
                  <a:srgbClr val="006A85"/>
                </a:solidFill>
              </a:rPr>
              <a:t>K=5</a:t>
            </a:r>
            <a:endParaRPr lang="en-US" sz="3200" dirty="0"/>
          </a:p>
        </p:txBody>
      </p:sp>
      <p:sp>
        <p:nvSpPr>
          <p:cNvPr id="15" name="Text 13"/>
          <p:cNvSpPr/>
          <p:nvPr/>
        </p:nvSpPr>
        <p:spPr>
          <a:xfrm>
            <a:off x="6208776" y="1508760"/>
            <a:ext cx="2697480" cy="548640"/>
          </a:xfrm>
          <a:prstGeom prst="rect">
            <a:avLst/>
          </a:prstGeom>
          <a:noFill/>
          <a:ln/>
        </p:spPr>
        <p:txBody>
          <a:bodyPr wrap="square" lIns="0" tIns="0" rIns="0" bIns="0" rtlCol="0" anchor="ctr"/>
          <a:lstStyle/>
          <a:p>
            <a:pPr marL="0" indent="0" algn="ctr">
              <a:buNone/>
            </a:pPr>
            <a:r>
              <a:rPr lang="en-US" sz="950" dirty="0">
                <a:solidFill>
                  <a:srgbClr val="8BA0B4"/>
                </a:solidFill>
              </a:rPr>
              <a:t>Hiệu quả nhất</a:t>
            </a:r>
            <a:endParaRPr lang="en-US" sz="950" dirty="0"/>
          </a:p>
          <a:p>
            <a:pPr marL="0" indent="0" algn="ctr">
              <a:buNone/>
            </a:pPr>
            <a:r>
              <a:rPr lang="en-US" sz="950" dirty="0">
                <a:solidFill>
                  <a:srgbClr val="8BA0B4"/>
                </a:solidFill>
              </a:rPr>
              <a:t>với traffic Random (eff=0.351) [1]</a:t>
            </a:r>
            <a:endParaRPr lang="en-US" sz="950" dirty="0"/>
          </a:p>
        </p:txBody>
      </p:sp>
      <p:sp>
        <p:nvSpPr>
          <p:cNvPr id="16" name="Shape 14"/>
          <p:cNvSpPr/>
          <p:nvPr/>
        </p:nvSpPr>
        <p:spPr>
          <a:xfrm>
            <a:off x="274320" y="2267712"/>
            <a:ext cx="8595360" cy="251460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17" name="Text 15"/>
          <p:cNvSpPr/>
          <p:nvPr/>
        </p:nvSpPr>
        <p:spPr>
          <a:xfrm>
            <a:off x="457200" y="2331720"/>
            <a:ext cx="4572000" cy="292608"/>
          </a:xfrm>
          <a:prstGeom prst="rect">
            <a:avLst/>
          </a:prstGeom>
          <a:noFill/>
          <a:ln/>
        </p:spPr>
        <p:txBody>
          <a:bodyPr wrap="square" lIns="0" tIns="0" rIns="0" bIns="0" rtlCol="0" anchor="ctr"/>
          <a:lstStyle/>
          <a:p>
            <a:pPr marL="0" indent="0">
              <a:buNone/>
            </a:pPr>
            <a:r>
              <a:rPr lang="en-US" sz="1150" b="1" dirty="0">
                <a:solidFill>
                  <a:srgbClr val="0D1B2A"/>
                </a:solidFill>
              </a:rPr>
              <a:t>Tổng hợp kết quả theo mẫu lưu lượng</a:t>
            </a:r>
            <a:endParaRPr lang="en-US" sz="1150" dirty="0"/>
          </a:p>
        </p:txBody>
      </p:sp>
      <p:sp>
        <p:nvSpPr>
          <p:cNvPr id="18" name="Shape 16"/>
          <p:cNvSpPr/>
          <p:nvPr/>
        </p:nvSpPr>
        <p:spPr>
          <a:xfrm>
            <a:off x="320040" y="2670048"/>
            <a:ext cx="1874520" cy="347472"/>
          </a:xfrm>
          <a:prstGeom prst="rect">
            <a:avLst/>
          </a:prstGeom>
          <a:solidFill>
            <a:srgbClr val="0D1B2A"/>
          </a:solidFill>
          <a:ln w="12700">
            <a:solidFill>
              <a:srgbClr val="0D1B2A"/>
            </a:solidFill>
            <a:prstDash val="solid"/>
          </a:ln>
        </p:spPr>
      </p:sp>
      <p:sp>
        <p:nvSpPr>
          <p:cNvPr id="19" name="Text 17"/>
          <p:cNvSpPr/>
          <p:nvPr/>
        </p:nvSpPr>
        <p:spPr>
          <a:xfrm>
            <a:off x="365760" y="2670048"/>
            <a:ext cx="1783080" cy="347472"/>
          </a:xfrm>
          <a:prstGeom prst="rect">
            <a:avLst/>
          </a:prstGeom>
          <a:noFill/>
          <a:ln/>
        </p:spPr>
        <p:txBody>
          <a:bodyPr wrap="square" lIns="0" tIns="0" rIns="0" bIns="0" rtlCol="0" anchor="ctr"/>
          <a:lstStyle/>
          <a:p>
            <a:pPr marL="0" indent="0">
              <a:buNone/>
            </a:pPr>
            <a:r>
              <a:rPr lang="en-US" sz="950" b="1" dirty="0">
                <a:solidFill>
                  <a:srgbClr val="FFFFFF"/>
                </a:solidFill>
              </a:rPr>
              <a:t>Mẫu lưu lượng</a:t>
            </a:r>
            <a:endParaRPr lang="en-US" sz="950" dirty="0"/>
          </a:p>
        </p:txBody>
      </p:sp>
      <p:sp>
        <p:nvSpPr>
          <p:cNvPr id="20" name="Shape 18"/>
          <p:cNvSpPr/>
          <p:nvPr/>
        </p:nvSpPr>
        <p:spPr>
          <a:xfrm>
            <a:off x="2240280" y="2670048"/>
            <a:ext cx="1097280" cy="347472"/>
          </a:xfrm>
          <a:prstGeom prst="rect">
            <a:avLst/>
          </a:prstGeom>
          <a:solidFill>
            <a:srgbClr val="0D1B2A"/>
          </a:solidFill>
          <a:ln w="12700">
            <a:solidFill>
              <a:srgbClr val="0D1B2A"/>
            </a:solidFill>
            <a:prstDash val="solid"/>
          </a:ln>
        </p:spPr>
      </p:sp>
      <p:sp>
        <p:nvSpPr>
          <p:cNvPr id="21" name="Text 19"/>
          <p:cNvSpPr/>
          <p:nvPr/>
        </p:nvSpPr>
        <p:spPr>
          <a:xfrm>
            <a:off x="2286000" y="2670048"/>
            <a:ext cx="1005840" cy="347472"/>
          </a:xfrm>
          <a:prstGeom prst="rect">
            <a:avLst/>
          </a:prstGeom>
          <a:noFill/>
          <a:ln/>
        </p:spPr>
        <p:txBody>
          <a:bodyPr wrap="square" lIns="0" tIns="0" rIns="0" bIns="0" rtlCol="0" anchor="ctr"/>
          <a:lstStyle/>
          <a:p>
            <a:pPr marL="0" indent="0">
              <a:buNone/>
            </a:pPr>
            <a:r>
              <a:rPr lang="en-US" sz="950" b="1" dirty="0">
                <a:solidFill>
                  <a:srgbClr val="FFFFFF"/>
                </a:solidFill>
              </a:rPr>
              <a:t>K tốt nhất</a:t>
            </a:r>
            <a:endParaRPr lang="en-US" sz="950" dirty="0"/>
          </a:p>
        </p:txBody>
      </p:sp>
      <p:sp>
        <p:nvSpPr>
          <p:cNvPr id="22" name="Shape 20"/>
          <p:cNvSpPr/>
          <p:nvPr/>
        </p:nvSpPr>
        <p:spPr>
          <a:xfrm>
            <a:off x="3383280" y="2670048"/>
            <a:ext cx="1417320" cy="347472"/>
          </a:xfrm>
          <a:prstGeom prst="rect">
            <a:avLst/>
          </a:prstGeom>
          <a:solidFill>
            <a:srgbClr val="0D1B2A"/>
          </a:solidFill>
          <a:ln w="12700">
            <a:solidFill>
              <a:srgbClr val="0D1B2A"/>
            </a:solidFill>
            <a:prstDash val="solid"/>
          </a:ln>
        </p:spPr>
      </p:sp>
      <p:sp>
        <p:nvSpPr>
          <p:cNvPr id="23" name="Text 21"/>
          <p:cNvSpPr/>
          <p:nvPr/>
        </p:nvSpPr>
        <p:spPr>
          <a:xfrm>
            <a:off x="3429000" y="2670048"/>
            <a:ext cx="1325880" cy="347472"/>
          </a:xfrm>
          <a:prstGeom prst="rect">
            <a:avLst/>
          </a:prstGeom>
          <a:noFill/>
          <a:ln/>
        </p:spPr>
        <p:txBody>
          <a:bodyPr wrap="square" lIns="0" tIns="0" rIns="0" bIns="0" rtlCol="0" anchor="ctr"/>
          <a:lstStyle/>
          <a:p>
            <a:pPr marL="0" indent="0">
              <a:buNone/>
            </a:pPr>
            <a:r>
              <a:rPr lang="en-US" sz="950" b="1" dirty="0">
                <a:solidFill>
                  <a:srgbClr val="FFFFFF"/>
                </a:solidFill>
              </a:rPr>
              <a:t>Per-minute eff.</a:t>
            </a:r>
            <a:endParaRPr lang="en-US" sz="950" dirty="0"/>
          </a:p>
        </p:txBody>
      </p:sp>
      <p:sp>
        <p:nvSpPr>
          <p:cNvPr id="24" name="Shape 22"/>
          <p:cNvSpPr/>
          <p:nvPr/>
        </p:nvSpPr>
        <p:spPr>
          <a:xfrm>
            <a:off x="4846320" y="2670048"/>
            <a:ext cx="1664208" cy="347472"/>
          </a:xfrm>
          <a:prstGeom prst="rect">
            <a:avLst/>
          </a:prstGeom>
          <a:solidFill>
            <a:srgbClr val="0D1B2A"/>
          </a:solidFill>
          <a:ln w="12700">
            <a:solidFill>
              <a:srgbClr val="0D1B2A"/>
            </a:solidFill>
            <a:prstDash val="solid"/>
          </a:ln>
        </p:spPr>
      </p:sp>
      <p:sp>
        <p:nvSpPr>
          <p:cNvPr id="25" name="Text 23"/>
          <p:cNvSpPr/>
          <p:nvPr/>
        </p:nvSpPr>
        <p:spPr>
          <a:xfrm>
            <a:off x="4892040" y="2670048"/>
            <a:ext cx="1572768" cy="347472"/>
          </a:xfrm>
          <a:prstGeom prst="rect">
            <a:avLst/>
          </a:prstGeom>
          <a:noFill/>
          <a:ln/>
        </p:spPr>
        <p:txBody>
          <a:bodyPr wrap="square" lIns="0" tIns="0" rIns="0" bIns="0" rtlCol="0" anchor="ctr"/>
          <a:lstStyle/>
          <a:p>
            <a:pPr marL="0" indent="0">
              <a:buNone/>
            </a:pPr>
            <a:r>
              <a:rPr lang="en-US" sz="950" b="1" dirty="0">
                <a:solidFill>
                  <a:srgbClr val="FFFFFF"/>
                </a:solidFill>
              </a:rPr>
              <a:t>Per-hour mean eff.</a:t>
            </a:r>
            <a:endParaRPr lang="en-US" sz="950" dirty="0"/>
          </a:p>
        </p:txBody>
      </p:sp>
      <p:sp>
        <p:nvSpPr>
          <p:cNvPr id="26" name="Shape 24"/>
          <p:cNvSpPr/>
          <p:nvPr/>
        </p:nvSpPr>
        <p:spPr>
          <a:xfrm>
            <a:off x="6556248" y="2670048"/>
            <a:ext cx="2286000" cy="347472"/>
          </a:xfrm>
          <a:prstGeom prst="rect">
            <a:avLst/>
          </a:prstGeom>
          <a:solidFill>
            <a:srgbClr val="0D1B2A"/>
          </a:solidFill>
          <a:ln w="12700">
            <a:solidFill>
              <a:srgbClr val="0D1B2A"/>
            </a:solidFill>
            <a:prstDash val="solid"/>
          </a:ln>
        </p:spPr>
      </p:sp>
      <p:sp>
        <p:nvSpPr>
          <p:cNvPr id="27" name="Text 25"/>
          <p:cNvSpPr/>
          <p:nvPr/>
        </p:nvSpPr>
        <p:spPr>
          <a:xfrm>
            <a:off x="6601968" y="2670048"/>
            <a:ext cx="2194560" cy="347472"/>
          </a:xfrm>
          <a:prstGeom prst="rect">
            <a:avLst/>
          </a:prstGeom>
          <a:noFill/>
          <a:ln/>
        </p:spPr>
        <p:txBody>
          <a:bodyPr wrap="square" lIns="0" tIns="0" rIns="0" bIns="0" rtlCol="0" anchor="ctr"/>
          <a:lstStyle/>
          <a:p>
            <a:pPr marL="0" indent="0">
              <a:buNone/>
            </a:pPr>
            <a:r>
              <a:rPr lang="en-US" sz="950" b="1" dirty="0">
                <a:solidFill>
                  <a:srgbClr val="FFFFFF"/>
                </a:solidFill>
              </a:rPr>
              <a:t>Ghi chú</a:t>
            </a:r>
            <a:endParaRPr lang="en-US" sz="950" dirty="0"/>
          </a:p>
        </p:txBody>
      </p:sp>
      <p:sp>
        <p:nvSpPr>
          <p:cNvPr id="28" name="Shape 26"/>
          <p:cNvSpPr/>
          <p:nvPr/>
        </p:nvSpPr>
        <p:spPr>
          <a:xfrm>
            <a:off x="320040" y="3081528"/>
            <a:ext cx="1874520" cy="438912"/>
          </a:xfrm>
          <a:prstGeom prst="rect">
            <a:avLst/>
          </a:prstGeom>
          <a:solidFill>
            <a:srgbClr val="E8F4FA"/>
          </a:solidFill>
          <a:ln w="6350">
            <a:solidFill>
              <a:srgbClr val="D4E3EE"/>
            </a:solidFill>
            <a:prstDash val="solid"/>
          </a:ln>
        </p:spPr>
      </p:sp>
      <p:sp>
        <p:nvSpPr>
          <p:cNvPr id="29" name="Text 27"/>
          <p:cNvSpPr/>
          <p:nvPr/>
        </p:nvSpPr>
        <p:spPr>
          <a:xfrm>
            <a:off x="365760" y="3081528"/>
            <a:ext cx="1783080" cy="438912"/>
          </a:xfrm>
          <a:prstGeom prst="rect">
            <a:avLst/>
          </a:prstGeom>
          <a:noFill/>
          <a:ln/>
        </p:spPr>
        <p:txBody>
          <a:bodyPr wrap="square" lIns="0" tIns="0" rIns="0" bIns="0" rtlCol="0" anchor="ctr"/>
          <a:lstStyle/>
          <a:p>
            <a:pPr marL="0" indent="0">
              <a:buNone/>
            </a:pPr>
            <a:r>
              <a:rPr lang="en-US" sz="1000" dirty="0">
                <a:solidFill>
                  <a:srgbClr val="0D1B2A"/>
                </a:solidFill>
              </a:rPr>
              <a:t>Bursty</a:t>
            </a:r>
            <a:endParaRPr lang="en-US" sz="1000" dirty="0"/>
          </a:p>
        </p:txBody>
      </p:sp>
      <p:sp>
        <p:nvSpPr>
          <p:cNvPr id="30" name="Shape 28"/>
          <p:cNvSpPr/>
          <p:nvPr/>
        </p:nvSpPr>
        <p:spPr>
          <a:xfrm>
            <a:off x="2240280" y="3081528"/>
            <a:ext cx="1097280" cy="438912"/>
          </a:xfrm>
          <a:prstGeom prst="rect">
            <a:avLst/>
          </a:prstGeom>
          <a:solidFill>
            <a:srgbClr val="E8F4FA"/>
          </a:solidFill>
          <a:ln w="6350">
            <a:solidFill>
              <a:srgbClr val="D4E3EE"/>
            </a:solidFill>
            <a:prstDash val="solid"/>
          </a:ln>
        </p:spPr>
      </p:sp>
      <p:sp>
        <p:nvSpPr>
          <p:cNvPr id="31" name="Text 29"/>
          <p:cNvSpPr/>
          <p:nvPr/>
        </p:nvSpPr>
        <p:spPr>
          <a:xfrm>
            <a:off x="2286000" y="3081528"/>
            <a:ext cx="1005840" cy="438912"/>
          </a:xfrm>
          <a:prstGeom prst="rect">
            <a:avLst/>
          </a:prstGeom>
          <a:noFill/>
          <a:ln/>
        </p:spPr>
        <p:txBody>
          <a:bodyPr wrap="square" lIns="0" tIns="0" rIns="0" bIns="0" rtlCol="0" anchor="ctr"/>
          <a:lstStyle/>
          <a:p>
            <a:pPr marL="0" indent="0">
              <a:buNone/>
            </a:pPr>
            <a:r>
              <a:rPr lang="en-US" sz="1000" dirty="0">
                <a:solidFill>
                  <a:srgbClr val="0D1B2A"/>
                </a:solidFill>
              </a:rPr>
              <a:t>K=10</a:t>
            </a:r>
            <a:endParaRPr lang="en-US" sz="1000" dirty="0"/>
          </a:p>
        </p:txBody>
      </p:sp>
      <p:sp>
        <p:nvSpPr>
          <p:cNvPr id="32" name="Shape 30"/>
          <p:cNvSpPr/>
          <p:nvPr/>
        </p:nvSpPr>
        <p:spPr>
          <a:xfrm>
            <a:off x="3383280" y="3081528"/>
            <a:ext cx="1417320" cy="438912"/>
          </a:xfrm>
          <a:prstGeom prst="rect">
            <a:avLst/>
          </a:prstGeom>
          <a:solidFill>
            <a:srgbClr val="E8F4FA"/>
          </a:solidFill>
          <a:ln w="6350">
            <a:solidFill>
              <a:srgbClr val="D4E3EE"/>
            </a:solidFill>
            <a:prstDash val="solid"/>
          </a:ln>
        </p:spPr>
      </p:sp>
      <p:sp>
        <p:nvSpPr>
          <p:cNvPr id="33" name="Text 31"/>
          <p:cNvSpPr/>
          <p:nvPr/>
        </p:nvSpPr>
        <p:spPr>
          <a:xfrm>
            <a:off x="3429000" y="3081528"/>
            <a:ext cx="1325880" cy="438912"/>
          </a:xfrm>
          <a:prstGeom prst="rect">
            <a:avLst/>
          </a:prstGeom>
          <a:noFill/>
          <a:ln/>
        </p:spPr>
        <p:txBody>
          <a:bodyPr wrap="square" lIns="0" tIns="0" rIns="0" bIns="0" rtlCol="0" anchor="ctr"/>
          <a:lstStyle/>
          <a:p>
            <a:pPr marL="0" indent="0">
              <a:buNone/>
            </a:pPr>
            <a:r>
              <a:rPr lang="en-US" sz="1000" b="1" dirty="0">
                <a:solidFill>
                  <a:srgbClr val="F47B20"/>
                </a:solidFill>
              </a:rPr>
              <a:t>0.487</a:t>
            </a:r>
            <a:endParaRPr lang="en-US" sz="1000" dirty="0"/>
          </a:p>
        </p:txBody>
      </p:sp>
      <p:sp>
        <p:nvSpPr>
          <p:cNvPr id="34" name="Shape 32"/>
          <p:cNvSpPr/>
          <p:nvPr/>
        </p:nvSpPr>
        <p:spPr>
          <a:xfrm>
            <a:off x="4846320" y="3081528"/>
            <a:ext cx="1664208" cy="438912"/>
          </a:xfrm>
          <a:prstGeom prst="rect">
            <a:avLst/>
          </a:prstGeom>
          <a:solidFill>
            <a:srgbClr val="E8F4FA"/>
          </a:solidFill>
          <a:ln w="6350">
            <a:solidFill>
              <a:srgbClr val="D4E3EE"/>
            </a:solidFill>
            <a:prstDash val="solid"/>
          </a:ln>
        </p:spPr>
      </p:sp>
      <p:sp>
        <p:nvSpPr>
          <p:cNvPr id="35" name="Text 33"/>
          <p:cNvSpPr/>
          <p:nvPr/>
        </p:nvSpPr>
        <p:spPr>
          <a:xfrm>
            <a:off x="4892040" y="3081528"/>
            <a:ext cx="1572768" cy="438912"/>
          </a:xfrm>
          <a:prstGeom prst="rect">
            <a:avLst/>
          </a:prstGeom>
          <a:noFill/>
          <a:ln/>
        </p:spPr>
        <p:txBody>
          <a:bodyPr wrap="square" lIns="0" tIns="0" rIns="0" bIns="0" rtlCol="0" anchor="ctr"/>
          <a:lstStyle/>
          <a:p>
            <a:pPr marL="0" indent="0">
              <a:buNone/>
            </a:pPr>
            <a:r>
              <a:rPr lang="en-US" sz="1000" dirty="0">
                <a:solidFill>
                  <a:srgbClr val="0D1B2A"/>
                </a:solidFill>
              </a:rPr>
              <a:t>0.135</a:t>
            </a:r>
            <a:endParaRPr lang="en-US" sz="1000" dirty="0"/>
          </a:p>
        </p:txBody>
      </p:sp>
      <p:sp>
        <p:nvSpPr>
          <p:cNvPr id="36" name="Shape 34"/>
          <p:cNvSpPr/>
          <p:nvPr/>
        </p:nvSpPr>
        <p:spPr>
          <a:xfrm>
            <a:off x="6556248" y="3081528"/>
            <a:ext cx="2286000" cy="438912"/>
          </a:xfrm>
          <a:prstGeom prst="rect">
            <a:avLst/>
          </a:prstGeom>
          <a:solidFill>
            <a:srgbClr val="E8F4FA"/>
          </a:solidFill>
          <a:ln w="6350">
            <a:solidFill>
              <a:srgbClr val="D4E3EE"/>
            </a:solidFill>
            <a:prstDash val="solid"/>
          </a:ln>
        </p:spPr>
      </p:sp>
      <p:sp>
        <p:nvSpPr>
          <p:cNvPr id="37" name="Text 35"/>
          <p:cNvSpPr/>
          <p:nvPr/>
        </p:nvSpPr>
        <p:spPr>
          <a:xfrm>
            <a:off x="6601968" y="3081528"/>
            <a:ext cx="2194560" cy="438912"/>
          </a:xfrm>
          <a:prstGeom prst="rect">
            <a:avLst/>
          </a:prstGeom>
          <a:noFill/>
          <a:ln/>
        </p:spPr>
        <p:txBody>
          <a:bodyPr wrap="square" lIns="0" tIns="0" rIns="0" bIns="0" rtlCol="0" anchor="ctr"/>
          <a:lstStyle/>
          <a:p>
            <a:pPr marL="0" indent="0">
              <a:buNone/>
            </a:pPr>
            <a:r>
              <a:rPr lang="en-US" sz="1000" dirty="0">
                <a:solidFill>
                  <a:srgbClr val="0D1B2A"/>
                </a:solidFill>
              </a:rPr>
              <a:t>Hiệu quả nhất tổng thể</a:t>
            </a:r>
            <a:endParaRPr lang="en-US" sz="1000" dirty="0"/>
          </a:p>
        </p:txBody>
      </p:sp>
      <p:sp>
        <p:nvSpPr>
          <p:cNvPr id="38" name="Shape 36"/>
          <p:cNvSpPr/>
          <p:nvPr/>
        </p:nvSpPr>
        <p:spPr>
          <a:xfrm>
            <a:off x="320040" y="3584448"/>
            <a:ext cx="1874520" cy="438912"/>
          </a:xfrm>
          <a:prstGeom prst="rect">
            <a:avLst/>
          </a:prstGeom>
          <a:solidFill>
            <a:srgbClr val="FFFFFF"/>
          </a:solidFill>
          <a:ln w="6350">
            <a:solidFill>
              <a:srgbClr val="D4E3EE"/>
            </a:solidFill>
            <a:prstDash val="solid"/>
          </a:ln>
        </p:spPr>
      </p:sp>
      <p:sp>
        <p:nvSpPr>
          <p:cNvPr id="39" name="Text 37"/>
          <p:cNvSpPr/>
          <p:nvPr/>
        </p:nvSpPr>
        <p:spPr>
          <a:xfrm>
            <a:off x="365760" y="3584448"/>
            <a:ext cx="1783080" cy="438912"/>
          </a:xfrm>
          <a:prstGeom prst="rect">
            <a:avLst/>
          </a:prstGeom>
          <a:noFill/>
          <a:ln/>
        </p:spPr>
        <p:txBody>
          <a:bodyPr wrap="square" lIns="0" tIns="0" rIns="0" bIns="0" rtlCol="0" anchor="ctr"/>
          <a:lstStyle/>
          <a:p>
            <a:pPr marL="0" indent="0">
              <a:buNone/>
            </a:pPr>
            <a:r>
              <a:rPr lang="en-US" sz="1000" dirty="0">
                <a:solidFill>
                  <a:srgbClr val="0D1B2A"/>
                </a:solidFill>
              </a:rPr>
              <a:t>Random</a:t>
            </a:r>
            <a:endParaRPr lang="en-US" sz="1000" dirty="0"/>
          </a:p>
        </p:txBody>
      </p:sp>
      <p:sp>
        <p:nvSpPr>
          <p:cNvPr id="40" name="Shape 38"/>
          <p:cNvSpPr/>
          <p:nvPr/>
        </p:nvSpPr>
        <p:spPr>
          <a:xfrm>
            <a:off x="2240280" y="3584448"/>
            <a:ext cx="1097280" cy="438912"/>
          </a:xfrm>
          <a:prstGeom prst="rect">
            <a:avLst/>
          </a:prstGeom>
          <a:solidFill>
            <a:srgbClr val="FFFFFF"/>
          </a:solidFill>
          <a:ln w="6350">
            <a:solidFill>
              <a:srgbClr val="D4E3EE"/>
            </a:solidFill>
            <a:prstDash val="solid"/>
          </a:ln>
        </p:spPr>
      </p:sp>
      <p:sp>
        <p:nvSpPr>
          <p:cNvPr id="41" name="Text 39"/>
          <p:cNvSpPr/>
          <p:nvPr/>
        </p:nvSpPr>
        <p:spPr>
          <a:xfrm>
            <a:off x="2286000" y="3584448"/>
            <a:ext cx="1005840" cy="438912"/>
          </a:xfrm>
          <a:prstGeom prst="rect">
            <a:avLst/>
          </a:prstGeom>
          <a:noFill/>
          <a:ln/>
        </p:spPr>
        <p:txBody>
          <a:bodyPr wrap="square" lIns="0" tIns="0" rIns="0" bIns="0" rtlCol="0" anchor="ctr"/>
          <a:lstStyle/>
          <a:p>
            <a:pPr marL="0" indent="0">
              <a:buNone/>
            </a:pPr>
            <a:r>
              <a:rPr lang="en-US" sz="1000" dirty="0">
                <a:solidFill>
                  <a:srgbClr val="0D1B2A"/>
                </a:solidFill>
              </a:rPr>
              <a:t>K=5</a:t>
            </a:r>
            <a:endParaRPr lang="en-US" sz="1000" dirty="0"/>
          </a:p>
        </p:txBody>
      </p:sp>
      <p:sp>
        <p:nvSpPr>
          <p:cNvPr id="42" name="Shape 40"/>
          <p:cNvSpPr/>
          <p:nvPr/>
        </p:nvSpPr>
        <p:spPr>
          <a:xfrm>
            <a:off x="3383280" y="3584448"/>
            <a:ext cx="1417320" cy="438912"/>
          </a:xfrm>
          <a:prstGeom prst="rect">
            <a:avLst/>
          </a:prstGeom>
          <a:solidFill>
            <a:srgbClr val="FFFFFF"/>
          </a:solidFill>
          <a:ln w="6350">
            <a:solidFill>
              <a:srgbClr val="D4E3EE"/>
            </a:solidFill>
            <a:prstDash val="solid"/>
          </a:ln>
        </p:spPr>
      </p:sp>
      <p:sp>
        <p:nvSpPr>
          <p:cNvPr id="43" name="Text 41"/>
          <p:cNvSpPr/>
          <p:nvPr/>
        </p:nvSpPr>
        <p:spPr>
          <a:xfrm>
            <a:off x="3429000" y="3584448"/>
            <a:ext cx="1325880" cy="438912"/>
          </a:xfrm>
          <a:prstGeom prst="rect">
            <a:avLst/>
          </a:prstGeom>
          <a:noFill/>
          <a:ln/>
        </p:spPr>
        <p:txBody>
          <a:bodyPr wrap="square" lIns="0" tIns="0" rIns="0" bIns="0" rtlCol="0" anchor="ctr"/>
          <a:lstStyle/>
          <a:p>
            <a:pPr marL="0" indent="0">
              <a:buNone/>
            </a:pPr>
            <a:r>
              <a:rPr lang="en-US" sz="1000" dirty="0">
                <a:solidFill>
                  <a:srgbClr val="0D1B2A"/>
                </a:solidFill>
              </a:rPr>
              <a:t>0.351</a:t>
            </a:r>
            <a:endParaRPr lang="en-US" sz="1000" dirty="0"/>
          </a:p>
        </p:txBody>
      </p:sp>
      <p:sp>
        <p:nvSpPr>
          <p:cNvPr id="44" name="Shape 42"/>
          <p:cNvSpPr/>
          <p:nvPr/>
        </p:nvSpPr>
        <p:spPr>
          <a:xfrm>
            <a:off x="4846320" y="3584448"/>
            <a:ext cx="1664208" cy="438912"/>
          </a:xfrm>
          <a:prstGeom prst="rect">
            <a:avLst/>
          </a:prstGeom>
          <a:solidFill>
            <a:srgbClr val="FFFFFF"/>
          </a:solidFill>
          <a:ln w="6350">
            <a:solidFill>
              <a:srgbClr val="D4E3EE"/>
            </a:solidFill>
            <a:prstDash val="solid"/>
          </a:ln>
        </p:spPr>
      </p:sp>
      <p:sp>
        <p:nvSpPr>
          <p:cNvPr id="45" name="Text 43"/>
          <p:cNvSpPr/>
          <p:nvPr/>
        </p:nvSpPr>
        <p:spPr>
          <a:xfrm>
            <a:off x="4892040" y="3584448"/>
            <a:ext cx="1572768" cy="438912"/>
          </a:xfrm>
          <a:prstGeom prst="rect">
            <a:avLst/>
          </a:prstGeom>
          <a:noFill/>
          <a:ln/>
        </p:spPr>
        <p:txBody>
          <a:bodyPr wrap="square" lIns="0" tIns="0" rIns="0" bIns="0" rtlCol="0" anchor="ctr"/>
          <a:lstStyle/>
          <a:p>
            <a:pPr marL="0" indent="0">
              <a:buNone/>
            </a:pPr>
            <a:r>
              <a:rPr lang="en-US" sz="1000" dirty="0">
                <a:solidFill>
                  <a:srgbClr val="0D1B2A"/>
                </a:solidFill>
              </a:rPr>
              <a:t>0.098</a:t>
            </a:r>
            <a:endParaRPr lang="en-US" sz="1000" dirty="0"/>
          </a:p>
        </p:txBody>
      </p:sp>
      <p:sp>
        <p:nvSpPr>
          <p:cNvPr id="46" name="Shape 44"/>
          <p:cNvSpPr/>
          <p:nvPr/>
        </p:nvSpPr>
        <p:spPr>
          <a:xfrm>
            <a:off x="6556248" y="3584448"/>
            <a:ext cx="2286000" cy="438912"/>
          </a:xfrm>
          <a:prstGeom prst="rect">
            <a:avLst/>
          </a:prstGeom>
          <a:solidFill>
            <a:srgbClr val="FFFFFF"/>
          </a:solidFill>
          <a:ln w="6350">
            <a:solidFill>
              <a:srgbClr val="D4E3EE"/>
            </a:solidFill>
            <a:prstDash val="solid"/>
          </a:ln>
        </p:spPr>
      </p:sp>
      <p:sp>
        <p:nvSpPr>
          <p:cNvPr id="47" name="Text 45"/>
          <p:cNvSpPr/>
          <p:nvPr/>
        </p:nvSpPr>
        <p:spPr>
          <a:xfrm>
            <a:off x="6601968" y="3584448"/>
            <a:ext cx="2194560" cy="438912"/>
          </a:xfrm>
          <a:prstGeom prst="rect">
            <a:avLst/>
          </a:prstGeom>
          <a:noFill/>
          <a:ln/>
        </p:spPr>
        <p:txBody>
          <a:bodyPr wrap="square" lIns="0" tIns="0" rIns="0" bIns="0" rtlCol="0" anchor="ctr"/>
          <a:lstStyle/>
          <a:p>
            <a:pPr marL="0" indent="0">
              <a:buNone/>
            </a:pPr>
            <a:r>
              <a:rPr lang="en-US" sz="1000" dirty="0">
                <a:solidFill>
                  <a:srgbClr val="0D1B2A"/>
                </a:solidFill>
              </a:rPr>
              <a:t>K nhỏ có lợi hơn</a:t>
            </a:r>
            <a:endParaRPr lang="en-US" sz="1000" dirty="0"/>
          </a:p>
        </p:txBody>
      </p:sp>
      <p:sp>
        <p:nvSpPr>
          <p:cNvPr id="48" name="Shape 46"/>
          <p:cNvSpPr/>
          <p:nvPr/>
        </p:nvSpPr>
        <p:spPr>
          <a:xfrm>
            <a:off x="320040" y="4087368"/>
            <a:ext cx="1874520" cy="438912"/>
          </a:xfrm>
          <a:prstGeom prst="rect">
            <a:avLst/>
          </a:prstGeom>
          <a:solidFill>
            <a:srgbClr val="E8F4FA"/>
          </a:solidFill>
          <a:ln w="6350">
            <a:solidFill>
              <a:srgbClr val="D4E3EE"/>
            </a:solidFill>
            <a:prstDash val="solid"/>
          </a:ln>
        </p:spPr>
      </p:sp>
      <p:sp>
        <p:nvSpPr>
          <p:cNvPr id="49" name="Text 47"/>
          <p:cNvSpPr/>
          <p:nvPr/>
        </p:nvSpPr>
        <p:spPr>
          <a:xfrm>
            <a:off x="365760" y="4087368"/>
            <a:ext cx="1783080" cy="438912"/>
          </a:xfrm>
          <a:prstGeom prst="rect">
            <a:avLst/>
          </a:prstGeom>
          <a:noFill/>
          <a:ln/>
        </p:spPr>
        <p:txBody>
          <a:bodyPr wrap="square" lIns="0" tIns="0" rIns="0" bIns="0" rtlCol="0" anchor="ctr"/>
          <a:lstStyle/>
          <a:p>
            <a:pPr marL="0" indent="0">
              <a:buNone/>
            </a:pPr>
            <a:r>
              <a:rPr lang="en-US" sz="1000" dirty="0">
                <a:solidFill>
                  <a:srgbClr val="0D1B2A"/>
                </a:solidFill>
              </a:rPr>
              <a:t>On/Off</a:t>
            </a:r>
            <a:endParaRPr lang="en-US" sz="1000" dirty="0"/>
          </a:p>
        </p:txBody>
      </p:sp>
      <p:sp>
        <p:nvSpPr>
          <p:cNvPr id="50" name="Shape 48"/>
          <p:cNvSpPr/>
          <p:nvPr/>
        </p:nvSpPr>
        <p:spPr>
          <a:xfrm>
            <a:off x="2240280" y="4087368"/>
            <a:ext cx="1097280" cy="438912"/>
          </a:xfrm>
          <a:prstGeom prst="rect">
            <a:avLst/>
          </a:prstGeom>
          <a:solidFill>
            <a:srgbClr val="E8F4FA"/>
          </a:solidFill>
          <a:ln w="6350">
            <a:solidFill>
              <a:srgbClr val="D4E3EE"/>
            </a:solidFill>
            <a:prstDash val="solid"/>
          </a:ln>
        </p:spPr>
      </p:sp>
      <p:sp>
        <p:nvSpPr>
          <p:cNvPr id="51" name="Text 49"/>
          <p:cNvSpPr/>
          <p:nvPr/>
        </p:nvSpPr>
        <p:spPr>
          <a:xfrm>
            <a:off x="2286000" y="4087368"/>
            <a:ext cx="1005840" cy="438912"/>
          </a:xfrm>
          <a:prstGeom prst="rect">
            <a:avLst/>
          </a:prstGeom>
          <a:noFill/>
          <a:ln/>
        </p:spPr>
        <p:txBody>
          <a:bodyPr wrap="square" lIns="0" tIns="0" rIns="0" bIns="0" rtlCol="0" anchor="ctr"/>
          <a:lstStyle/>
          <a:p>
            <a:pPr marL="0" indent="0">
              <a:buNone/>
            </a:pPr>
            <a:r>
              <a:rPr lang="en-US" sz="1000" dirty="0">
                <a:solidFill>
                  <a:srgbClr val="0D1B2A"/>
                </a:solidFill>
              </a:rPr>
              <a:t>—</a:t>
            </a:r>
            <a:endParaRPr lang="en-US" sz="1000" dirty="0"/>
          </a:p>
        </p:txBody>
      </p:sp>
      <p:sp>
        <p:nvSpPr>
          <p:cNvPr id="52" name="Shape 50"/>
          <p:cNvSpPr/>
          <p:nvPr/>
        </p:nvSpPr>
        <p:spPr>
          <a:xfrm>
            <a:off x="3383280" y="4087368"/>
            <a:ext cx="1417320" cy="438912"/>
          </a:xfrm>
          <a:prstGeom prst="rect">
            <a:avLst/>
          </a:prstGeom>
          <a:solidFill>
            <a:srgbClr val="E8F4FA"/>
          </a:solidFill>
          <a:ln w="6350">
            <a:solidFill>
              <a:srgbClr val="D4E3EE"/>
            </a:solidFill>
            <a:prstDash val="solid"/>
          </a:ln>
        </p:spPr>
      </p:sp>
      <p:sp>
        <p:nvSpPr>
          <p:cNvPr id="53" name="Text 51"/>
          <p:cNvSpPr/>
          <p:nvPr/>
        </p:nvSpPr>
        <p:spPr>
          <a:xfrm>
            <a:off x="3429000" y="4087368"/>
            <a:ext cx="1325880" cy="438912"/>
          </a:xfrm>
          <a:prstGeom prst="rect">
            <a:avLst/>
          </a:prstGeom>
          <a:noFill/>
          <a:ln/>
        </p:spPr>
        <p:txBody>
          <a:bodyPr wrap="square" lIns="0" tIns="0" rIns="0" bIns="0" rtlCol="0" anchor="ctr"/>
          <a:lstStyle/>
          <a:p>
            <a:pPr marL="0" indent="0">
              <a:buNone/>
            </a:pPr>
            <a:r>
              <a:rPr lang="en-US" sz="1000" dirty="0">
                <a:solidFill>
                  <a:srgbClr val="0D1B2A"/>
                </a:solidFill>
              </a:rPr>
              <a:t>—</a:t>
            </a:r>
            <a:endParaRPr lang="en-US" sz="1000" dirty="0"/>
          </a:p>
        </p:txBody>
      </p:sp>
      <p:sp>
        <p:nvSpPr>
          <p:cNvPr id="54" name="Shape 52"/>
          <p:cNvSpPr/>
          <p:nvPr/>
        </p:nvSpPr>
        <p:spPr>
          <a:xfrm>
            <a:off x="4846320" y="4087368"/>
            <a:ext cx="1664208" cy="438912"/>
          </a:xfrm>
          <a:prstGeom prst="rect">
            <a:avLst/>
          </a:prstGeom>
          <a:solidFill>
            <a:srgbClr val="E8F4FA"/>
          </a:solidFill>
          <a:ln w="6350">
            <a:solidFill>
              <a:srgbClr val="D4E3EE"/>
            </a:solidFill>
            <a:prstDash val="solid"/>
          </a:ln>
        </p:spPr>
      </p:sp>
      <p:sp>
        <p:nvSpPr>
          <p:cNvPr id="55" name="Text 53"/>
          <p:cNvSpPr/>
          <p:nvPr/>
        </p:nvSpPr>
        <p:spPr>
          <a:xfrm>
            <a:off x="4892040" y="4087368"/>
            <a:ext cx="1572768" cy="438912"/>
          </a:xfrm>
          <a:prstGeom prst="rect">
            <a:avLst/>
          </a:prstGeom>
          <a:noFill/>
          <a:ln/>
        </p:spPr>
        <p:txBody>
          <a:bodyPr wrap="square" lIns="0" tIns="0" rIns="0" bIns="0" rtlCol="0" anchor="ctr"/>
          <a:lstStyle/>
          <a:p>
            <a:pPr marL="0" indent="0">
              <a:buNone/>
            </a:pPr>
            <a:r>
              <a:rPr lang="en-US" sz="1000" dirty="0">
                <a:solidFill>
                  <a:srgbClr val="0D1B2A"/>
                </a:solidFill>
              </a:rPr>
              <a:t>—</a:t>
            </a:r>
            <a:endParaRPr lang="en-US" sz="1000" dirty="0"/>
          </a:p>
        </p:txBody>
      </p:sp>
      <p:sp>
        <p:nvSpPr>
          <p:cNvPr id="56" name="Shape 54"/>
          <p:cNvSpPr/>
          <p:nvPr/>
        </p:nvSpPr>
        <p:spPr>
          <a:xfrm>
            <a:off x="6556248" y="4087368"/>
            <a:ext cx="2286000" cy="438912"/>
          </a:xfrm>
          <a:prstGeom prst="rect">
            <a:avLst/>
          </a:prstGeom>
          <a:solidFill>
            <a:srgbClr val="E8F4FA"/>
          </a:solidFill>
          <a:ln w="6350">
            <a:solidFill>
              <a:srgbClr val="D4E3EE"/>
            </a:solidFill>
            <a:prstDash val="solid"/>
          </a:ln>
        </p:spPr>
      </p:sp>
      <p:sp>
        <p:nvSpPr>
          <p:cNvPr id="57" name="Text 55"/>
          <p:cNvSpPr/>
          <p:nvPr/>
        </p:nvSpPr>
        <p:spPr>
          <a:xfrm>
            <a:off x="6601968" y="4087368"/>
            <a:ext cx="2194560" cy="438912"/>
          </a:xfrm>
          <a:prstGeom prst="rect">
            <a:avLst/>
          </a:prstGeom>
          <a:noFill/>
          <a:ln/>
        </p:spPr>
        <p:txBody>
          <a:bodyPr wrap="square" lIns="0" tIns="0" rIns="0" bIns="0" rtlCol="0" anchor="ctr"/>
          <a:lstStyle/>
          <a:p>
            <a:pPr marL="0" indent="0">
              <a:buNone/>
            </a:pPr>
            <a:r>
              <a:rPr lang="en-US" sz="1000" dirty="0">
                <a:solidFill>
                  <a:srgbClr val="0D1B2A"/>
                </a:solidFill>
              </a:rPr>
              <a:t>Không kích hoạt tấn công</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05 · Biện pháp phòng thủ — Ngẫu nhiên hóa Autoscaling</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507492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50208"/>
          </a:xfrm>
          <a:prstGeom prst="rect">
            <a:avLst/>
          </a:prstGeom>
          <a:solidFill>
            <a:srgbClr val="2D9D5A"/>
          </a:solidFill>
          <a:ln w="12700">
            <a:solidFill>
              <a:srgbClr val="2D9D5A"/>
            </a:solidFill>
            <a:prstDash val="solid"/>
          </a:ln>
        </p:spPr>
      </p:sp>
      <p:sp>
        <p:nvSpPr>
          <p:cNvPr id="9" name="Text 7"/>
          <p:cNvSpPr/>
          <p:nvPr/>
        </p:nvSpPr>
        <p:spPr>
          <a:xfrm>
            <a:off x="457200" y="868680"/>
            <a:ext cx="4754880" cy="320040"/>
          </a:xfrm>
          <a:prstGeom prst="rect">
            <a:avLst/>
          </a:prstGeom>
          <a:noFill/>
          <a:ln/>
        </p:spPr>
        <p:txBody>
          <a:bodyPr wrap="square" lIns="0" tIns="0" rIns="0" bIns="0" rtlCol="0" anchor="ctr"/>
          <a:lstStyle/>
          <a:p>
            <a:pPr marL="0" indent="0">
              <a:buNone/>
            </a:pPr>
            <a:r>
              <a:rPr lang="en-US" sz="1200" b="1" dirty="0">
                <a:solidFill>
                  <a:srgbClr val="0D1B2A"/>
                </a:solidFill>
              </a:rPr>
              <a:t>Cơ chế Randomization HPA [4]</a:t>
            </a:r>
            <a:endParaRPr lang="en-US" sz="1200" dirty="0"/>
          </a:p>
        </p:txBody>
      </p:sp>
      <p:sp>
        <p:nvSpPr>
          <p:cNvPr id="10" name="Shape 8"/>
          <p:cNvSpPr/>
          <p:nvPr/>
        </p:nvSpPr>
        <p:spPr>
          <a:xfrm>
            <a:off x="457200" y="1261872"/>
            <a:ext cx="1389888" cy="621792"/>
          </a:xfrm>
          <a:prstGeom prst="rect">
            <a:avLst/>
          </a:prstGeom>
          <a:solidFill>
            <a:srgbClr val="0096B7">
              <a:alpha val="80000"/>
            </a:srgbClr>
          </a:solidFill>
          <a:ln w="12700">
            <a:solidFill>
              <a:srgbClr val="0096B7"/>
            </a:solidFill>
            <a:prstDash val="solid"/>
          </a:ln>
        </p:spPr>
      </p:sp>
      <p:sp>
        <p:nvSpPr>
          <p:cNvPr id="11" name="Text 9"/>
          <p:cNvSpPr/>
          <p:nvPr/>
        </p:nvSpPr>
        <p:spPr>
          <a:xfrm>
            <a:off x="457200" y="1261872"/>
            <a:ext cx="1389888" cy="621792"/>
          </a:xfrm>
          <a:prstGeom prst="rect">
            <a:avLst/>
          </a:prstGeom>
          <a:noFill/>
          <a:ln/>
        </p:spPr>
        <p:txBody>
          <a:bodyPr wrap="square" lIns="0" tIns="0" rIns="0" bIns="0" rtlCol="0" anchor="ctr"/>
          <a:lstStyle/>
          <a:p>
            <a:pPr marL="0" indent="0" algn="ctr">
              <a:buNone/>
            </a:pPr>
            <a:r>
              <a:rPr lang="en-US" sz="950" dirty="0">
                <a:solidFill>
                  <a:srgbClr val="0D1B2A"/>
                </a:solidFill>
              </a:rPr>
              <a:t>Metric vượt</a:t>
            </a:r>
            <a:endParaRPr lang="en-US" sz="950" dirty="0"/>
          </a:p>
          <a:p>
            <a:pPr marL="0" indent="0" algn="ctr">
              <a:buNone/>
            </a:pPr>
            <a:r>
              <a:rPr lang="en-US" sz="950" dirty="0">
                <a:solidFill>
                  <a:srgbClr val="0D1B2A"/>
                </a:solidFill>
              </a:rPr>
              <a:t>ngưỡng HPA</a:t>
            </a:r>
            <a:endParaRPr lang="en-US" sz="950" dirty="0"/>
          </a:p>
        </p:txBody>
      </p:sp>
      <p:sp>
        <p:nvSpPr>
          <p:cNvPr id="12" name="Shape 10"/>
          <p:cNvSpPr/>
          <p:nvPr/>
        </p:nvSpPr>
        <p:spPr>
          <a:xfrm>
            <a:off x="1874520" y="1572768"/>
            <a:ext cx="411480" cy="0"/>
          </a:xfrm>
          <a:prstGeom prst="line">
            <a:avLst/>
          </a:prstGeom>
          <a:noFill/>
          <a:ln w="19050">
            <a:solidFill>
              <a:srgbClr val="64748B"/>
            </a:solidFill>
            <a:prstDash val="solid"/>
          </a:ln>
        </p:spPr>
      </p:sp>
      <p:sp>
        <p:nvSpPr>
          <p:cNvPr id="13" name="Shape 11"/>
          <p:cNvSpPr/>
          <p:nvPr/>
        </p:nvSpPr>
        <p:spPr>
          <a:xfrm>
            <a:off x="2331720" y="1261872"/>
            <a:ext cx="777240" cy="621792"/>
          </a:xfrm>
          <a:prstGeom prst="ellipse">
            <a:avLst/>
          </a:prstGeom>
          <a:solidFill>
            <a:srgbClr val="F47B20">
              <a:alpha val="80000"/>
            </a:srgbClr>
          </a:solidFill>
          <a:ln w="12700">
            <a:solidFill>
              <a:srgbClr val="F47B20"/>
            </a:solidFill>
            <a:prstDash val="solid"/>
          </a:ln>
        </p:spPr>
      </p:sp>
      <p:sp>
        <p:nvSpPr>
          <p:cNvPr id="14" name="Text 12"/>
          <p:cNvSpPr/>
          <p:nvPr/>
        </p:nvSpPr>
        <p:spPr>
          <a:xfrm>
            <a:off x="2331720" y="1261872"/>
            <a:ext cx="777240" cy="621792"/>
          </a:xfrm>
          <a:prstGeom prst="rect">
            <a:avLst/>
          </a:prstGeom>
          <a:noFill/>
          <a:ln/>
        </p:spPr>
        <p:txBody>
          <a:bodyPr wrap="square" lIns="0" tIns="0" rIns="0" bIns="0" rtlCol="0" anchor="ctr"/>
          <a:lstStyle/>
          <a:p>
            <a:pPr marL="0" indent="0" algn="ctr">
              <a:buNone/>
            </a:pPr>
            <a:r>
              <a:rPr lang="en-US" sz="900" dirty="0">
                <a:solidFill>
                  <a:srgbClr val="0D1B2A"/>
                </a:solidFill>
              </a:rPr>
              <a:t>RNG</a:t>
            </a:r>
            <a:endParaRPr lang="en-US" sz="900" dirty="0"/>
          </a:p>
          <a:p>
            <a:pPr marL="0" indent="0" algn="ctr">
              <a:buNone/>
            </a:pPr>
            <a:r>
              <a:rPr lang="en-US" sz="900" dirty="0">
                <a:solidFill>
                  <a:srgbClr val="0D1B2A"/>
                </a:solidFill>
              </a:rPr>
              <a:t>50/50</a:t>
            </a:r>
            <a:endParaRPr lang="en-US" sz="900" dirty="0"/>
          </a:p>
        </p:txBody>
      </p:sp>
      <p:sp>
        <p:nvSpPr>
          <p:cNvPr id="15" name="Shape 13"/>
          <p:cNvSpPr/>
          <p:nvPr/>
        </p:nvSpPr>
        <p:spPr>
          <a:xfrm>
            <a:off x="3108960" y="1572768"/>
            <a:ext cx="182880" cy="0"/>
          </a:xfrm>
          <a:prstGeom prst="line">
            <a:avLst/>
          </a:prstGeom>
          <a:noFill/>
          <a:ln w="19050">
            <a:solidFill>
              <a:srgbClr val="2D9D5A"/>
            </a:solidFill>
            <a:prstDash val="solid"/>
          </a:ln>
        </p:spPr>
      </p:sp>
      <p:sp>
        <p:nvSpPr>
          <p:cNvPr id="16" name="Shape 14"/>
          <p:cNvSpPr/>
          <p:nvPr/>
        </p:nvSpPr>
        <p:spPr>
          <a:xfrm>
            <a:off x="3337560" y="1261872"/>
            <a:ext cx="1371600" cy="621792"/>
          </a:xfrm>
          <a:prstGeom prst="rect">
            <a:avLst/>
          </a:prstGeom>
          <a:solidFill>
            <a:srgbClr val="2D9D5A">
              <a:alpha val="80000"/>
            </a:srgbClr>
          </a:solidFill>
          <a:ln w="12700">
            <a:solidFill>
              <a:srgbClr val="2D9D5A"/>
            </a:solidFill>
            <a:prstDash val="solid"/>
          </a:ln>
        </p:spPr>
      </p:sp>
      <p:sp>
        <p:nvSpPr>
          <p:cNvPr id="17" name="Text 15"/>
          <p:cNvSpPr/>
          <p:nvPr/>
        </p:nvSpPr>
        <p:spPr>
          <a:xfrm>
            <a:off x="3337560" y="1261872"/>
            <a:ext cx="1371600" cy="621792"/>
          </a:xfrm>
          <a:prstGeom prst="rect">
            <a:avLst/>
          </a:prstGeom>
          <a:noFill/>
          <a:ln/>
        </p:spPr>
        <p:txBody>
          <a:bodyPr wrap="square" lIns="0" tIns="0" rIns="0" bIns="0" rtlCol="0" anchor="ctr"/>
          <a:lstStyle/>
          <a:p>
            <a:pPr marL="0" indent="0" algn="ctr">
              <a:buNone/>
            </a:pPr>
            <a:r>
              <a:rPr lang="en-US" sz="950" dirty="0">
                <a:solidFill>
                  <a:srgbClr val="0D1B2A"/>
                </a:solidFill>
              </a:rPr>
              <a:t>Scale Up</a:t>
            </a:r>
            <a:endParaRPr lang="en-US" sz="950" dirty="0"/>
          </a:p>
          <a:p>
            <a:pPr marL="0" indent="0" algn="ctr">
              <a:buNone/>
            </a:pPr>
            <a:r>
              <a:rPr lang="en-US" sz="950" dirty="0">
                <a:solidFill>
                  <a:srgbClr val="0D1B2A"/>
                </a:solidFill>
              </a:rPr>
              <a:t>bình thường</a:t>
            </a:r>
            <a:endParaRPr lang="en-US" sz="950" dirty="0"/>
          </a:p>
        </p:txBody>
      </p:sp>
      <p:sp>
        <p:nvSpPr>
          <p:cNvPr id="18" name="Shape 16"/>
          <p:cNvSpPr/>
          <p:nvPr/>
        </p:nvSpPr>
        <p:spPr>
          <a:xfrm>
            <a:off x="2724912" y="1883664"/>
            <a:ext cx="0" cy="365760"/>
          </a:xfrm>
          <a:prstGeom prst="line">
            <a:avLst/>
          </a:prstGeom>
          <a:noFill/>
          <a:ln w="19050">
            <a:solidFill>
              <a:srgbClr val="D62828"/>
            </a:solidFill>
            <a:prstDash val="solid"/>
          </a:ln>
        </p:spPr>
      </p:sp>
      <p:sp>
        <p:nvSpPr>
          <p:cNvPr id="19" name="Shape 17"/>
          <p:cNvSpPr/>
          <p:nvPr/>
        </p:nvSpPr>
        <p:spPr>
          <a:xfrm>
            <a:off x="2331720" y="2286000"/>
            <a:ext cx="777240" cy="621792"/>
          </a:xfrm>
          <a:prstGeom prst="rect">
            <a:avLst/>
          </a:prstGeom>
          <a:solidFill>
            <a:srgbClr val="D62828">
              <a:alpha val="80000"/>
            </a:srgbClr>
          </a:solidFill>
          <a:ln w="12700">
            <a:solidFill>
              <a:srgbClr val="D62828"/>
            </a:solidFill>
            <a:prstDash val="solid"/>
          </a:ln>
        </p:spPr>
      </p:sp>
      <p:sp>
        <p:nvSpPr>
          <p:cNvPr id="20" name="Text 18"/>
          <p:cNvSpPr/>
          <p:nvPr/>
        </p:nvSpPr>
        <p:spPr>
          <a:xfrm>
            <a:off x="2331720" y="2286000"/>
            <a:ext cx="777240" cy="621792"/>
          </a:xfrm>
          <a:prstGeom prst="rect">
            <a:avLst/>
          </a:prstGeom>
          <a:noFill/>
          <a:ln/>
        </p:spPr>
        <p:txBody>
          <a:bodyPr wrap="square" lIns="0" tIns="0" rIns="0" bIns="0" rtlCol="0" anchor="ctr"/>
          <a:lstStyle/>
          <a:p>
            <a:pPr marL="0" indent="0" algn="ctr">
              <a:buNone/>
            </a:pPr>
            <a:r>
              <a:rPr lang="en-US" sz="950" dirty="0">
                <a:solidFill>
                  <a:srgbClr val="0D1B2A"/>
                </a:solidFill>
              </a:rPr>
              <a:t>Bỏ qua</a:t>
            </a:r>
            <a:endParaRPr lang="en-US" sz="950" dirty="0"/>
          </a:p>
          <a:p>
            <a:pPr marL="0" indent="0" algn="ctr">
              <a:buNone/>
            </a:pPr>
            <a:r>
              <a:rPr lang="en-US" sz="950" dirty="0">
                <a:solidFill>
                  <a:srgbClr val="0D1B2A"/>
                </a:solidFill>
              </a:rPr>
              <a:t>chu kỳ này</a:t>
            </a:r>
            <a:endParaRPr lang="en-US" sz="950" dirty="0"/>
          </a:p>
        </p:txBody>
      </p:sp>
      <p:sp>
        <p:nvSpPr>
          <p:cNvPr id="21" name="Text 19"/>
          <p:cNvSpPr/>
          <p:nvPr/>
        </p:nvSpPr>
        <p:spPr>
          <a:xfrm>
            <a:off x="457200" y="2999232"/>
            <a:ext cx="4754880" cy="1600200"/>
          </a:xfrm>
          <a:prstGeom prst="rect">
            <a:avLst/>
          </a:prstGeom>
          <a:noFill/>
          <a:ln/>
        </p:spPr>
        <p:txBody>
          <a:bodyPr wrap="square" lIns="0" tIns="0" rIns="0" bIns="0" rtlCol="0" anchor="ctr"/>
          <a:lstStyle/>
          <a:p>
            <a:pPr marL="0" indent="0">
              <a:buNone/>
            </a:pPr>
            <a:r>
              <a:rPr lang="en-US" sz="1050" dirty="0">
                <a:solidFill>
                  <a:srgbClr val="0D1B2A"/>
                </a:solidFill>
              </a:rPr>
              <a:t>• Sử dụng custom scaling metrics của HPA</a:t>
            </a:r>
            <a:endParaRPr lang="en-US" sz="1050" dirty="0"/>
          </a:p>
          <a:p>
            <a:pPr marL="0" indent="0">
              <a:buNone/>
            </a:pPr>
            <a:r>
              <a:rPr lang="en-US" sz="1050" dirty="0">
                <a:solidFill>
                  <a:srgbClr val="0D1B2A"/>
                </a:solidFill>
              </a:rPr>
              <a:t>• RNG được cân bằng 50/50</a:t>
            </a:r>
            <a:endParaRPr lang="en-US" sz="1050" dirty="0"/>
          </a:p>
          <a:p>
            <a:pPr marL="0" indent="0">
              <a:buNone/>
            </a:pPr>
            <a:r>
              <a:rPr lang="en-US" sz="1050" dirty="0">
                <a:solidFill>
                  <a:srgbClr val="0D1B2A"/>
                </a:solidFill>
              </a:rPr>
              <a:t>• Kẻ thù không dự đoán được quyết định scale</a:t>
            </a:r>
            <a:endParaRPr lang="en-US" sz="1050" dirty="0"/>
          </a:p>
          <a:p>
            <a:pPr marL="0" indent="0">
              <a:buNone/>
            </a:pPr>
            <a:r>
              <a:rPr lang="en-US" sz="1050" dirty="0">
                <a:solidFill>
                  <a:srgbClr val="0D1B2A"/>
                </a:solidFill>
              </a:rPr>
              <a:t>• Triển khai không cần sửa đổi Kubernetes core</a:t>
            </a:r>
            <a:endParaRPr lang="en-US" sz="1050" dirty="0"/>
          </a:p>
        </p:txBody>
      </p:sp>
      <p:sp>
        <p:nvSpPr>
          <p:cNvPr id="22" name="Shape 20"/>
          <p:cNvSpPr/>
          <p:nvPr/>
        </p:nvSpPr>
        <p:spPr>
          <a:xfrm>
            <a:off x="5532120" y="804672"/>
            <a:ext cx="3291840" cy="3950208"/>
          </a:xfrm>
          <a:prstGeom prst="rect">
            <a:avLst/>
          </a:prstGeom>
          <a:solidFill>
            <a:srgbClr val="0D1B2A"/>
          </a:solidFill>
          <a:ln w="9525">
            <a:solidFill>
              <a:srgbClr val="D4E3EE"/>
            </a:solidFill>
            <a:prstDash val="solid"/>
          </a:ln>
          <a:effectLst>
            <a:outerShdw blurRad="63500" dist="25400" dir="8100000" algn="bl" rotWithShape="0">
              <a:srgbClr val="000000">
                <a:alpha val="7000"/>
              </a:srgbClr>
            </a:outerShdw>
          </a:effectLst>
        </p:spPr>
      </p:sp>
      <p:sp>
        <p:nvSpPr>
          <p:cNvPr id="23" name="Text 21"/>
          <p:cNvSpPr/>
          <p:nvPr/>
        </p:nvSpPr>
        <p:spPr>
          <a:xfrm>
            <a:off x="5687568" y="868680"/>
            <a:ext cx="2999232" cy="320040"/>
          </a:xfrm>
          <a:prstGeom prst="rect">
            <a:avLst/>
          </a:prstGeom>
          <a:noFill/>
          <a:ln/>
        </p:spPr>
        <p:txBody>
          <a:bodyPr wrap="square" lIns="0" tIns="0" rIns="0" bIns="0" rtlCol="0" anchor="ctr"/>
          <a:lstStyle/>
          <a:p>
            <a:pPr marL="0" indent="0">
              <a:buNone/>
            </a:pPr>
            <a:r>
              <a:rPr lang="en-US" sz="1200" b="1" dirty="0">
                <a:solidFill>
                  <a:srgbClr val="0096B7"/>
                </a:solidFill>
              </a:rPr>
              <a:t>Kết quả phòng thủ [1]</a:t>
            </a:r>
            <a:endParaRPr lang="en-US" sz="1200" dirty="0"/>
          </a:p>
        </p:txBody>
      </p:sp>
      <p:sp>
        <p:nvSpPr>
          <p:cNvPr id="24" name="Text 22"/>
          <p:cNvSpPr/>
          <p:nvPr/>
        </p:nvSpPr>
        <p:spPr>
          <a:xfrm>
            <a:off x="6784848" y="1261872"/>
            <a:ext cx="914400" cy="274320"/>
          </a:xfrm>
          <a:prstGeom prst="rect">
            <a:avLst/>
          </a:prstGeom>
          <a:noFill/>
          <a:ln/>
        </p:spPr>
        <p:txBody>
          <a:bodyPr wrap="square" lIns="0" tIns="0" rIns="0" bIns="0" rtlCol="0" anchor="ctr"/>
          <a:lstStyle/>
          <a:p>
            <a:pPr marL="0" indent="0" algn="ctr">
              <a:buNone/>
            </a:pPr>
            <a:r>
              <a:rPr lang="en-US" sz="950" b="1" dirty="0">
                <a:solidFill>
                  <a:srgbClr val="64748B"/>
                </a:solidFill>
              </a:rPr>
              <a:t>Trước</a:t>
            </a:r>
            <a:endParaRPr lang="en-US" sz="950" dirty="0"/>
          </a:p>
        </p:txBody>
      </p:sp>
      <p:sp>
        <p:nvSpPr>
          <p:cNvPr id="25" name="Text 23"/>
          <p:cNvSpPr/>
          <p:nvPr/>
        </p:nvSpPr>
        <p:spPr>
          <a:xfrm>
            <a:off x="7726680" y="1261872"/>
            <a:ext cx="1005840" cy="274320"/>
          </a:xfrm>
          <a:prstGeom prst="rect">
            <a:avLst/>
          </a:prstGeom>
          <a:noFill/>
          <a:ln/>
        </p:spPr>
        <p:txBody>
          <a:bodyPr wrap="square" lIns="0" tIns="0" rIns="0" bIns="0" rtlCol="0" anchor="ctr"/>
          <a:lstStyle/>
          <a:p>
            <a:pPr marL="0" indent="0" algn="ctr">
              <a:buNone/>
            </a:pPr>
            <a:r>
              <a:rPr lang="en-US" sz="950" b="1" dirty="0">
                <a:solidFill>
                  <a:srgbClr val="0096B7"/>
                </a:solidFill>
              </a:rPr>
              <a:t>Sau RNG</a:t>
            </a:r>
            <a:endParaRPr lang="en-US" sz="950" dirty="0"/>
          </a:p>
        </p:txBody>
      </p:sp>
      <p:sp>
        <p:nvSpPr>
          <p:cNvPr id="26" name="Shape 24"/>
          <p:cNvSpPr/>
          <p:nvPr/>
        </p:nvSpPr>
        <p:spPr>
          <a:xfrm>
            <a:off x="5687568" y="1600200"/>
            <a:ext cx="2999232" cy="749808"/>
          </a:xfrm>
          <a:prstGeom prst="rect">
            <a:avLst/>
          </a:prstGeom>
          <a:solidFill>
            <a:srgbClr val="162435"/>
          </a:solidFill>
          <a:ln w="12700">
            <a:solidFill>
              <a:srgbClr val="2A3F55"/>
            </a:solidFill>
            <a:prstDash val="solid"/>
          </a:ln>
        </p:spPr>
      </p:sp>
      <p:sp>
        <p:nvSpPr>
          <p:cNvPr id="27" name="Text 25"/>
          <p:cNvSpPr/>
          <p:nvPr/>
        </p:nvSpPr>
        <p:spPr>
          <a:xfrm>
            <a:off x="5779008" y="1645920"/>
            <a:ext cx="2816352" cy="292608"/>
          </a:xfrm>
          <a:prstGeom prst="rect">
            <a:avLst/>
          </a:prstGeom>
          <a:noFill/>
          <a:ln/>
        </p:spPr>
        <p:txBody>
          <a:bodyPr wrap="square" lIns="0" tIns="0" rIns="0" bIns="0" rtlCol="0" anchor="ctr"/>
          <a:lstStyle/>
          <a:p>
            <a:pPr marL="0" indent="0">
              <a:buNone/>
            </a:pPr>
            <a:r>
              <a:rPr lang="en-US" sz="1000" dirty="0">
                <a:solidFill>
                  <a:srgbClr val="B8D4E8"/>
                </a:solidFill>
              </a:rPr>
              <a:t>Chi phí baseline</a:t>
            </a:r>
            <a:endParaRPr lang="en-US" sz="1000" dirty="0"/>
          </a:p>
        </p:txBody>
      </p:sp>
      <p:sp>
        <p:nvSpPr>
          <p:cNvPr id="28" name="Text 26"/>
          <p:cNvSpPr/>
          <p:nvPr/>
        </p:nvSpPr>
        <p:spPr>
          <a:xfrm>
            <a:off x="6720840" y="1984248"/>
            <a:ext cx="1005840" cy="292608"/>
          </a:xfrm>
          <a:prstGeom prst="rect">
            <a:avLst/>
          </a:prstGeom>
          <a:noFill/>
          <a:ln/>
        </p:spPr>
        <p:txBody>
          <a:bodyPr wrap="square" lIns="0" tIns="0" rIns="0" bIns="0" rtlCol="0" anchor="ctr"/>
          <a:lstStyle/>
          <a:p>
            <a:pPr marL="0" indent="0" algn="ctr">
              <a:buNone/>
            </a:pPr>
            <a:r>
              <a:rPr lang="en-US" sz="1200" b="1" dirty="0">
                <a:solidFill>
                  <a:srgbClr val="64748B"/>
                </a:solidFill>
              </a:rPr>
              <a:t>100%</a:t>
            </a:r>
            <a:endParaRPr lang="en-US" sz="1200" dirty="0"/>
          </a:p>
        </p:txBody>
      </p:sp>
      <p:sp>
        <p:nvSpPr>
          <p:cNvPr id="29" name="Text 27"/>
          <p:cNvSpPr/>
          <p:nvPr/>
        </p:nvSpPr>
        <p:spPr>
          <a:xfrm>
            <a:off x="7662672" y="1984248"/>
            <a:ext cx="1005840" cy="292608"/>
          </a:xfrm>
          <a:prstGeom prst="rect">
            <a:avLst/>
          </a:prstGeom>
          <a:noFill/>
          <a:ln/>
        </p:spPr>
        <p:txBody>
          <a:bodyPr wrap="square" lIns="0" tIns="0" rIns="0" bIns="0" rtlCol="0" anchor="ctr"/>
          <a:lstStyle/>
          <a:p>
            <a:pPr marL="0" indent="0" algn="ctr">
              <a:buNone/>
            </a:pPr>
            <a:r>
              <a:rPr lang="en-US" sz="1200" b="1" dirty="0">
                <a:solidFill>
                  <a:srgbClr val="0096B7"/>
                </a:solidFill>
              </a:rPr>
              <a:t>90.4%</a:t>
            </a:r>
            <a:endParaRPr lang="en-US" sz="1200" dirty="0"/>
          </a:p>
        </p:txBody>
      </p:sp>
      <p:sp>
        <p:nvSpPr>
          <p:cNvPr id="30" name="Shape 28"/>
          <p:cNvSpPr/>
          <p:nvPr/>
        </p:nvSpPr>
        <p:spPr>
          <a:xfrm>
            <a:off x="5687568" y="2468880"/>
            <a:ext cx="2999232" cy="749808"/>
          </a:xfrm>
          <a:prstGeom prst="rect">
            <a:avLst/>
          </a:prstGeom>
          <a:solidFill>
            <a:srgbClr val="162435"/>
          </a:solidFill>
          <a:ln w="12700">
            <a:solidFill>
              <a:srgbClr val="2A3F55"/>
            </a:solidFill>
            <a:prstDash val="solid"/>
          </a:ln>
        </p:spPr>
      </p:sp>
      <p:sp>
        <p:nvSpPr>
          <p:cNvPr id="31" name="Text 29"/>
          <p:cNvSpPr/>
          <p:nvPr/>
        </p:nvSpPr>
        <p:spPr>
          <a:xfrm>
            <a:off x="5779008" y="2514600"/>
            <a:ext cx="2816352" cy="292608"/>
          </a:xfrm>
          <a:prstGeom prst="rect">
            <a:avLst/>
          </a:prstGeom>
          <a:noFill/>
          <a:ln/>
        </p:spPr>
        <p:txBody>
          <a:bodyPr wrap="square" lIns="0" tIns="0" rIns="0" bIns="0" rtlCol="0" anchor="ctr"/>
          <a:lstStyle/>
          <a:p>
            <a:pPr marL="0" indent="0">
              <a:buNone/>
            </a:pPr>
            <a:r>
              <a:rPr lang="en-US" sz="1000" dirty="0">
                <a:solidFill>
                  <a:srgbClr val="B8D4E8"/>
                </a:solidFill>
              </a:rPr>
              <a:t>SUs (K=5)</a:t>
            </a:r>
            <a:endParaRPr lang="en-US" sz="1000" dirty="0"/>
          </a:p>
        </p:txBody>
      </p:sp>
      <p:sp>
        <p:nvSpPr>
          <p:cNvPr id="32" name="Text 30"/>
          <p:cNvSpPr/>
          <p:nvPr/>
        </p:nvSpPr>
        <p:spPr>
          <a:xfrm>
            <a:off x="6720840" y="2852928"/>
            <a:ext cx="1005840" cy="292608"/>
          </a:xfrm>
          <a:prstGeom prst="rect">
            <a:avLst/>
          </a:prstGeom>
          <a:noFill/>
          <a:ln/>
        </p:spPr>
        <p:txBody>
          <a:bodyPr wrap="square" lIns="0" tIns="0" rIns="0" bIns="0" rtlCol="0" anchor="ctr"/>
          <a:lstStyle/>
          <a:p>
            <a:pPr marL="0" indent="0" algn="ctr">
              <a:buNone/>
            </a:pPr>
            <a:r>
              <a:rPr lang="en-US" sz="1200" b="1" dirty="0">
                <a:solidFill>
                  <a:srgbClr val="64748B"/>
                </a:solidFill>
              </a:rPr>
              <a:t>5.517</a:t>
            </a:r>
            <a:endParaRPr lang="en-US" sz="1200" dirty="0"/>
          </a:p>
        </p:txBody>
      </p:sp>
      <p:sp>
        <p:nvSpPr>
          <p:cNvPr id="33" name="Text 31"/>
          <p:cNvSpPr/>
          <p:nvPr/>
        </p:nvSpPr>
        <p:spPr>
          <a:xfrm>
            <a:off x="7662672" y="2852928"/>
            <a:ext cx="1005840" cy="292608"/>
          </a:xfrm>
          <a:prstGeom prst="rect">
            <a:avLst/>
          </a:prstGeom>
          <a:noFill/>
          <a:ln/>
        </p:spPr>
        <p:txBody>
          <a:bodyPr wrap="square" lIns="0" tIns="0" rIns="0" bIns="0" rtlCol="0" anchor="ctr"/>
          <a:lstStyle/>
          <a:p>
            <a:pPr marL="0" indent="0" algn="ctr">
              <a:buNone/>
            </a:pPr>
            <a:r>
              <a:rPr lang="en-US" sz="1200" b="1" dirty="0">
                <a:solidFill>
                  <a:srgbClr val="0096B7"/>
                </a:solidFill>
              </a:rPr>
              <a:t>5.105</a:t>
            </a:r>
            <a:endParaRPr lang="en-US" sz="1200" dirty="0"/>
          </a:p>
        </p:txBody>
      </p:sp>
      <p:sp>
        <p:nvSpPr>
          <p:cNvPr id="34" name="Shape 32"/>
          <p:cNvSpPr/>
          <p:nvPr/>
        </p:nvSpPr>
        <p:spPr>
          <a:xfrm>
            <a:off x="5687568" y="3337560"/>
            <a:ext cx="2999232" cy="749808"/>
          </a:xfrm>
          <a:prstGeom prst="rect">
            <a:avLst/>
          </a:prstGeom>
          <a:solidFill>
            <a:srgbClr val="162435"/>
          </a:solidFill>
          <a:ln w="12700">
            <a:solidFill>
              <a:srgbClr val="2A3F55"/>
            </a:solidFill>
            <a:prstDash val="solid"/>
          </a:ln>
        </p:spPr>
      </p:sp>
      <p:sp>
        <p:nvSpPr>
          <p:cNvPr id="35" name="Text 33"/>
          <p:cNvSpPr/>
          <p:nvPr/>
        </p:nvSpPr>
        <p:spPr>
          <a:xfrm>
            <a:off x="5779008" y="3383280"/>
            <a:ext cx="2816352" cy="292608"/>
          </a:xfrm>
          <a:prstGeom prst="rect">
            <a:avLst/>
          </a:prstGeom>
          <a:noFill/>
          <a:ln/>
        </p:spPr>
        <p:txBody>
          <a:bodyPr wrap="square" lIns="0" tIns="0" rIns="0" bIns="0" rtlCol="0" anchor="ctr"/>
          <a:lstStyle/>
          <a:p>
            <a:pPr marL="0" indent="0">
              <a:buNone/>
            </a:pPr>
            <a:r>
              <a:rPr lang="en-US" sz="1000" dirty="0">
                <a:solidFill>
                  <a:srgbClr val="B8D4E8"/>
                </a:solidFill>
              </a:rPr>
              <a:t>Request drop rate</a:t>
            </a:r>
            <a:endParaRPr lang="en-US" sz="1000" dirty="0"/>
          </a:p>
        </p:txBody>
      </p:sp>
      <p:sp>
        <p:nvSpPr>
          <p:cNvPr id="36" name="Text 34"/>
          <p:cNvSpPr/>
          <p:nvPr/>
        </p:nvSpPr>
        <p:spPr>
          <a:xfrm>
            <a:off x="6720840" y="3721608"/>
            <a:ext cx="1005840" cy="292608"/>
          </a:xfrm>
          <a:prstGeom prst="rect">
            <a:avLst/>
          </a:prstGeom>
          <a:noFill/>
          <a:ln/>
        </p:spPr>
        <p:txBody>
          <a:bodyPr wrap="square" lIns="0" tIns="0" rIns="0" bIns="0" rtlCol="0" anchor="ctr"/>
          <a:lstStyle/>
          <a:p>
            <a:pPr marL="0" indent="0" algn="ctr">
              <a:buNone/>
            </a:pPr>
            <a:r>
              <a:rPr lang="en-US" sz="1200" b="1" dirty="0">
                <a:solidFill>
                  <a:srgbClr val="64748B"/>
                </a:solidFill>
              </a:rPr>
              <a:t>~0%</a:t>
            </a:r>
            <a:endParaRPr lang="en-US" sz="1200" dirty="0"/>
          </a:p>
        </p:txBody>
      </p:sp>
      <p:sp>
        <p:nvSpPr>
          <p:cNvPr id="37" name="Text 35"/>
          <p:cNvSpPr/>
          <p:nvPr/>
        </p:nvSpPr>
        <p:spPr>
          <a:xfrm>
            <a:off x="7662672" y="3721608"/>
            <a:ext cx="1005840" cy="292608"/>
          </a:xfrm>
          <a:prstGeom prst="rect">
            <a:avLst/>
          </a:prstGeom>
          <a:noFill/>
          <a:ln/>
        </p:spPr>
        <p:txBody>
          <a:bodyPr wrap="square" lIns="0" tIns="0" rIns="0" bIns="0" rtlCol="0" anchor="ctr"/>
          <a:lstStyle/>
          <a:p>
            <a:pPr marL="0" indent="0" algn="ctr">
              <a:buNone/>
            </a:pPr>
            <a:r>
              <a:rPr lang="en-US" sz="1200" b="1" dirty="0">
                <a:solidFill>
                  <a:srgbClr val="0096B7"/>
                </a:solidFill>
              </a:rPr>
              <a:t>~0%</a:t>
            </a:r>
            <a:endParaRPr lang="en-US" sz="1200" dirty="0"/>
          </a:p>
        </p:txBody>
      </p:sp>
      <p:sp>
        <p:nvSpPr>
          <p:cNvPr id="38" name="Text 36"/>
          <p:cNvSpPr/>
          <p:nvPr/>
        </p:nvSpPr>
        <p:spPr>
          <a:xfrm>
            <a:off x="5687568" y="4224528"/>
            <a:ext cx="2999232" cy="475488"/>
          </a:xfrm>
          <a:prstGeom prst="rect">
            <a:avLst/>
          </a:prstGeom>
          <a:noFill/>
          <a:ln/>
        </p:spPr>
        <p:txBody>
          <a:bodyPr wrap="square" lIns="0" tIns="0" rIns="0" bIns="0" rtlCol="0" anchor="ctr"/>
          <a:lstStyle/>
          <a:p>
            <a:pPr marL="0" indent="0">
              <a:buNone/>
            </a:pPr>
            <a:r>
              <a:rPr lang="en-US" sz="950" dirty="0">
                <a:solidFill>
                  <a:srgbClr val="F47B20"/>
                </a:solidFill>
              </a:rPr>
              <a:t>⚠  K=20: lưu lượng lớn có thể vượt qua</a:t>
            </a:r>
            <a:endParaRPr lang="en-US" sz="950" dirty="0"/>
          </a:p>
          <a:p>
            <a:pPr marL="0" indent="0">
              <a:buNone/>
            </a:pPr>
            <a:r>
              <a:rPr lang="en-US" sz="950" dirty="0">
                <a:solidFill>
                  <a:srgbClr val="F47B20"/>
                </a:solidFill>
              </a:rPr>
              <a:t>nhưng K=5/10: phòng thủ hiệu quả</a:t>
            </a:r>
            <a:endParaRPr lang="en-US" sz="950"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F47B20"/>
          </a:solidFill>
          <a:ln w="12700">
            <a:solidFill>
              <a:srgbClr val="F47B20"/>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DEMO · Kiến trúc môi trường </a:t>
            </a:r>
            <a:r>
              <a:rPr lang="en-US" sz="2200" b="1" dirty="0" err="1">
                <a:solidFill>
                  <a:srgbClr val="FFFFFF"/>
                </a:solidFill>
              </a:rPr>
              <a:t>thử</a:t>
            </a:r>
            <a:r>
              <a:rPr lang="en-US" sz="2200" b="1" dirty="0">
                <a:solidFill>
                  <a:srgbClr val="FFFFFF"/>
                </a:solidFill>
              </a:rPr>
              <a:t> </a:t>
            </a:r>
            <a:r>
              <a:rPr lang="en-US" sz="2200" b="1" dirty="0" err="1" smtClean="0">
                <a:solidFill>
                  <a:srgbClr val="FFFFFF"/>
                </a:solidFill>
              </a:rPr>
              <a:t>nghiệm</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8595360" cy="230428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10" name="Text 8"/>
          <p:cNvSpPr/>
          <p:nvPr/>
        </p:nvSpPr>
        <p:spPr>
          <a:xfrm>
            <a:off x="457200" y="896112"/>
            <a:ext cx="8229600" cy="1005840"/>
          </a:xfrm>
          <a:prstGeom prst="rect">
            <a:avLst/>
          </a:prstGeom>
          <a:noFill/>
          <a:ln/>
        </p:spPr>
        <p:txBody>
          <a:bodyPr wrap="square" lIns="0" tIns="0" rIns="0" bIns="0" rtlCol="0" anchor="b"/>
          <a:lstStyle/>
          <a:p>
            <a:pPr marL="0" indent="0" algn="ctr">
              <a:buNone/>
            </a:pPr>
            <a:endParaRPr lang="en-US" sz="1300" dirty="0"/>
          </a:p>
        </p:txBody>
      </p:sp>
      <p:sp>
        <p:nvSpPr>
          <p:cNvPr id="12" name="Shape 10"/>
          <p:cNvSpPr/>
          <p:nvPr/>
        </p:nvSpPr>
        <p:spPr>
          <a:xfrm>
            <a:off x="274320" y="3218688"/>
            <a:ext cx="2029968" cy="155448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13" name="Shape 11"/>
          <p:cNvSpPr/>
          <p:nvPr/>
        </p:nvSpPr>
        <p:spPr>
          <a:xfrm>
            <a:off x="274320" y="3218688"/>
            <a:ext cx="54864" cy="1554480"/>
          </a:xfrm>
          <a:prstGeom prst="rect">
            <a:avLst/>
          </a:prstGeom>
          <a:solidFill>
            <a:srgbClr val="0D1B2A"/>
          </a:solidFill>
          <a:ln w="12700">
            <a:solidFill>
              <a:srgbClr val="0D1B2A"/>
            </a:solidFill>
            <a:prstDash val="solid"/>
          </a:ln>
        </p:spPr>
      </p:sp>
      <p:sp>
        <p:nvSpPr>
          <p:cNvPr id="14" name="Text 12"/>
          <p:cNvSpPr/>
          <p:nvPr/>
        </p:nvSpPr>
        <p:spPr>
          <a:xfrm>
            <a:off x="384048" y="3264408"/>
            <a:ext cx="1828800" cy="384048"/>
          </a:xfrm>
          <a:prstGeom prst="rect">
            <a:avLst/>
          </a:prstGeom>
          <a:noFill/>
          <a:ln/>
        </p:spPr>
        <p:txBody>
          <a:bodyPr wrap="square" lIns="0" tIns="0" rIns="0" bIns="0" rtlCol="0" anchor="ctr"/>
          <a:lstStyle/>
          <a:p>
            <a:pPr marL="0" indent="0">
              <a:buNone/>
            </a:pPr>
            <a:r>
              <a:rPr lang="en-US" sz="1050" b="1" dirty="0">
                <a:solidFill>
                  <a:srgbClr val="0D1B2A"/>
                </a:solidFill>
              </a:rPr>
              <a:t>Kind Cluster</a:t>
            </a:r>
            <a:endParaRPr lang="en-US" sz="1050" dirty="0"/>
          </a:p>
        </p:txBody>
      </p:sp>
      <p:sp>
        <p:nvSpPr>
          <p:cNvPr id="15" name="Text 13"/>
          <p:cNvSpPr/>
          <p:nvPr/>
        </p:nvSpPr>
        <p:spPr>
          <a:xfrm>
            <a:off x="384048" y="3675888"/>
            <a:ext cx="1828800" cy="1024128"/>
          </a:xfrm>
          <a:prstGeom prst="rect">
            <a:avLst/>
          </a:prstGeom>
          <a:noFill/>
          <a:ln/>
        </p:spPr>
        <p:txBody>
          <a:bodyPr wrap="square" lIns="0" tIns="0" rIns="0" bIns="0" rtlCol="0" anchor="ctr"/>
          <a:lstStyle/>
          <a:p>
            <a:pPr marL="0" indent="0">
              <a:buNone/>
            </a:pPr>
            <a:r>
              <a:rPr lang="en-US" sz="950" dirty="0">
                <a:solidFill>
                  <a:srgbClr val="0D1B2A"/>
                </a:solidFill>
              </a:rPr>
              <a:t>1 control-plane</a:t>
            </a:r>
            <a:endParaRPr lang="en-US" sz="950" dirty="0"/>
          </a:p>
          <a:p>
            <a:pPr marL="0" indent="0">
              <a:buNone/>
            </a:pPr>
            <a:r>
              <a:rPr lang="en-US" sz="950" dirty="0">
                <a:solidFill>
                  <a:srgbClr val="0D1B2A"/>
                </a:solidFill>
              </a:rPr>
              <a:t>+ 2 workers</a:t>
            </a:r>
            <a:endParaRPr lang="en-US" sz="950" dirty="0"/>
          </a:p>
          <a:p>
            <a:pPr marL="0" indent="0">
              <a:buNone/>
            </a:pPr>
            <a:r>
              <a:rPr lang="en-US" sz="950" dirty="0">
                <a:solidFill>
                  <a:srgbClr val="0D1B2A"/>
                </a:solidFill>
              </a:rPr>
              <a:t>(Docker containers)</a:t>
            </a:r>
            <a:endParaRPr lang="en-US" sz="950" dirty="0"/>
          </a:p>
        </p:txBody>
      </p:sp>
      <p:sp>
        <p:nvSpPr>
          <p:cNvPr id="16" name="Shape 14"/>
          <p:cNvSpPr/>
          <p:nvPr/>
        </p:nvSpPr>
        <p:spPr>
          <a:xfrm>
            <a:off x="2450592" y="3218688"/>
            <a:ext cx="2029968" cy="155448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17" name="Shape 15"/>
          <p:cNvSpPr/>
          <p:nvPr/>
        </p:nvSpPr>
        <p:spPr>
          <a:xfrm>
            <a:off x="2450592" y="3218688"/>
            <a:ext cx="54864" cy="1554480"/>
          </a:xfrm>
          <a:prstGeom prst="rect">
            <a:avLst/>
          </a:prstGeom>
          <a:solidFill>
            <a:srgbClr val="0096B7"/>
          </a:solidFill>
          <a:ln w="12700">
            <a:solidFill>
              <a:srgbClr val="0096B7"/>
            </a:solidFill>
            <a:prstDash val="solid"/>
          </a:ln>
        </p:spPr>
      </p:sp>
      <p:sp>
        <p:nvSpPr>
          <p:cNvPr id="18" name="Text 16"/>
          <p:cNvSpPr/>
          <p:nvPr/>
        </p:nvSpPr>
        <p:spPr>
          <a:xfrm>
            <a:off x="457200" y="868680"/>
            <a:ext cx="1828800" cy="384048"/>
          </a:xfrm>
          <a:prstGeom prst="rect">
            <a:avLst/>
          </a:prstGeom>
          <a:noFill/>
          <a:ln/>
        </p:spPr>
        <p:txBody>
          <a:bodyPr wrap="square" lIns="0" tIns="0" rIns="0" bIns="0" rtlCol="0" anchor="ctr"/>
          <a:lstStyle/>
          <a:p>
            <a:pPr marL="0" indent="0">
              <a:buNone/>
            </a:pPr>
            <a:r>
              <a:rPr lang="en-US" sz="1050" b="1" dirty="0" err="1" smtClean="0"/>
              <a:t>Sơ</a:t>
            </a:r>
            <a:r>
              <a:rPr lang="en-US" sz="1050" b="1" dirty="0" smtClean="0"/>
              <a:t> </a:t>
            </a:r>
            <a:r>
              <a:rPr lang="en-US" sz="1050" b="1" dirty="0" err="1" smtClean="0"/>
              <a:t>đồ</a:t>
            </a:r>
            <a:r>
              <a:rPr lang="en-US" sz="1050" b="1" dirty="0" smtClean="0"/>
              <a:t> </a:t>
            </a:r>
            <a:r>
              <a:rPr lang="en-US" sz="1050" b="1" dirty="0" err="1" smtClean="0"/>
              <a:t>kiến</a:t>
            </a:r>
            <a:r>
              <a:rPr lang="en-US" sz="1050" b="1" dirty="0" smtClean="0"/>
              <a:t> </a:t>
            </a:r>
            <a:r>
              <a:rPr lang="en-US" sz="1050" b="1" dirty="0" err="1" smtClean="0"/>
              <a:t>trúc</a:t>
            </a:r>
            <a:r>
              <a:rPr lang="en-US" sz="1050" b="1" dirty="0" smtClean="0"/>
              <a:t> </a:t>
            </a:r>
            <a:r>
              <a:rPr lang="en-US" sz="1050" b="1" dirty="0" err="1" smtClean="0"/>
              <a:t>tổng</a:t>
            </a:r>
            <a:r>
              <a:rPr lang="en-US" sz="1050" b="1" dirty="0" smtClean="0"/>
              <a:t> </a:t>
            </a:r>
            <a:r>
              <a:rPr lang="en-US" sz="1050" b="1" dirty="0" err="1" smtClean="0"/>
              <a:t>thể</a:t>
            </a:r>
            <a:endParaRPr lang="en-US" sz="1050" dirty="0"/>
          </a:p>
        </p:txBody>
      </p:sp>
      <p:sp>
        <p:nvSpPr>
          <p:cNvPr id="19" name="Text 17"/>
          <p:cNvSpPr/>
          <p:nvPr/>
        </p:nvSpPr>
        <p:spPr>
          <a:xfrm>
            <a:off x="2560320" y="3675888"/>
            <a:ext cx="1828800" cy="1024128"/>
          </a:xfrm>
          <a:prstGeom prst="rect">
            <a:avLst/>
          </a:prstGeom>
          <a:noFill/>
          <a:ln/>
        </p:spPr>
        <p:txBody>
          <a:bodyPr wrap="square" lIns="0" tIns="0" rIns="0" bIns="0" rtlCol="0" anchor="ctr"/>
          <a:lstStyle/>
          <a:p>
            <a:pPr marL="0" indent="0">
              <a:buNone/>
            </a:pPr>
            <a:r>
              <a:rPr lang="en-US" sz="950" dirty="0">
                <a:solidFill>
                  <a:srgbClr val="0D1B2A"/>
                </a:solidFill>
              </a:rPr>
              <a:t>+</a:t>
            </a:r>
            <a:r>
              <a:rPr lang="en-US" sz="950" dirty="0" smtClean="0">
                <a:solidFill>
                  <a:srgbClr val="0D1B2A"/>
                </a:solidFill>
              </a:rPr>
              <a:t> </a:t>
            </a:r>
            <a:r>
              <a:rPr lang="en-US" sz="950" dirty="0">
                <a:solidFill>
                  <a:srgbClr val="0D1B2A"/>
                </a:solidFill>
              </a:rPr>
              <a:t>endpoints:</a:t>
            </a:r>
            <a:endParaRPr lang="en-US" sz="950" dirty="0"/>
          </a:p>
          <a:p>
            <a:pPr marL="0" indent="0">
              <a:buNone/>
            </a:pPr>
            <a:r>
              <a:rPr lang="en-US" sz="950" dirty="0">
                <a:solidFill>
                  <a:srgbClr val="0D1B2A"/>
                </a:solidFill>
              </a:rPr>
              <a:t>/buy </a:t>
            </a:r>
            <a:r>
              <a:rPr lang="en-US" sz="950" dirty="0" smtClean="0">
                <a:solidFill>
                  <a:srgbClr val="0D1B2A"/>
                </a:solidFill>
              </a:rPr>
              <a:t>– </a:t>
            </a:r>
            <a:r>
              <a:rPr lang="en-US" sz="950" dirty="0" err="1" smtClean="0">
                <a:solidFill>
                  <a:srgbClr val="0D1B2A"/>
                </a:solidFill>
              </a:rPr>
              <a:t>Vòng</a:t>
            </a:r>
            <a:r>
              <a:rPr lang="en-US" sz="950" dirty="0" smtClean="0">
                <a:solidFill>
                  <a:srgbClr val="0D1B2A"/>
                </a:solidFill>
              </a:rPr>
              <a:t> </a:t>
            </a:r>
            <a:r>
              <a:rPr lang="en-US" sz="950" dirty="0" err="1" smtClean="0">
                <a:solidFill>
                  <a:srgbClr val="0D1B2A"/>
                </a:solidFill>
              </a:rPr>
              <a:t>lặp</a:t>
            </a:r>
            <a:r>
              <a:rPr lang="en-US" sz="950" dirty="0" smtClean="0">
                <a:solidFill>
                  <a:srgbClr val="0D1B2A"/>
                </a:solidFill>
              </a:rPr>
              <a:t> </a:t>
            </a:r>
            <a:r>
              <a:rPr lang="en-US" sz="950" dirty="0" err="1" smtClean="0">
                <a:solidFill>
                  <a:srgbClr val="0D1B2A"/>
                </a:solidFill>
              </a:rPr>
              <a:t>tính</a:t>
            </a:r>
            <a:r>
              <a:rPr lang="en-US" sz="950" dirty="0" smtClean="0">
                <a:solidFill>
                  <a:srgbClr val="0D1B2A"/>
                </a:solidFill>
              </a:rPr>
              <a:t> </a:t>
            </a:r>
            <a:r>
              <a:rPr lang="en-US" sz="950" dirty="0" err="1" smtClean="0">
                <a:solidFill>
                  <a:srgbClr val="0D1B2A"/>
                </a:solidFill>
              </a:rPr>
              <a:t>toán</a:t>
            </a:r>
            <a:r>
              <a:rPr lang="en-US" sz="950" dirty="0" smtClean="0">
                <a:solidFill>
                  <a:srgbClr val="0D1B2A"/>
                </a:solidFill>
              </a:rPr>
              <a:t>, </a:t>
            </a:r>
            <a:r>
              <a:rPr lang="en-US" sz="950" dirty="0" err="1" smtClean="0">
                <a:solidFill>
                  <a:srgbClr val="0D1B2A"/>
                </a:solidFill>
              </a:rPr>
              <a:t>tiêu</a:t>
            </a:r>
            <a:r>
              <a:rPr lang="en-US" sz="950" dirty="0" smtClean="0">
                <a:solidFill>
                  <a:srgbClr val="0D1B2A"/>
                </a:solidFill>
              </a:rPr>
              <a:t> </a:t>
            </a:r>
            <a:r>
              <a:rPr lang="en-US" sz="950" dirty="0" err="1" smtClean="0">
                <a:solidFill>
                  <a:srgbClr val="0D1B2A"/>
                </a:solidFill>
              </a:rPr>
              <a:t>hao</a:t>
            </a:r>
            <a:r>
              <a:rPr lang="en-US" sz="950" dirty="0" smtClean="0">
                <a:solidFill>
                  <a:srgbClr val="0D1B2A"/>
                </a:solidFill>
              </a:rPr>
              <a:t> CPU </a:t>
            </a:r>
            <a:r>
              <a:rPr lang="en-US" sz="950" dirty="0" err="1" smtClean="0">
                <a:solidFill>
                  <a:srgbClr val="0D1B2A"/>
                </a:solidFill>
              </a:rPr>
              <a:t>cao</a:t>
            </a:r>
            <a:endParaRPr lang="en-US" sz="950" dirty="0"/>
          </a:p>
          <a:p>
            <a:pPr marL="0" indent="0">
              <a:buNone/>
            </a:pPr>
            <a:r>
              <a:rPr lang="en-US" sz="950" dirty="0">
                <a:solidFill>
                  <a:srgbClr val="0D1B2A"/>
                </a:solidFill>
              </a:rPr>
              <a:t>/</a:t>
            </a:r>
            <a:r>
              <a:rPr lang="en-US" sz="950" dirty="0" smtClean="0">
                <a:solidFill>
                  <a:srgbClr val="0D1B2A"/>
                </a:solidFill>
              </a:rPr>
              <a:t>browse</a:t>
            </a:r>
            <a:r>
              <a:rPr lang="en-US" sz="950" dirty="0">
                <a:solidFill>
                  <a:srgbClr val="0D1B2A"/>
                </a:solidFill>
              </a:rPr>
              <a:t> </a:t>
            </a:r>
            <a:r>
              <a:rPr lang="en-US" sz="950" dirty="0" smtClean="0">
                <a:solidFill>
                  <a:srgbClr val="0D1B2A"/>
                </a:solidFill>
              </a:rPr>
              <a:t>– HTML </a:t>
            </a:r>
            <a:r>
              <a:rPr lang="en-US" sz="950" dirty="0" err="1" smtClean="0">
                <a:solidFill>
                  <a:srgbClr val="0D1B2A"/>
                </a:solidFill>
              </a:rPr>
              <a:t>tĩnh</a:t>
            </a:r>
            <a:r>
              <a:rPr lang="en-US" sz="950" dirty="0" smtClean="0">
                <a:solidFill>
                  <a:srgbClr val="0D1B2A"/>
                </a:solidFill>
              </a:rPr>
              <a:t>, </a:t>
            </a:r>
            <a:r>
              <a:rPr lang="en-US" sz="950" dirty="0" err="1" smtClean="0">
                <a:solidFill>
                  <a:srgbClr val="0D1B2A"/>
                </a:solidFill>
              </a:rPr>
              <a:t>tiêu</a:t>
            </a:r>
            <a:r>
              <a:rPr lang="en-US" sz="950" dirty="0" smtClean="0">
                <a:solidFill>
                  <a:srgbClr val="0D1B2A"/>
                </a:solidFill>
              </a:rPr>
              <a:t> </a:t>
            </a:r>
            <a:r>
              <a:rPr lang="en-US" sz="950" dirty="0" err="1" smtClean="0">
                <a:solidFill>
                  <a:srgbClr val="0D1B2A"/>
                </a:solidFill>
              </a:rPr>
              <a:t>hao</a:t>
            </a:r>
            <a:r>
              <a:rPr lang="en-US" sz="950" dirty="0" smtClean="0">
                <a:solidFill>
                  <a:srgbClr val="0D1B2A"/>
                </a:solidFill>
              </a:rPr>
              <a:t> </a:t>
            </a:r>
            <a:r>
              <a:rPr lang="en-US" sz="950" dirty="0" err="1" smtClean="0">
                <a:solidFill>
                  <a:srgbClr val="0D1B2A"/>
                </a:solidFill>
              </a:rPr>
              <a:t>nhẹ</a:t>
            </a:r>
            <a:endParaRPr lang="en-US" sz="950" dirty="0"/>
          </a:p>
        </p:txBody>
      </p:sp>
      <p:sp>
        <p:nvSpPr>
          <p:cNvPr id="20" name="Shape 18"/>
          <p:cNvSpPr/>
          <p:nvPr/>
        </p:nvSpPr>
        <p:spPr>
          <a:xfrm>
            <a:off x="4626864" y="3218688"/>
            <a:ext cx="2029968" cy="155448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1" name="Shape 19"/>
          <p:cNvSpPr/>
          <p:nvPr/>
        </p:nvSpPr>
        <p:spPr>
          <a:xfrm>
            <a:off x="4626864" y="3218688"/>
            <a:ext cx="54864" cy="1554480"/>
          </a:xfrm>
          <a:prstGeom prst="rect">
            <a:avLst/>
          </a:prstGeom>
          <a:solidFill>
            <a:srgbClr val="F47B20"/>
          </a:solidFill>
          <a:ln w="12700">
            <a:solidFill>
              <a:srgbClr val="F47B20"/>
            </a:solidFill>
            <a:prstDash val="solid"/>
          </a:ln>
        </p:spPr>
      </p:sp>
      <p:sp>
        <p:nvSpPr>
          <p:cNvPr id="22" name="Text 20"/>
          <p:cNvSpPr/>
          <p:nvPr/>
        </p:nvSpPr>
        <p:spPr>
          <a:xfrm>
            <a:off x="4736592" y="3264408"/>
            <a:ext cx="1828800" cy="384048"/>
          </a:xfrm>
          <a:prstGeom prst="rect">
            <a:avLst/>
          </a:prstGeom>
          <a:noFill/>
          <a:ln/>
        </p:spPr>
        <p:txBody>
          <a:bodyPr wrap="square" lIns="0" tIns="0" rIns="0" bIns="0" rtlCol="0" anchor="ctr"/>
          <a:lstStyle/>
          <a:p>
            <a:pPr marL="0" indent="0">
              <a:buNone/>
            </a:pPr>
            <a:r>
              <a:rPr lang="en-US" sz="1050" b="1" dirty="0">
                <a:solidFill>
                  <a:srgbClr val="F47B20"/>
                </a:solidFill>
              </a:rPr>
              <a:t>HPA + Adapter</a:t>
            </a:r>
            <a:endParaRPr lang="en-US" sz="1050" dirty="0"/>
          </a:p>
        </p:txBody>
      </p:sp>
      <p:sp>
        <p:nvSpPr>
          <p:cNvPr id="23" name="Text 21"/>
          <p:cNvSpPr/>
          <p:nvPr/>
        </p:nvSpPr>
        <p:spPr>
          <a:xfrm>
            <a:off x="4736592" y="3675888"/>
            <a:ext cx="1828800" cy="1024128"/>
          </a:xfrm>
          <a:prstGeom prst="rect">
            <a:avLst/>
          </a:prstGeom>
          <a:noFill/>
          <a:ln/>
        </p:spPr>
        <p:txBody>
          <a:bodyPr wrap="square" lIns="0" tIns="0" rIns="0" bIns="0" rtlCol="0" anchor="ctr"/>
          <a:lstStyle/>
          <a:p>
            <a:pPr marL="0" indent="0">
              <a:buNone/>
            </a:pPr>
            <a:r>
              <a:rPr lang="en-US" sz="950" dirty="0">
                <a:solidFill>
                  <a:srgbClr val="0D1B2A"/>
                </a:solidFill>
              </a:rPr>
              <a:t>CPU target 50%</a:t>
            </a:r>
            <a:endParaRPr lang="en-US" sz="950" dirty="0"/>
          </a:p>
          <a:p>
            <a:pPr marL="0" indent="0">
              <a:buNone/>
            </a:pPr>
            <a:r>
              <a:rPr lang="en-US" sz="950" dirty="0">
                <a:solidFill>
                  <a:srgbClr val="0D1B2A"/>
                </a:solidFill>
              </a:rPr>
              <a:t>Scale-up: 15s</a:t>
            </a:r>
            <a:endParaRPr lang="en-US" sz="950" dirty="0"/>
          </a:p>
          <a:p>
            <a:pPr marL="0" indent="0">
              <a:buNone/>
            </a:pPr>
            <a:r>
              <a:rPr lang="en-US" sz="950" dirty="0">
                <a:solidFill>
                  <a:srgbClr val="0D1B2A"/>
                </a:solidFill>
              </a:rPr>
              <a:t>Scale-down: 60s</a:t>
            </a:r>
            <a:endParaRPr lang="en-US" sz="950" dirty="0"/>
          </a:p>
        </p:txBody>
      </p:sp>
      <p:sp>
        <p:nvSpPr>
          <p:cNvPr id="24" name="Shape 22"/>
          <p:cNvSpPr/>
          <p:nvPr/>
        </p:nvSpPr>
        <p:spPr>
          <a:xfrm>
            <a:off x="6803136" y="3218688"/>
            <a:ext cx="2029968" cy="155448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5" name="Shape 23"/>
          <p:cNvSpPr/>
          <p:nvPr/>
        </p:nvSpPr>
        <p:spPr>
          <a:xfrm>
            <a:off x="6803136" y="3218688"/>
            <a:ext cx="54864" cy="1554480"/>
          </a:xfrm>
          <a:prstGeom prst="rect">
            <a:avLst/>
          </a:prstGeom>
          <a:solidFill>
            <a:srgbClr val="006A85"/>
          </a:solidFill>
          <a:ln w="12700">
            <a:solidFill>
              <a:srgbClr val="006A85"/>
            </a:solidFill>
            <a:prstDash val="solid"/>
          </a:ln>
        </p:spPr>
      </p:sp>
      <p:sp>
        <p:nvSpPr>
          <p:cNvPr id="26" name="Text 24"/>
          <p:cNvSpPr/>
          <p:nvPr/>
        </p:nvSpPr>
        <p:spPr>
          <a:xfrm>
            <a:off x="6912864" y="3264408"/>
            <a:ext cx="1828800" cy="384048"/>
          </a:xfrm>
          <a:prstGeom prst="rect">
            <a:avLst/>
          </a:prstGeom>
          <a:noFill/>
          <a:ln/>
        </p:spPr>
        <p:txBody>
          <a:bodyPr wrap="square" lIns="0" tIns="0" rIns="0" bIns="0" rtlCol="0" anchor="ctr"/>
          <a:lstStyle/>
          <a:p>
            <a:pPr marL="0" indent="0">
              <a:buNone/>
            </a:pPr>
            <a:r>
              <a:rPr lang="en-US" sz="1050" b="1" dirty="0">
                <a:solidFill>
                  <a:srgbClr val="006A85"/>
                </a:solidFill>
              </a:rPr>
              <a:t>Prometheus</a:t>
            </a:r>
            <a:endParaRPr lang="en-US" sz="1050" dirty="0"/>
          </a:p>
          <a:p>
            <a:pPr marL="0" indent="0">
              <a:buNone/>
            </a:pPr>
            <a:r>
              <a:rPr lang="en-US" sz="1050" b="1" dirty="0">
                <a:solidFill>
                  <a:srgbClr val="006A85"/>
                </a:solidFill>
              </a:rPr>
              <a:t>+ Grafana</a:t>
            </a:r>
            <a:endParaRPr lang="en-US" sz="1050" dirty="0"/>
          </a:p>
        </p:txBody>
      </p:sp>
      <p:sp>
        <p:nvSpPr>
          <p:cNvPr id="27" name="Text 25"/>
          <p:cNvSpPr/>
          <p:nvPr/>
        </p:nvSpPr>
        <p:spPr>
          <a:xfrm>
            <a:off x="6912864" y="3675888"/>
            <a:ext cx="1828800" cy="1024128"/>
          </a:xfrm>
          <a:prstGeom prst="rect">
            <a:avLst/>
          </a:prstGeom>
          <a:noFill/>
          <a:ln/>
        </p:spPr>
        <p:txBody>
          <a:bodyPr wrap="square" lIns="0" tIns="0" rIns="0" bIns="0" rtlCol="0" anchor="ctr"/>
          <a:lstStyle/>
          <a:p>
            <a:pPr marL="0" indent="0">
              <a:buNone/>
            </a:pPr>
            <a:r>
              <a:rPr lang="en-US" sz="950" dirty="0">
                <a:solidFill>
                  <a:srgbClr val="0D1B2A"/>
                </a:solidFill>
              </a:rPr>
              <a:t>Scrape 15s</a:t>
            </a:r>
            <a:endParaRPr lang="en-US" sz="950" dirty="0"/>
          </a:p>
          <a:p>
            <a:pPr marL="0" indent="0">
              <a:buNone/>
            </a:pPr>
            <a:r>
              <a:rPr lang="en-US" sz="950" dirty="0">
                <a:solidFill>
                  <a:srgbClr val="0D1B2A"/>
                </a:solidFill>
              </a:rPr>
              <a:t>Dashboard:</a:t>
            </a:r>
            <a:endParaRPr lang="en-US" sz="950" dirty="0"/>
          </a:p>
          <a:p>
            <a:pPr marL="0" indent="0">
              <a:buNone/>
            </a:pPr>
            <a:r>
              <a:rPr lang="en-US" sz="950" dirty="0">
                <a:solidFill>
                  <a:srgbClr val="0D1B2A"/>
                </a:solidFill>
              </a:rPr>
              <a:t>replicas, CPU, HPA</a:t>
            </a:r>
            <a:endParaRPr lang="en-US" sz="950" dirty="0"/>
          </a:p>
        </p:txBody>
      </p:sp>
      <p:sp>
        <p:nvSpPr>
          <p:cNvPr id="28" name="Text 26"/>
          <p:cNvSpPr/>
          <p:nvPr/>
        </p:nvSpPr>
        <p:spPr>
          <a:xfrm>
            <a:off x="274320" y="4828032"/>
            <a:ext cx="8595360" cy="256032"/>
          </a:xfrm>
          <a:prstGeom prst="rect">
            <a:avLst/>
          </a:prstGeom>
          <a:noFill/>
          <a:ln/>
        </p:spPr>
        <p:txBody>
          <a:bodyPr wrap="square" lIns="0" tIns="0" rIns="0" bIns="0" rtlCol="0" anchor="ctr"/>
          <a:lstStyle/>
          <a:p>
            <a:pPr marL="0" indent="0">
              <a:buNone/>
            </a:pPr>
            <a:r>
              <a:rPr lang="en-US" sz="850" i="1" dirty="0">
                <a:solidFill>
                  <a:srgbClr val="64748B"/>
                </a:solidFill>
              </a:rPr>
              <a:t>So sanh: Bai bao goc dung TeaStore (7 pods, 5-7GB RAM) — demo nay dung OpenResty (1 service, 32-64MB/pod)</a:t>
            </a:r>
            <a:endParaRPr lang="en-US" sz="850" dirty="0"/>
          </a:p>
        </p:txBody>
      </p:sp>
      <p:pic>
        <p:nvPicPr>
          <p:cNvPr id="30" name="Picture 29"/>
          <p:cNvPicPr>
            <a:picLocks noChangeAspect="1"/>
          </p:cNvPicPr>
          <p:nvPr/>
        </p:nvPicPr>
        <p:blipFill>
          <a:blip r:embed="rId3"/>
          <a:stretch>
            <a:fillRect/>
          </a:stretch>
        </p:blipFill>
        <p:spPr>
          <a:xfrm>
            <a:off x="2450592" y="802217"/>
            <a:ext cx="6382512" cy="2304288"/>
          </a:xfrm>
          <a:prstGeom prst="rect">
            <a:avLst/>
          </a:prstGeom>
        </p:spPr>
      </p:pic>
      <p:sp>
        <p:nvSpPr>
          <p:cNvPr id="33" name="Shape 15"/>
          <p:cNvSpPr/>
          <p:nvPr/>
        </p:nvSpPr>
        <p:spPr>
          <a:xfrm>
            <a:off x="283464" y="804672"/>
            <a:ext cx="45720" cy="2304288"/>
          </a:xfrm>
          <a:prstGeom prst="rect">
            <a:avLst/>
          </a:prstGeom>
          <a:solidFill>
            <a:schemeClr val="accent6">
              <a:lumMod val="60000"/>
              <a:lumOff val="40000"/>
            </a:schemeClr>
          </a:solidFill>
          <a:ln w="12700">
            <a:solidFill>
              <a:schemeClr val="accent6">
                <a:lumMod val="60000"/>
                <a:lumOff val="40000"/>
              </a:schemeClr>
            </a:solidFill>
            <a:prstDash val="solid"/>
          </a:ln>
        </p:spPr>
      </p:sp>
      <p:sp>
        <p:nvSpPr>
          <p:cNvPr id="34" name="Text 16"/>
          <p:cNvSpPr/>
          <p:nvPr/>
        </p:nvSpPr>
        <p:spPr>
          <a:xfrm>
            <a:off x="2578608" y="3236976"/>
            <a:ext cx="1828800" cy="384048"/>
          </a:xfrm>
          <a:prstGeom prst="rect">
            <a:avLst/>
          </a:prstGeom>
          <a:noFill/>
          <a:ln/>
        </p:spPr>
        <p:txBody>
          <a:bodyPr wrap="square" lIns="0" tIns="0" rIns="0" bIns="0" rtlCol="0" anchor="ctr"/>
          <a:lstStyle/>
          <a:p>
            <a:pPr marL="0" indent="0">
              <a:buNone/>
            </a:pPr>
            <a:r>
              <a:rPr lang="en-US" sz="1050" b="1" dirty="0" smtClean="0">
                <a:solidFill>
                  <a:srgbClr val="0096B7"/>
                </a:solidFill>
              </a:rPr>
              <a:t>Web </a:t>
            </a:r>
            <a:r>
              <a:rPr lang="en-US" sz="1050" b="1" dirty="0">
                <a:solidFill>
                  <a:srgbClr val="0096B7"/>
                </a:solidFill>
              </a:rPr>
              <a:t>App</a:t>
            </a:r>
            <a:endParaRPr lang="en-US" sz="1050" dirty="0"/>
          </a:p>
        </p:txBody>
      </p:sp>
      <p:sp>
        <p:nvSpPr>
          <p:cNvPr id="35" name="Text 17"/>
          <p:cNvSpPr/>
          <p:nvPr/>
        </p:nvSpPr>
        <p:spPr>
          <a:xfrm>
            <a:off x="457200" y="1408176"/>
            <a:ext cx="1828800" cy="1024128"/>
          </a:xfrm>
          <a:prstGeom prst="rect">
            <a:avLst/>
          </a:prstGeom>
          <a:noFill/>
          <a:ln/>
        </p:spPr>
        <p:txBody>
          <a:bodyPr wrap="square" lIns="0" tIns="0" rIns="0" bIns="0" rtlCol="0" anchor="ctr"/>
          <a:lstStyle/>
          <a:p>
            <a:pPr marL="0" indent="0">
              <a:buNone/>
            </a:pPr>
            <a:r>
              <a:rPr lang="en-US" sz="950" dirty="0">
                <a:solidFill>
                  <a:srgbClr val="0D1B2A"/>
                </a:solidFill>
              </a:rPr>
              <a:t>+</a:t>
            </a:r>
            <a:r>
              <a:rPr lang="en-US" sz="950" dirty="0" smtClean="0">
                <a:solidFill>
                  <a:srgbClr val="0D1B2A"/>
                </a:solidFill>
              </a:rPr>
              <a:t> </a:t>
            </a:r>
            <a:r>
              <a:rPr lang="en-US" sz="950" dirty="0" err="1" smtClean="0">
                <a:solidFill>
                  <a:srgbClr val="0D1B2A"/>
                </a:solidFill>
              </a:rPr>
              <a:t>Môi</a:t>
            </a:r>
            <a:r>
              <a:rPr lang="en-US" sz="950" dirty="0" smtClean="0">
                <a:solidFill>
                  <a:srgbClr val="0D1B2A"/>
                </a:solidFill>
              </a:rPr>
              <a:t> </a:t>
            </a:r>
            <a:r>
              <a:rPr lang="en-US" sz="950" dirty="0" err="1" smtClean="0">
                <a:solidFill>
                  <a:srgbClr val="0D1B2A"/>
                </a:solidFill>
              </a:rPr>
              <a:t>trường</a:t>
            </a:r>
            <a:r>
              <a:rPr lang="en-US" sz="950" dirty="0" smtClean="0">
                <a:solidFill>
                  <a:srgbClr val="0D1B2A"/>
                </a:solidFill>
              </a:rPr>
              <a:t> </a:t>
            </a:r>
            <a:r>
              <a:rPr lang="en-US" sz="950" dirty="0" err="1" smtClean="0">
                <a:solidFill>
                  <a:srgbClr val="0D1B2A"/>
                </a:solidFill>
              </a:rPr>
              <a:t>thực</a:t>
            </a:r>
            <a:r>
              <a:rPr lang="en-US" sz="950" dirty="0" smtClean="0">
                <a:solidFill>
                  <a:srgbClr val="0D1B2A"/>
                </a:solidFill>
              </a:rPr>
              <a:t> </a:t>
            </a:r>
            <a:r>
              <a:rPr lang="en-US" sz="950" dirty="0" err="1" smtClean="0">
                <a:solidFill>
                  <a:srgbClr val="0D1B2A"/>
                </a:solidFill>
              </a:rPr>
              <a:t>nghiệm</a:t>
            </a:r>
            <a:r>
              <a:rPr lang="en-US" sz="950" dirty="0" smtClean="0">
                <a:solidFill>
                  <a:srgbClr val="0D1B2A"/>
                </a:solidFill>
              </a:rPr>
              <a:t>: </a:t>
            </a:r>
            <a:r>
              <a:rPr lang="en-US" sz="950" dirty="0" err="1" smtClean="0">
                <a:solidFill>
                  <a:srgbClr val="0D1B2A"/>
                </a:solidFill>
              </a:rPr>
              <a:t>Máy</a:t>
            </a:r>
            <a:r>
              <a:rPr lang="en-US" sz="950" dirty="0" smtClean="0">
                <a:solidFill>
                  <a:srgbClr val="0D1B2A"/>
                </a:solidFill>
              </a:rPr>
              <a:t> </a:t>
            </a:r>
            <a:r>
              <a:rPr lang="en-US" sz="950" dirty="0" err="1" smtClean="0">
                <a:solidFill>
                  <a:srgbClr val="0D1B2A"/>
                </a:solidFill>
              </a:rPr>
              <a:t>tính</a:t>
            </a:r>
            <a:r>
              <a:rPr lang="en-US" sz="950" dirty="0" smtClean="0">
                <a:solidFill>
                  <a:srgbClr val="0D1B2A"/>
                </a:solidFill>
              </a:rPr>
              <a:t> </a:t>
            </a:r>
            <a:r>
              <a:rPr lang="en-US" sz="950" dirty="0" err="1" smtClean="0">
                <a:solidFill>
                  <a:srgbClr val="0D1B2A"/>
                </a:solidFill>
              </a:rPr>
              <a:t>cá</a:t>
            </a:r>
            <a:r>
              <a:rPr lang="en-US" sz="950" dirty="0" smtClean="0">
                <a:solidFill>
                  <a:srgbClr val="0D1B2A"/>
                </a:solidFill>
              </a:rPr>
              <a:t> </a:t>
            </a:r>
            <a:r>
              <a:rPr lang="en-US" sz="950" dirty="0" err="1" smtClean="0">
                <a:solidFill>
                  <a:srgbClr val="0D1B2A"/>
                </a:solidFill>
              </a:rPr>
              <a:t>nhân</a:t>
            </a:r>
            <a:endParaRPr lang="en-US" sz="950" dirty="0" smtClean="0">
              <a:solidFill>
                <a:srgbClr val="0D1B2A"/>
              </a:solidFill>
            </a:endParaRPr>
          </a:p>
          <a:p>
            <a:pPr marL="0" indent="0">
              <a:buNone/>
            </a:pPr>
            <a:endParaRPr lang="en-US" sz="950" dirty="0" smtClean="0">
              <a:solidFill>
                <a:srgbClr val="0D1B2A"/>
              </a:solidFill>
            </a:endParaRPr>
          </a:p>
          <a:p>
            <a:pPr marL="0" indent="0">
              <a:buNone/>
            </a:pPr>
            <a:r>
              <a:rPr lang="en-US" sz="950" dirty="0" smtClean="0"/>
              <a:t>+ </a:t>
            </a:r>
            <a:r>
              <a:rPr lang="en-US" sz="950" dirty="0" err="1" smtClean="0"/>
              <a:t>Các</a:t>
            </a:r>
            <a:r>
              <a:rPr lang="en-US" sz="950" dirty="0" smtClean="0"/>
              <a:t> </a:t>
            </a:r>
            <a:r>
              <a:rPr lang="en-US" sz="950" dirty="0" err="1" smtClean="0"/>
              <a:t>thống</a:t>
            </a:r>
            <a:r>
              <a:rPr lang="en-US" sz="950" dirty="0" smtClean="0"/>
              <a:t> </a:t>
            </a:r>
            <a:r>
              <a:rPr lang="en-US" sz="950" dirty="0" err="1" smtClean="0"/>
              <a:t>số</a:t>
            </a:r>
            <a:r>
              <a:rPr lang="en-US" sz="950" dirty="0" smtClean="0"/>
              <a:t> </a:t>
            </a:r>
            <a:r>
              <a:rPr lang="en-US" sz="950" dirty="0" err="1" smtClean="0"/>
              <a:t>thiết</a:t>
            </a:r>
            <a:r>
              <a:rPr lang="en-US" sz="950" dirty="0" smtClean="0"/>
              <a:t> </a:t>
            </a:r>
            <a:r>
              <a:rPr lang="en-US" sz="950" dirty="0" err="1" smtClean="0"/>
              <a:t>lập</a:t>
            </a:r>
            <a:r>
              <a:rPr lang="en-US" sz="950" dirty="0" smtClean="0"/>
              <a:t> </a:t>
            </a:r>
            <a:r>
              <a:rPr lang="en-US" sz="950" dirty="0" err="1" smtClean="0"/>
              <a:t>cụ</a:t>
            </a:r>
            <a:r>
              <a:rPr lang="en-US" sz="950" dirty="0" smtClean="0"/>
              <a:t> </a:t>
            </a:r>
            <a:r>
              <a:rPr lang="en-US" sz="950" dirty="0" err="1" smtClean="0"/>
              <a:t>thể</a:t>
            </a:r>
            <a:r>
              <a:rPr lang="en-US" sz="950" dirty="0" smtClean="0"/>
              <a:t> </a:t>
            </a:r>
            <a:r>
              <a:rPr lang="en-US" sz="950" dirty="0" err="1" smtClean="0"/>
              <a:t>như</a:t>
            </a:r>
            <a:r>
              <a:rPr lang="en-US" sz="950" dirty="0" smtClean="0"/>
              <a:t> </a:t>
            </a:r>
            <a:r>
              <a:rPr lang="en-US" sz="950" dirty="0" err="1" smtClean="0"/>
              <a:t>dưới</a:t>
            </a:r>
            <a:endParaRPr lang="en-US" sz="950" dirty="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r>
              <a:rPr lang="en-US" sz="2200" b="1" dirty="0">
                <a:solidFill>
                  <a:srgbClr val="FFFFFF"/>
                </a:solidFill>
              </a:rPr>
              <a:t>DEMO · </a:t>
            </a:r>
            <a:r>
              <a:rPr lang="en-US" sz="2200" b="1" dirty="0" err="1" smtClean="0">
                <a:solidFill>
                  <a:srgbClr val="FFFFFF"/>
                </a:solidFill>
              </a:rPr>
              <a:t>Thiết</a:t>
            </a:r>
            <a:r>
              <a:rPr lang="en-US" sz="2200" b="1" dirty="0" smtClean="0">
                <a:solidFill>
                  <a:srgbClr val="FFFFFF"/>
                </a:solidFill>
              </a:rPr>
              <a:t> </a:t>
            </a:r>
            <a:r>
              <a:rPr lang="en-US" sz="2200" b="1" dirty="0" err="1" smtClean="0">
                <a:solidFill>
                  <a:srgbClr val="FFFFFF"/>
                </a:solidFill>
              </a:rPr>
              <a:t>lập</a:t>
            </a:r>
            <a:r>
              <a:rPr lang="en-US" sz="2200" b="1" dirty="0" smtClean="0">
                <a:solidFill>
                  <a:srgbClr val="FFFFFF"/>
                </a:solidFill>
              </a:rPr>
              <a:t> </a:t>
            </a:r>
            <a:r>
              <a:rPr lang="en-US" sz="2200" b="1" dirty="0" err="1" smtClean="0">
                <a:solidFill>
                  <a:srgbClr val="FFFFFF"/>
                </a:solidFill>
              </a:rPr>
              <a:t>Grafana</a:t>
            </a:r>
            <a:r>
              <a:rPr lang="en-US" sz="2200" b="1" dirty="0" smtClean="0">
                <a:solidFill>
                  <a:srgbClr val="FFFFFF"/>
                </a:solidFill>
              </a:rPr>
              <a:t> </a:t>
            </a:r>
            <a:r>
              <a:rPr lang="en-US" sz="2200" b="1" dirty="0" err="1" smtClean="0">
                <a:solidFill>
                  <a:srgbClr val="FFFFFF"/>
                </a:solidFill>
              </a:rPr>
              <a:t>để</a:t>
            </a:r>
            <a:r>
              <a:rPr lang="en-US" sz="2200" b="1" dirty="0" smtClean="0">
                <a:solidFill>
                  <a:srgbClr val="FFFFFF"/>
                </a:solidFill>
              </a:rPr>
              <a:t> monitor</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301752" y="722376"/>
            <a:ext cx="8869680" cy="4059936"/>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722376"/>
            <a:ext cx="54864" cy="4032504"/>
          </a:xfrm>
          <a:prstGeom prst="rect">
            <a:avLst/>
          </a:prstGeom>
          <a:solidFill>
            <a:srgbClr val="2D9D5A"/>
          </a:solidFill>
          <a:ln w="12700">
            <a:solidFill>
              <a:srgbClr val="2D9D5A"/>
            </a:solidFill>
            <a:prstDash val="solid"/>
          </a:ln>
        </p:spPr>
      </p:sp>
      <p:sp>
        <p:nvSpPr>
          <p:cNvPr id="42" name="TextBox 41"/>
          <p:cNvSpPr txBox="1"/>
          <p:nvPr/>
        </p:nvSpPr>
        <p:spPr>
          <a:xfrm>
            <a:off x="709673" y="2380558"/>
            <a:ext cx="3438880" cy="261610"/>
          </a:xfrm>
          <a:prstGeom prst="rect">
            <a:avLst/>
          </a:prstGeom>
          <a:noFill/>
        </p:spPr>
        <p:txBody>
          <a:bodyPr wrap="square" rtlCol="0">
            <a:spAutoFit/>
          </a:bodyPr>
          <a:lstStyle/>
          <a:p>
            <a:r>
              <a:rPr lang="en-US" sz="1100" dirty="0" err="1" smtClean="0"/>
              <a:t>Số</a:t>
            </a:r>
            <a:r>
              <a:rPr lang="en-US" sz="1100" dirty="0" smtClean="0"/>
              <a:t> </a:t>
            </a:r>
            <a:r>
              <a:rPr lang="en-US" sz="1100" dirty="0" err="1" smtClean="0"/>
              <a:t>lượng</a:t>
            </a:r>
            <a:r>
              <a:rPr lang="en-US" sz="1100" dirty="0" smtClean="0"/>
              <a:t> pod </a:t>
            </a:r>
            <a:r>
              <a:rPr lang="en-US" sz="1100" dirty="0" err="1" smtClean="0"/>
              <a:t>đang</a:t>
            </a:r>
            <a:r>
              <a:rPr lang="en-US" sz="1100" dirty="0" smtClean="0"/>
              <a:t> </a:t>
            </a:r>
            <a:r>
              <a:rPr lang="en-US" sz="1100" dirty="0" err="1" smtClean="0"/>
              <a:t>chạy</a:t>
            </a:r>
            <a:endParaRPr lang="en-US" sz="1100" dirty="0"/>
          </a:p>
        </p:txBody>
      </p:sp>
      <p:pic>
        <p:nvPicPr>
          <p:cNvPr id="41" name="Picture 40"/>
          <p:cNvPicPr>
            <a:picLocks noChangeAspect="1"/>
          </p:cNvPicPr>
          <p:nvPr/>
        </p:nvPicPr>
        <p:blipFill>
          <a:blip r:embed="rId3"/>
          <a:stretch>
            <a:fillRect/>
          </a:stretch>
        </p:blipFill>
        <p:spPr>
          <a:xfrm>
            <a:off x="709672" y="764928"/>
            <a:ext cx="3438880" cy="1622028"/>
          </a:xfrm>
          <a:prstGeom prst="rect">
            <a:avLst/>
          </a:prstGeom>
        </p:spPr>
      </p:pic>
      <p:sp>
        <p:nvSpPr>
          <p:cNvPr id="44" name="TextBox 43"/>
          <p:cNvSpPr txBox="1"/>
          <p:nvPr/>
        </p:nvSpPr>
        <p:spPr>
          <a:xfrm>
            <a:off x="4883176" y="4304146"/>
            <a:ext cx="4162633" cy="430887"/>
          </a:xfrm>
          <a:prstGeom prst="rect">
            <a:avLst/>
          </a:prstGeom>
          <a:noFill/>
        </p:spPr>
        <p:txBody>
          <a:bodyPr wrap="square" rtlCol="0">
            <a:spAutoFit/>
          </a:bodyPr>
          <a:lstStyle/>
          <a:p>
            <a:r>
              <a:rPr lang="en-US" sz="1100" dirty="0" err="1"/>
              <a:t>S</a:t>
            </a:r>
            <a:r>
              <a:rPr lang="en-US" sz="1100" dirty="0" err="1" smtClean="0"/>
              <a:t>ố</a:t>
            </a:r>
            <a:r>
              <a:rPr lang="en-US" sz="1100" dirty="0" smtClean="0"/>
              <a:t> </a:t>
            </a:r>
            <a:r>
              <a:rPr lang="en-US" sz="1100" dirty="0"/>
              <a:t>pods HPA </a:t>
            </a:r>
            <a:r>
              <a:rPr lang="en-US" sz="1100" dirty="0" err="1"/>
              <a:t>muốn</a:t>
            </a:r>
            <a:r>
              <a:rPr lang="en-US" sz="1100" dirty="0"/>
              <a:t> </a:t>
            </a:r>
            <a:r>
              <a:rPr lang="en-US" sz="1100" dirty="0" err="1" smtClean="0"/>
              <a:t>có</a:t>
            </a:r>
            <a:r>
              <a:rPr lang="en-US" sz="1100" dirty="0" smtClean="0"/>
              <a:t> (</a:t>
            </a:r>
            <a:r>
              <a:rPr lang="en-US" sz="1100" dirty="0" err="1" smtClean="0"/>
              <a:t>vàng</a:t>
            </a:r>
            <a:r>
              <a:rPr lang="en-US" sz="1100" dirty="0" smtClean="0"/>
              <a:t>) </a:t>
            </a:r>
            <a:r>
              <a:rPr lang="en-US" sz="1100" dirty="0" err="1"/>
              <a:t>và</a:t>
            </a:r>
            <a:r>
              <a:rPr lang="en-US" sz="1100" dirty="0"/>
              <a:t> </a:t>
            </a:r>
            <a:r>
              <a:rPr lang="en-US" sz="1100" dirty="0" err="1"/>
              <a:t>số</a:t>
            </a:r>
            <a:r>
              <a:rPr lang="en-US" sz="1100" dirty="0"/>
              <a:t> pods </a:t>
            </a:r>
            <a:r>
              <a:rPr lang="en-US" sz="1100" dirty="0" err="1"/>
              <a:t>thực</a:t>
            </a:r>
            <a:r>
              <a:rPr lang="en-US" sz="1100" dirty="0"/>
              <a:t> </a:t>
            </a:r>
            <a:r>
              <a:rPr lang="en-US" sz="1100" dirty="0" err="1"/>
              <a:t>tế</a:t>
            </a:r>
            <a:r>
              <a:rPr lang="en-US" sz="1100" dirty="0"/>
              <a:t> </a:t>
            </a:r>
            <a:r>
              <a:rPr lang="en-US" sz="1100" dirty="0" err="1"/>
              <a:t>đang</a:t>
            </a:r>
            <a:r>
              <a:rPr lang="en-US" sz="1100" dirty="0"/>
              <a:t> </a:t>
            </a:r>
            <a:r>
              <a:rPr lang="en-US" sz="1100" dirty="0" err="1" smtClean="0"/>
              <a:t>chạy</a:t>
            </a:r>
            <a:r>
              <a:rPr lang="en-US" sz="1100" dirty="0" smtClean="0"/>
              <a:t> (</a:t>
            </a:r>
            <a:r>
              <a:rPr lang="en-US" sz="1100" dirty="0" err="1" smtClean="0"/>
              <a:t>xanh</a:t>
            </a:r>
            <a:r>
              <a:rPr lang="en-US" sz="1100" dirty="0" smtClean="0"/>
              <a:t> </a:t>
            </a:r>
            <a:r>
              <a:rPr lang="en-US" sz="1100" dirty="0" err="1" smtClean="0"/>
              <a:t>lá</a:t>
            </a:r>
            <a:r>
              <a:rPr lang="en-US" sz="1100" dirty="0" smtClean="0"/>
              <a:t> </a:t>
            </a:r>
            <a:r>
              <a:rPr lang="en-US" sz="1100" dirty="0" err="1" smtClean="0"/>
              <a:t>cây</a:t>
            </a:r>
            <a:r>
              <a:rPr lang="en-US" sz="1100" dirty="0" smtClean="0"/>
              <a:t>). Do </a:t>
            </a:r>
            <a:r>
              <a:rPr lang="en-US" sz="1100" dirty="0" err="1" smtClean="0"/>
              <a:t>hiện</a:t>
            </a:r>
            <a:r>
              <a:rPr lang="en-US" sz="1100" dirty="0" smtClean="0"/>
              <a:t> </a:t>
            </a:r>
            <a:r>
              <a:rPr lang="en-US" sz="1100" dirty="0" err="1" smtClean="0"/>
              <a:t>tại</a:t>
            </a:r>
            <a:r>
              <a:rPr lang="en-US" sz="1100" dirty="0" smtClean="0"/>
              <a:t> </a:t>
            </a:r>
            <a:r>
              <a:rPr lang="en-US" sz="1100" dirty="0" err="1" smtClean="0"/>
              <a:t>hệ</a:t>
            </a:r>
            <a:r>
              <a:rPr lang="en-US" sz="1100" dirty="0" smtClean="0"/>
              <a:t> </a:t>
            </a:r>
            <a:r>
              <a:rPr lang="en-US" sz="1100" dirty="0" err="1" smtClean="0"/>
              <a:t>thống</a:t>
            </a:r>
            <a:r>
              <a:rPr lang="en-US" sz="1100" dirty="0" smtClean="0"/>
              <a:t> </a:t>
            </a:r>
            <a:r>
              <a:rPr lang="en-US" sz="1100" dirty="0" err="1" smtClean="0"/>
              <a:t>ổn</a:t>
            </a:r>
            <a:r>
              <a:rPr lang="en-US" sz="1100" dirty="0" smtClean="0"/>
              <a:t> </a:t>
            </a:r>
            <a:r>
              <a:rPr lang="en-US" sz="1100" dirty="0" err="1" smtClean="0"/>
              <a:t>định</a:t>
            </a:r>
            <a:r>
              <a:rPr lang="en-US" sz="1100" dirty="0" smtClean="0"/>
              <a:t> </a:t>
            </a:r>
            <a:r>
              <a:rPr lang="en-US" sz="1100" dirty="0" err="1" smtClean="0"/>
              <a:t>nên</a:t>
            </a:r>
            <a:r>
              <a:rPr lang="en-US" sz="1100" dirty="0" smtClean="0"/>
              <a:t> </a:t>
            </a:r>
            <a:r>
              <a:rPr lang="en-US" sz="1100" dirty="0" err="1" smtClean="0"/>
              <a:t>hai</a:t>
            </a:r>
            <a:r>
              <a:rPr lang="en-US" sz="1100" dirty="0" smtClean="0"/>
              <a:t> </a:t>
            </a:r>
            <a:r>
              <a:rPr lang="en-US" sz="1100" dirty="0" err="1" smtClean="0"/>
              <a:t>đường</a:t>
            </a:r>
            <a:r>
              <a:rPr lang="en-US" sz="1100" dirty="0" smtClean="0"/>
              <a:t> </a:t>
            </a:r>
            <a:r>
              <a:rPr lang="en-US" sz="1100" dirty="0" err="1" smtClean="0"/>
              <a:t>này</a:t>
            </a:r>
            <a:r>
              <a:rPr lang="en-US" sz="1100" dirty="0" smtClean="0"/>
              <a:t> </a:t>
            </a:r>
            <a:r>
              <a:rPr lang="en-US" sz="1100" dirty="0" err="1" smtClean="0"/>
              <a:t>trùng</a:t>
            </a:r>
            <a:r>
              <a:rPr lang="en-US" sz="1100" dirty="0" smtClean="0"/>
              <a:t> </a:t>
            </a:r>
            <a:r>
              <a:rPr lang="en-US" sz="1100" dirty="0" err="1" smtClean="0"/>
              <a:t>nhau</a:t>
            </a:r>
            <a:endParaRPr lang="en-US" sz="1100" dirty="0"/>
          </a:p>
        </p:txBody>
      </p:sp>
      <p:sp>
        <p:nvSpPr>
          <p:cNvPr id="46" name="TextBox 45"/>
          <p:cNvSpPr txBox="1"/>
          <p:nvPr/>
        </p:nvSpPr>
        <p:spPr>
          <a:xfrm>
            <a:off x="709672" y="4325543"/>
            <a:ext cx="3438880" cy="261610"/>
          </a:xfrm>
          <a:prstGeom prst="rect">
            <a:avLst/>
          </a:prstGeom>
          <a:noFill/>
        </p:spPr>
        <p:txBody>
          <a:bodyPr wrap="square" rtlCol="0">
            <a:spAutoFit/>
          </a:bodyPr>
          <a:lstStyle/>
          <a:p>
            <a:r>
              <a:rPr lang="en-US" sz="1100" dirty="0" err="1" smtClean="0"/>
              <a:t>Số</a:t>
            </a:r>
            <a:r>
              <a:rPr lang="en-US" sz="1100" dirty="0" smtClean="0"/>
              <a:t> replica </a:t>
            </a:r>
            <a:r>
              <a:rPr lang="en-US" sz="1100" dirty="0" err="1" smtClean="0"/>
              <a:t>đang</a:t>
            </a:r>
            <a:r>
              <a:rPr lang="en-US" sz="1100" dirty="0" smtClean="0"/>
              <a:t> active</a:t>
            </a:r>
            <a:endParaRPr lang="en-US" sz="1100" dirty="0"/>
          </a:p>
        </p:txBody>
      </p:sp>
      <p:sp>
        <p:nvSpPr>
          <p:cNvPr id="48" name="TextBox 47"/>
          <p:cNvSpPr txBox="1"/>
          <p:nvPr/>
        </p:nvSpPr>
        <p:spPr>
          <a:xfrm>
            <a:off x="4883176" y="2377106"/>
            <a:ext cx="3392025" cy="261610"/>
          </a:xfrm>
          <a:prstGeom prst="rect">
            <a:avLst/>
          </a:prstGeom>
          <a:noFill/>
        </p:spPr>
        <p:txBody>
          <a:bodyPr wrap="square" rtlCol="0">
            <a:spAutoFit/>
          </a:bodyPr>
          <a:lstStyle/>
          <a:p>
            <a:r>
              <a:rPr lang="en-US" sz="1100" dirty="0" err="1" smtClean="0"/>
              <a:t>Lượng</a:t>
            </a:r>
            <a:r>
              <a:rPr lang="en-US" sz="1100" dirty="0" smtClean="0"/>
              <a:t> CPU </a:t>
            </a:r>
            <a:r>
              <a:rPr lang="en-US" sz="1100" dirty="0" err="1" smtClean="0"/>
              <a:t>mỗi</a:t>
            </a:r>
            <a:r>
              <a:rPr lang="en-US" sz="1100" dirty="0" smtClean="0"/>
              <a:t> pod </a:t>
            </a:r>
            <a:r>
              <a:rPr lang="en-US" sz="1100" dirty="0" err="1" smtClean="0"/>
              <a:t>sử</a:t>
            </a:r>
            <a:r>
              <a:rPr lang="en-US" sz="1100" dirty="0" smtClean="0"/>
              <a:t> </a:t>
            </a:r>
            <a:r>
              <a:rPr lang="en-US" sz="1100" dirty="0" err="1" smtClean="0"/>
              <a:t>dụng</a:t>
            </a:r>
            <a:endParaRPr lang="en-US" sz="1100" dirty="0"/>
          </a:p>
        </p:txBody>
      </p:sp>
      <p:pic>
        <p:nvPicPr>
          <p:cNvPr id="9" name="Picture 8"/>
          <p:cNvPicPr>
            <a:picLocks noChangeAspect="1"/>
          </p:cNvPicPr>
          <p:nvPr/>
        </p:nvPicPr>
        <p:blipFill>
          <a:blip r:embed="rId4"/>
          <a:stretch>
            <a:fillRect/>
          </a:stretch>
        </p:blipFill>
        <p:spPr>
          <a:xfrm>
            <a:off x="4954589" y="749808"/>
            <a:ext cx="3428055" cy="1621194"/>
          </a:xfrm>
          <a:prstGeom prst="rect">
            <a:avLst/>
          </a:prstGeom>
        </p:spPr>
      </p:pic>
      <p:pic>
        <p:nvPicPr>
          <p:cNvPr id="10" name="Picture 9"/>
          <p:cNvPicPr>
            <a:picLocks noChangeAspect="1"/>
          </p:cNvPicPr>
          <p:nvPr/>
        </p:nvPicPr>
        <p:blipFill>
          <a:blip r:embed="rId5"/>
          <a:stretch>
            <a:fillRect/>
          </a:stretch>
        </p:blipFill>
        <p:spPr>
          <a:xfrm>
            <a:off x="709673" y="2675923"/>
            <a:ext cx="3438879" cy="1628223"/>
          </a:xfrm>
          <a:prstGeom prst="rect">
            <a:avLst/>
          </a:prstGeom>
        </p:spPr>
      </p:pic>
      <p:pic>
        <p:nvPicPr>
          <p:cNvPr id="11" name="Picture 10"/>
          <p:cNvPicPr>
            <a:picLocks noChangeAspect="1"/>
          </p:cNvPicPr>
          <p:nvPr/>
        </p:nvPicPr>
        <p:blipFill>
          <a:blip r:embed="rId6"/>
          <a:stretch>
            <a:fillRect/>
          </a:stretch>
        </p:blipFill>
        <p:spPr>
          <a:xfrm>
            <a:off x="4954589" y="2642168"/>
            <a:ext cx="3428055" cy="1605200"/>
          </a:xfrm>
          <a:prstGeom prst="rect">
            <a:avLst/>
          </a:prstGeom>
        </p:spPr>
      </p:pic>
    </p:spTree>
    <p:extLst>
      <p:ext uri="{BB962C8B-B14F-4D97-AF65-F5344CB8AC3E}">
        <p14:creationId xmlns:p14="http://schemas.microsoft.com/office/powerpoint/2010/main" val="279937308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DEMO · Giai đoạn 1 — Baseline (chỉ traffic </a:t>
            </a:r>
            <a:r>
              <a:rPr lang="en-US" sz="2200" b="1" dirty="0" err="1">
                <a:solidFill>
                  <a:srgbClr val="FFFFFF"/>
                </a:solidFill>
              </a:rPr>
              <a:t>hợp</a:t>
            </a:r>
            <a:r>
              <a:rPr lang="en-US" sz="2200" b="1" dirty="0">
                <a:solidFill>
                  <a:srgbClr val="FFFFFF"/>
                </a:solidFill>
              </a:rPr>
              <a:t> </a:t>
            </a:r>
            <a:r>
              <a:rPr lang="en-US" sz="2200" b="1" dirty="0" err="1" smtClean="0">
                <a:solidFill>
                  <a:srgbClr val="FFFFFF"/>
                </a:solidFill>
              </a:rPr>
              <a:t>lệ</a:t>
            </a:r>
            <a:r>
              <a:rPr lang="en-US" sz="2200" b="1" dirty="0" smtClean="0">
                <a:solidFill>
                  <a:srgbClr val="FFFFFF"/>
                </a:solidFill>
              </a:rPr>
              <a:t> </a:t>
            </a:r>
            <a:r>
              <a:rPr lang="en-US" sz="2200" b="1" dirty="0" err="1" smtClean="0">
                <a:solidFill>
                  <a:srgbClr val="FFFFFF"/>
                </a:solidFill>
              </a:rPr>
              <a:t>từ</a:t>
            </a:r>
            <a:r>
              <a:rPr lang="en-US" sz="2200" b="1" dirty="0" smtClean="0">
                <a:solidFill>
                  <a:srgbClr val="FFFFFF"/>
                </a:solidFill>
              </a:rPr>
              <a:t> </a:t>
            </a:r>
            <a:r>
              <a:rPr lang="en-US" sz="2200" b="1" dirty="0" err="1" smtClean="0">
                <a:solidFill>
                  <a:srgbClr val="FFFFFF"/>
                </a:solidFill>
              </a:rPr>
              <a:t>JMeter</a:t>
            </a:r>
            <a:r>
              <a:rPr lang="en-US" sz="2200" b="1" dirty="0" smtClean="0">
                <a:solidFill>
                  <a:srgbClr val="FFFFFF"/>
                </a:solidFill>
              </a:rPr>
              <a:t>)</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3757632"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50208"/>
          </a:xfrm>
          <a:prstGeom prst="rect">
            <a:avLst/>
          </a:prstGeom>
          <a:solidFill>
            <a:srgbClr val="0096B7"/>
          </a:solidFill>
          <a:ln w="12700">
            <a:solidFill>
              <a:srgbClr val="0096B7"/>
            </a:solidFill>
            <a:prstDash val="solid"/>
          </a:ln>
        </p:spPr>
      </p:sp>
      <p:sp>
        <p:nvSpPr>
          <p:cNvPr id="9" name="Text 7"/>
          <p:cNvSpPr/>
          <p:nvPr/>
        </p:nvSpPr>
        <p:spPr>
          <a:xfrm>
            <a:off x="457200" y="868680"/>
            <a:ext cx="3840480" cy="320040"/>
          </a:xfrm>
          <a:prstGeom prst="rect">
            <a:avLst/>
          </a:prstGeom>
          <a:noFill/>
          <a:ln/>
        </p:spPr>
        <p:txBody>
          <a:bodyPr wrap="square" lIns="0" tIns="0" rIns="0" bIns="0" rtlCol="0" anchor="ctr"/>
          <a:lstStyle/>
          <a:p>
            <a:pPr marL="0" indent="0">
              <a:buNone/>
            </a:pPr>
            <a:r>
              <a:rPr lang="en-US" sz="1200" b="1" dirty="0">
                <a:solidFill>
                  <a:srgbClr val="0D1B2A"/>
                </a:solidFill>
              </a:rPr>
              <a:t>Thiết lập &amp; Quan sát</a:t>
            </a:r>
            <a:endParaRPr lang="en-US" sz="1200" dirty="0"/>
          </a:p>
        </p:txBody>
      </p:sp>
      <p:sp>
        <p:nvSpPr>
          <p:cNvPr id="10" name="Text 8"/>
          <p:cNvSpPr/>
          <p:nvPr/>
        </p:nvSpPr>
        <p:spPr>
          <a:xfrm>
            <a:off x="457200" y="1298448"/>
            <a:ext cx="1234440" cy="384048"/>
          </a:xfrm>
          <a:prstGeom prst="rect">
            <a:avLst/>
          </a:prstGeom>
          <a:noFill/>
          <a:ln/>
        </p:spPr>
        <p:txBody>
          <a:bodyPr wrap="square" lIns="0" tIns="0" rIns="0" bIns="0" rtlCol="0" anchor="ctr"/>
          <a:lstStyle/>
          <a:p>
            <a:pPr marL="0" indent="0">
              <a:buNone/>
            </a:pPr>
            <a:r>
              <a:rPr lang="en-US" sz="1000" b="1" dirty="0">
                <a:solidFill>
                  <a:srgbClr val="0096B7"/>
                </a:solidFill>
              </a:rPr>
              <a:t>Thời gian:</a:t>
            </a:r>
            <a:endParaRPr lang="en-US" sz="1000" dirty="0"/>
          </a:p>
        </p:txBody>
      </p:sp>
      <p:sp>
        <p:nvSpPr>
          <p:cNvPr id="11" name="Text 9"/>
          <p:cNvSpPr/>
          <p:nvPr/>
        </p:nvSpPr>
        <p:spPr>
          <a:xfrm>
            <a:off x="1737360" y="1298448"/>
            <a:ext cx="2560320" cy="384048"/>
          </a:xfrm>
          <a:prstGeom prst="rect">
            <a:avLst/>
          </a:prstGeom>
          <a:noFill/>
          <a:ln/>
        </p:spPr>
        <p:txBody>
          <a:bodyPr wrap="square" lIns="0" tIns="0" rIns="0" bIns="0" rtlCol="0" anchor="ctr"/>
          <a:lstStyle/>
          <a:p>
            <a:pPr marL="0" indent="0">
              <a:buNone/>
            </a:pPr>
            <a:r>
              <a:rPr lang="en-US" sz="1000" dirty="0">
                <a:solidFill>
                  <a:srgbClr val="0D1B2A"/>
                </a:solidFill>
              </a:rPr>
              <a:t>15–30 phút traffic hợp lệ</a:t>
            </a:r>
            <a:endParaRPr lang="en-US" sz="1000" dirty="0"/>
          </a:p>
        </p:txBody>
      </p:sp>
      <p:sp>
        <p:nvSpPr>
          <p:cNvPr id="12" name="Text 10"/>
          <p:cNvSpPr/>
          <p:nvPr/>
        </p:nvSpPr>
        <p:spPr>
          <a:xfrm>
            <a:off x="457200" y="1755648"/>
            <a:ext cx="1234440" cy="384048"/>
          </a:xfrm>
          <a:prstGeom prst="rect">
            <a:avLst/>
          </a:prstGeom>
          <a:noFill/>
          <a:ln/>
        </p:spPr>
        <p:txBody>
          <a:bodyPr wrap="square" lIns="0" tIns="0" rIns="0" bIns="0" rtlCol="0" anchor="ctr"/>
          <a:lstStyle/>
          <a:p>
            <a:pPr marL="0" indent="0">
              <a:buNone/>
            </a:pPr>
            <a:r>
              <a:rPr lang="en-US" sz="1000" b="1" dirty="0">
                <a:solidFill>
                  <a:srgbClr val="0096B7"/>
                </a:solidFill>
              </a:rPr>
              <a:t>jMeter:</a:t>
            </a:r>
            <a:endParaRPr lang="en-US" sz="1000" dirty="0"/>
          </a:p>
        </p:txBody>
      </p:sp>
      <p:sp>
        <p:nvSpPr>
          <p:cNvPr id="13" name="Text 11"/>
          <p:cNvSpPr/>
          <p:nvPr/>
        </p:nvSpPr>
        <p:spPr>
          <a:xfrm>
            <a:off x="1737360" y="1755648"/>
            <a:ext cx="2560320" cy="384048"/>
          </a:xfrm>
          <a:prstGeom prst="rect">
            <a:avLst/>
          </a:prstGeom>
          <a:noFill/>
          <a:ln/>
        </p:spPr>
        <p:txBody>
          <a:bodyPr wrap="square" lIns="0" tIns="0" rIns="0" bIns="0" rtlCol="0" anchor="ctr"/>
          <a:lstStyle/>
          <a:p>
            <a:pPr marL="0" indent="0">
              <a:buNone/>
            </a:pPr>
            <a:r>
              <a:rPr lang="en-US" sz="1000" dirty="0">
                <a:solidFill>
                  <a:srgbClr val="0D1B2A"/>
                </a:solidFill>
              </a:rPr>
              <a:t>10 threads, Poisson random timer (200ms + 300ms random)</a:t>
            </a:r>
            <a:endParaRPr lang="en-US" sz="1000" dirty="0"/>
          </a:p>
        </p:txBody>
      </p:sp>
      <p:sp>
        <p:nvSpPr>
          <p:cNvPr id="14" name="Text 12"/>
          <p:cNvSpPr/>
          <p:nvPr/>
        </p:nvSpPr>
        <p:spPr>
          <a:xfrm>
            <a:off x="457200" y="2212848"/>
            <a:ext cx="1234440" cy="384048"/>
          </a:xfrm>
          <a:prstGeom prst="rect">
            <a:avLst/>
          </a:prstGeom>
          <a:noFill/>
          <a:ln/>
        </p:spPr>
        <p:txBody>
          <a:bodyPr wrap="square" lIns="0" tIns="0" rIns="0" bIns="0" rtlCol="0" anchor="ctr"/>
          <a:lstStyle/>
          <a:p>
            <a:pPr marL="0" indent="0">
              <a:buNone/>
            </a:pPr>
            <a:r>
              <a:rPr lang="en-US" sz="1000" b="1" dirty="0">
                <a:solidFill>
                  <a:srgbClr val="0096B7"/>
                </a:solidFill>
              </a:rPr>
              <a:t>Tốc độ:</a:t>
            </a:r>
            <a:endParaRPr lang="en-US" sz="1000" dirty="0"/>
          </a:p>
        </p:txBody>
      </p:sp>
      <p:sp>
        <p:nvSpPr>
          <p:cNvPr id="15" name="Text 13"/>
          <p:cNvSpPr/>
          <p:nvPr/>
        </p:nvSpPr>
        <p:spPr>
          <a:xfrm>
            <a:off x="1737360" y="2212848"/>
            <a:ext cx="2560320" cy="384048"/>
          </a:xfrm>
          <a:prstGeom prst="rect">
            <a:avLst/>
          </a:prstGeom>
          <a:noFill/>
          <a:ln/>
        </p:spPr>
        <p:txBody>
          <a:bodyPr wrap="square" lIns="0" tIns="0" rIns="0" bIns="0" rtlCol="0" anchor="ctr"/>
          <a:lstStyle/>
          <a:p>
            <a:pPr marL="0" indent="0">
              <a:buNone/>
            </a:pPr>
            <a:r>
              <a:rPr lang="en-US" sz="1000" dirty="0">
                <a:solidFill>
                  <a:srgbClr val="0D1B2A"/>
                </a:solidFill>
              </a:rPr>
              <a:t>~5–10 </a:t>
            </a:r>
            <a:r>
              <a:rPr lang="en-US" sz="1000" dirty="0" err="1">
                <a:solidFill>
                  <a:srgbClr val="0D1B2A"/>
                </a:solidFill>
              </a:rPr>
              <a:t>req</a:t>
            </a:r>
            <a:r>
              <a:rPr lang="en-US" sz="1000" dirty="0">
                <a:solidFill>
                  <a:srgbClr val="0D1B2A"/>
                </a:solidFill>
              </a:rPr>
              <a:t>/s </a:t>
            </a:r>
            <a:endParaRPr lang="en-US" sz="1000" dirty="0"/>
          </a:p>
        </p:txBody>
      </p:sp>
      <p:sp>
        <p:nvSpPr>
          <p:cNvPr id="16" name="Text 14"/>
          <p:cNvSpPr/>
          <p:nvPr/>
        </p:nvSpPr>
        <p:spPr>
          <a:xfrm>
            <a:off x="457200" y="2670048"/>
            <a:ext cx="1234440" cy="384048"/>
          </a:xfrm>
          <a:prstGeom prst="rect">
            <a:avLst/>
          </a:prstGeom>
          <a:noFill/>
          <a:ln/>
        </p:spPr>
        <p:txBody>
          <a:bodyPr wrap="square" lIns="0" tIns="0" rIns="0" bIns="0" rtlCol="0" anchor="ctr"/>
          <a:lstStyle/>
          <a:p>
            <a:pPr marL="0" indent="0">
              <a:buNone/>
            </a:pPr>
            <a:r>
              <a:rPr lang="en-US" sz="1000" b="1" dirty="0">
                <a:solidFill>
                  <a:srgbClr val="0096B7"/>
                </a:solidFill>
              </a:rPr>
              <a:t>Replicas:</a:t>
            </a:r>
            <a:endParaRPr lang="en-US" sz="1000" dirty="0"/>
          </a:p>
        </p:txBody>
      </p:sp>
      <p:sp>
        <p:nvSpPr>
          <p:cNvPr id="17" name="Text 15"/>
          <p:cNvSpPr/>
          <p:nvPr/>
        </p:nvSpPr>
        <p:spPr>
          <a:xfrm>
            <a:off x="1737360" y="2670048"/>
            <a:ext cx="2560320" cy="384048"/>
          </a:xfrm>
          <a:prstGeom prst="rect">
            <a:avLst/>
          </a:prstGeom>
          <a:noFill/>
          <a:ln/>
        </p:spPr>
        <p:txBody>
          <a:bodyPr wrap="square" lIns="0" tIns="0" rIns="0" bIns="0" rtlCol="0" anchor="ctr"/>
          <a:lstStyle/>
          <a:p>
            <a:pPr marL="0" indent="0">
              <a:buNone/>
            </a:pPr>
            <a:r>
              <a:rPr lang="en-US" sz="1000" dirty="0">
                <a:solidFill>
                  <a:srgbClr val="0D1B2A"/>
                </a:solidFill>
              </a:rPr>
              <a:t>1–2 pods, dao động theo tải tự nhiên</a:t>
            </a:r>
            <a:endParaRPr lang="en-US" sz="1000" dirty="0"/>
          </a:p>
        </p:txBody>
      </p:sp>
      <p:sp>
        <p:nvSpPr>
          <p:cNvPr id="18" name="Text 16"/>
          <p:cNvSpPr/>
          <p:nvPr/>
        </p:nvSpPr>
        <p:spPr>
          <a:xfrm>
            <a:off x="457200" y="3127248"/>
            <a:ext cx="1234440" cy="384048"/>
          </a:xfrm>
          <a:prstGeom prst="rect">
            <a:avLst/>
          </a:prstGeom>
          <a:noFill/>
          <a:ln/>
        </p:spPr>
        <p:txBody>
          <a:bodyPr wrap="square" lIns="0" tIns="0" rIns="0" bIns="0" rtlCol="0" anchor="ctr"/>
          <a:lstStyle/>
          <a:p>
            <a:pPr marL="0" indent="0">
              <a:buNone/>
            </a:pPr>
            <a:r>
              <a:rPr lang="en-US" sz="1000" b="1" dirty="0">
                <a:solidFill>
                  <a:srgbClr val="0096B7"/>
                </a:solidFill>
              </a:rPr>
              <a:t>CPU:</a:t>
            </a:r>
            <a:endParaRPr lang="en-US" sz="1000" dirty="0"/>
          </a:p>
        </p:txBody>
      </p:sp>
      <p:sp>
        <p:nvSpPr>
          <p:cNvPr id="19" name="Text 17"/>
          <p:cNvSpPr/>
          <p:nvPr/>
        </p:nvSpPr>
        <p:spPr>
          <a:xfrm>
            <a:off x="1737360" y="3127248"/>
            <a:ext cx="2560320" cy="384048"/>
          </a:xfrm>
          <a:prstGeom prst="rect">
            <a:avLst/>
          </a:prstGeom>
          <a:noFill/>
          <a:ln/>
        </p:spPr>
        <p:txBody>
          <a:bodyPr wrap="square" lIns="0" tIns="0" rIns="0" bIns="0" rtlCol="0" anchor="ctr"/>
          <a:lstStyle/>
          <a:p>
            <a:pPr marL="0" indent="0">
              <a:buNone/>
            </a:pPr>
            <a:r>
              <a:rPr lang="en-US" sz="1000" dirty="0">
                <a:solidFill>
                  <a:srgbClr val="0D1B2A"/>
                </a:solidFill>
              </a:rPr>
              <a:t>20–50%, không vượt ngưỡng 50% liên tục</a:t>
            </a:r>
            <a:endParaRPr lang="en-US" sz="1000" dirty="0"/>
          </a:p>
        </p:txBody>
      </p:sp>
      <p:sp>
        <p:nvSpPr>
          <p:cNvPr id="20" name="Text 18"/>
          <p:cNvSpPr/>
          <p:nvPr/>
        </p:nvSpPr>
        <p:spPr>
          <a:xfrm>
            <a:off x="457200" y="3584448"/>
            <a:ext cx="1234440" cy="384048"/>
          </a:xfrm>
          <a:prstGeom prst="rect">
            <a:avLst/>
          </a:prstGeom>
          <a:noFill/>
          <a:ln/>
        </p:spPr>
        <p:txBody>
          <a:bodyPr wrap="square" lIns="0" tIns="0" rIns="0" bIns="0" rtlCol="0" anchor="ctr"/>
          <a:lstStyle/>
          <a:p>
            <a:pPr marL="0" indent="0">
              <a:buNone/>
            </a:pPr>
            <a:r>
              <a:rPr lang="en-US" sz="1000" b="1" dirty="0">
                <a:solidFill>
                  <a:srgbClr val="0096B7"/>
                </a:solidFill>
              </a:rPr>
              <a:t>HPA:</a:t>
            </a:r>
            <a:endParaRPr lang="en-US" sz="1000" dirty="0"/>
          </a:p>
        </p:txBody>
      </p:sp>
      <p:sp>
        <p:nvSpPr>
          <p:cNvPr id="21" name="Text 19"/>
          <p:cNvSpPr/>
          <p:nvPr/>
        </p:nvSpPr>
        <p:spPr>
          <a:xfrm>
            <a:off x="1737360" y="3584448"/>
            <a:ext cx="2560320" cy="384048"/>
          </a:xfrm>
          <a:prstGeom prst="rect">
            <a:avLst/>
          </a:prstGeom>
          <a:noFill/>
          <a:ln/>
        </p:spPr>
        <p:txBody>
          <a:bodyPr wrap="square" lIns="0" tIns="0" rIns="0" bIns="0" rtlCol="0" anchor="ctr"/>
          <a:lstStyle/>
          <a:p>
            <a:pPr marL="0" indent="0">
              <a:buNone/>
            </a:pPr>
            <a:r>
              <a:rPr lang="en-US" sz="1000" dirty="0">
                <a:solidFill>
                  <a:srgbClr val="0D1B2A"/>
                </a:solidFill>
              </a:rPr>
              <a:t>Hầu như không kích hoạt scale-up</a:t>
            </a:r>
            <a:endParaRPr lang="en-US" sz="1000" dirty="0"/>
          </a:p>
        </p:txBody>
      </p:sp>
      <p:sp>
        <p:nvSpPr>
          <p:cNvPr id="22" name="Text 20"/>
          <p:cNvSpPr/>
          <p:nvPr/>
        </p:nvSpPr>
        <p:spPr>
          <a:xfrm>
            <a:off x="457200" y="4224528"/>
            <a:ext cx="3749040" cy="411480"/>
          </a:xfrm>
          <a:prstGeom prst="rect">
            <a:avLst/>
          </a:prstGeom>
          <a:noFill/>
          <a:ln/>
        </p:spPr>
        <p:txBody>
          <a:bodyPr wrap="square" lIns="0" tIns="0" rIns="0" bIns="0" rtlCol="0" anchor="ctr"/>
          <a:lstStyle/>
          <a:p>
            <a:pPr marL="0" indent="0">
              <a:buNone/>
            </a:pPr>
            <a:r>
              <a:rPr lang="en-US" sz="950" i="1" dirty="0" err="1" smtClean="0">
                <a:solidFill>
                  <a:srgbClr val="64748B"/>
                </a:solidFill>
              </a:rPr>
              <a:t>Mục</a:t>
            </a:r>
            <a:r>
              <a:rPr lang="en-US" sz="950" i="1" dirty="0" smtClean="0">
                <a:solidFill>
                  <a:srgbClr val="64748B"/>
                </a:solidFill>
              </a:rPr>
              <a:t> </a:t>
            </a:r>
            <a:r>
              <a:rPr lang="en-US" sz="950" i="1" dirty="0" err="1" smtClean="0">
                <a:solidFill>
                  <a:srgbClr val="64748B"/>
                </a:solidFill>
              </a:rPr>
              <a:t>tiêu</a:t>
            </a:r>
            <a:r>
              <a:rPr lang="en-US" sz="950" i="1" dirty="0" smtClean="0">
                <a:solidFill>
                  <a:srgbClr val="64748B"/>
                </a:solidFill>
              </a:rPr>
              <a:t>: </a:t>
            </a:r>
            <a:r>
              <a:rPr lang="en-US" sz="950" i="1" dirty="0" err="1" smtClean="0">
                <a:solidFill>
                  <a:srgbClr val="64748B"/>
                </a:solidFill>
              </a:rPr>
              <a:t>Thiết</a:t>
            </a:r>
            <a:r>
              <a:rPr lang="en-US" sz="950" i="1" dirty="0" smtClean="0">
                <a:solidFill>
                  <a:srgbClr val="64748B"/>
                </a:solidFill>
              </a:rPr>
              <a:t> </a:t>
            </a:r>
            <a:r>
              <a:rPr lang="en-US" sz="950" i="1" dirty="0" err="1" smtClean="0">
                <a:solidFill>
                  <a:srgbClr val="64748B"/>
                </a:solidFill>
              </a:rPr>
              <a:t>lập</a:t>
            </a:r>
            <a:r>
              <a:rPr lang="en-US" sz="950" i="1" dirty="0" smtClean="0">
                <a:solidFill>
                  <a:srgbClr val="64748B"/>
                </a:solidFill>
              </a:rPr>
              <a:t> baseline </a:t>
            </a:r>
            <a:r>
              <a:rPr lang="en-US" sz="950" i="1" dirty="0" err="1" smtClean="0">
                <a:solidFill>
                  <a:srgbClr val="64748B"/>
                </a:solidFill>
              </a:rPr>
              <a:t>ổn</a:t>
            </a:r>
            <a:r>
              <a:rPr lang="en-US" sz="950" i="1" dirty="0" smtClean="0">
                <a:solidFill>
                  <a:srgbClr val="64748B"/>
                </a:solidFill>
              </a:rPr>
              <a:t> </a:t>
            </a:r>
            <a:r>
              <a:rPr lang="en-US" sz="950" i="1" dirty="0" err="1" smtClean="0">
                <a:solidFill>
                  <a:srgbClr val="64748B"/>
                </a:solidFill>
              </a:rPr>
              <a:t>định</a:t>
            </a:r>
            <a:r>
              <a:rPr lang="en-US" sz="950" i="1" dirty="0" smtClean="0">
                <a:solidFill>
                  <a:srgbClr val="64748B"/>
                </a:solidFill>
              </a:rPr>
              <a:t> </a:t>
            </a:r>
            <a:r>
              <a:rPr lang="en-US" sz="950" i="1" dirty="0" err="1" smtClean="0">
                <a:solidFill>
                  <a:srgbClr val="64748B"/>
                </a:solidFill>
              </a:rPr>
              <a:t>để</a:t>
            </a:r>
            <a:r>
              <a:rPr lang="en-US" sz="950" i="1" dirty="0" smtClean="0">
                <a:solidFill>
                  <a:srgbClr val="64748B"/>
                </a:solidFill>
              </a:rPr>
              <a:t> so </a:t>
            </a:r>
            <a:r>
              <a:rPr lang="en-US" sz="950" i="1" dirty="0" err="1" smtClean="0">
                <a:solidFill>
                  <a:srgbClr val="64748B"/>
                </a:solidFill>
              </a:rPr>
              <a:t>sánh</a:t>
            </a:r>
            <a:r>
              <a:rPr lang="en-US" sz="950" i="1" dirty="0" smtClean="0">
                <a:solidFill>
                  <a:srgbClr val="64748B"/>
                </a:solidFill>
              </a:rPr>
              <a:t> </a:t>
            </a:r>
            <a:r>
              <a:rPr lang="en-US" sz="950" i="1" dirty="0" err="1" smtClean="0">
                <a:solidFill>
                  <a:srgbClr val="64748B"/>
                </a:solidFill>
              </a:rPr>
              <a:t>với</a:t>
            </a:r>
            <a:r>
              <a:rPr lang="en-US" sz="950" i="1" dirty="0" smtClean="0">
                <a:solidFill>
                  <a:srgbClr val="64748B"/>
                </a:solidFill>
              </a:rPr>
              <a:t> </a:t>
            </a:r>
            <a:r>
              <a:rPr lang="en-US" sz="950" i="1" dirty="0" err="1" smtClean="0">
                <a:solidFill>
                  <a:srgbClr val="64748B"/>
                </a:solidFill>
              </a:rPr>
              <a:t>khi</a:t>
            </a:r>
            <a:r>
              <a:rPr lang="en-US" sz="950" i="1" dirty="0" smtClean="0">
                <a:solidFill>
                  <a:srgbClr val="64748B"/>
                </a:solidFill>
              </a:rPr>
              <a:t> </a:t>
            </a:r>
            <a:r>
              <a:rPr lang="en-US" sz="950" i="1" dirty="0" err="1" smtClean="0">
                <a:solidFill>
                  <a:srgbClr val="64748B"/>
                </a:solidFill>
              </a:rPr>
              <a:t>bị</a:t>
            </a:r>
            <a:r>
              <a:rPr lang="en-US" sz="950" i="1" dirty="0" smtClean="0">
                <a:solidFill>
                  <a:srgbClr val="64748B"/>
                </a:solidFill>
              </a:rPr>
              <a:t> </a:t>
            </a:r>
            <a:r>
              <a:rPr lang="en-US" sz="950" i="1" dirty="0" err="1" smtClean="0">
                <a:solidFill>
                  <a:srgbClr val="64748B"/>
                </a:solidFill>
              </a:rPr>
              <a:t>tấn</a:t>
            </a:r>
            <a:r>
              <a:rPr lang="en-US" sz="950" i="1" dirty="0" smtClean="0">
                <a:solidFill>
                  <a:srgbClr val="64748B"/>
                </a:solidFill>
              </a:rPr>
              <a:t> </a:t>
            </a:r>
            <a:r>
              <a:rPr lang="en-US" sz="950" i="1" dirty="0" err="1" smtClean="0">
                <a:solidFill>
                  <a:srgbClr val="64748B"/>
                </a:solidFill>
              </a:rPr>
              <a:t>công</a:t>
            </a:r>
            <a:endParaRPr lang="en-US" sz="950" dirty="0"/>
          </a:p>
        </p:txBody>
      </p:sp>
      <p:sp>
        <p:nvSpPr>
          <p:cNvPr id="23" name="Shape 21"/>
          <p:cNvSpPr/>
          <p:nvPr/>
        </p:nvSpPr>
        <p:spPr>
          <a:xfrm>
            <a:off x="4617720" y="804672"/>
            <a:ext cx="416052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4" name="Shape 22"/>
          <p:cNvSpPr/>
          <p:nvPr/>
        </p:nvSpPr>
        <p:spPr>
          <a:xfrm>
            <a:off x="4159968" y="804672"/>
            <a:ext cx="4618272" cy="3950208"/>
          </a:xfrm>
          <a:prstGeom prst="rect">
            <a:avLst/>
          </a:prstGeom>
          <a:solidFill>
            <a:srgbClr val="EAF4FB"/>
          </a:solidFill>
          <a:ln w="12700">
            <a:solidFill>
              <a:srgbClr val="0096B7"/>
            </a:solidFill>
            <a:prstDash val="solid"/>
          </a:ln>
        </p:spPr>
      </p:sp>
      <p:sp>
        <p:nvSpPr>
          <p:cNvPr id="29" name="Text 27"/>
          <p:cNvSpPr/>
          <p:nvPr/>
        </p:nvSpPr>
        <p:spPr>
          <a:xfrm>
            <a:off x="4754880" y="4005072"/>
            <a:ext cx="3886200" cy="228600"/>
          </a:xfrm>
          <a:prstGeom prst="rect">
            <a:avLst/>
          </a:prstGeom>
          <a:noFill/>
          <a:ln/>
        </p:spPr>
        <p:txBody>
          <a:bodyPr wrap="square" lIns="0" tIns="0" rIns="0" bIns="0" rtlCol="0" anchor="ctr"/>
          <a:lstStyle/>
          <a:p>
            <a:pPr marL="0" indent="0" algn="ctr">
              <a:buNone/>
            </a:pPr>
            <a:r>
              <a:rPr lang="en-US" sz="800" dirty="0">
                <a:solidFill>
                  <a:srgbClr val="FFFFFF"/>
                </a:solidFill>
              </a:rPr>
              <a:t>Grafana — Replicas panel (baseline phase)</a:t>
            </a:r>
            <a:endParaRPr lang="en-US" sz="800" dirty="0"/>
          </a:p>
        </p:txBody>
      </p:sp>
      <p:pic>
        <p:nvPicPr>
          <p:cNvPr id="30" name="Picture 29"/>
          <p:cNvPicPr>
            <a:picLocks noChangeAspect="1"/>
          </p:cNvPicPr>
          <p:nvPr/>
        </p:nvPicPr>
        <p:blipFill>
          <a:blip r:embed="rId3"/>
          <a:stretch>
            <a:fillRect/>
          </a:stretch>
        </p:blipFill>
        <p:spPr>
          <a:xfrm>
            <a:off x="4159968" y="804672"/>
            <a:ext cx="4597480" cy="2112264"/>
          </a:xfrm>
          <a:prstGeom prst="rect">
            <a:avLst/>
          </a:prstGeom>
        </p:spPr>
      </p:pic>
      <p:pic>
        <p:nvPicPr>
          <p:cNvPr id="32" name="Picture 31"/>
          <p:cNvPicPr>
            <a:picLocks noChangeAspect="1"/>
          </p:cNvPicPr>
          <p:nvPr/>
        </p:nvPicPr>
        <p:blipFill>
          <a:blip r:embed="rId4"/>
          <a:stretch>
            <a:fillRect/>
          </a:stretch>
        </p:blipFill>
        <p:spPr>
          <a:xfrm>
            <a:off x="4159968" y="2908182"/>
            <a:ext cx="4597480" cy="1214364"/>
          </a:xfrm>
          <a:prstGeom prst="rect">
            <a:avLst/>
          </a:prstGeom>
        </p:spPr>
      </p:pic>
      <p:sp>
        <p:nvSpPr>
          <p:cNvPr id="33" name="Text 9"/>
          <p:cNvSpPr/>
          <p:nvPr/>
        </p:nvSpPr>
        <p:spPr>
          <a:xfrm>
            <a:off x="4206240" y="4160520"/>
            <a:ext cx="4551208" cy="594360"/>
          </a:xfrm>
          <a:prstGeom prst="rect">
            <a:avLst/>
          </a:prstGeom>
          <a:noFill/>
          <a:ln/>
        </p:spPr>
        <p:txBody>
          <a:bodyPr wrap="square" lIns="0" tIns="0" rIns="0" bIns="0" rtlCol="0" anchor="ctr"/>
          <a:lstStyle/>
          <a:p>
            <a:pPr marL="0" indent="0">
              <a:buNone/>
            </a:pPr>
            <a:r>
              <a:rPr lang="en-US" sz="1000" dirty="0" err="1" smtClean="0">
                <a:solidFill>
                  <a:srgbClr val="0D1B2A"/>
                </a:solidFill>
              </a:rPr>
              <a:t>Từ</a:t>
            </a:r>
            <a:r>
              <a:rPr lang="en-US" sz="1000" dirty="0" smtClean="0">
                <a:solidFill>
                  <a:srgbClr val="0D1B2A"/>
                </a:solidFill>
              </a:rPr>
              <a:t> </a:t>
            </a:r>
            <a:r>
              <a:rPr lang="en-US" sz="1000" dirty="0" err="1" smtClean="0">
                <a:solidFill>
                  <a:srgbClr val="0D1B2A"/>
                </a:solidFill>
              </a:rPr>
              <a:t>trên</a:t>
            </a:r>
            <a:r>
              <a:rPr lang="en-US" sz="1000" dirty="0" smtClean="0">
                <a:solidFill>
                  <a:srgbClr val="0D1B2A"/>
                </a:solidFill>
              </a:rPr>
              <a:t> </a:t>
            </a:r>
            <a:r>
              <a:rPr lang="en-US" sz="1000" dirty="0" err="1" smtClean="0">
                <a:solidFill>
                  <a:srgbClr val="0D1B2A"/>
                </a:solidFill>
              </a:rPr>
              <a:t>xuống</a:t>
            </a:r>
            <a:r>
              <a:rPr lang="en-US" sz="1000" dirty="0" smtClean="0">
                <a:solidFill>
                  <a:srgbClr val="0D1B2A"/>
                </a:solidFill>
              </a:rPr>
              <a:t> </a:t>
            </a:r>
            <a:r>
              <a:rPr lang="en-US" sz="1000" dirty="0" err="1" smtClean="0">
                <a:solidFill>
                  <a:srgbClr val="0D1B2A"/>
                </a:solidFill>
              </a:rPr>
              <a:t>dưới</a:t>
            </a:r>
            <a:r>
              <a:rPr lang="en-US" sz="1000" dirty="0" smtClean="0">
                <a:solidFill>
                  <a:srgbClr val="0D1B2A"/>
                </a:solidFill>
              </a:rPr>
              <a:t>: </a:t>
            </a:r>
            <a:r>
              <a:rPr lang="en-US" sz="1000" dirty="0" err="1" smtClean="0">
                <a:solidFill>
                  <a:srgbClr val="0D1B2A"/>
                </a:solidFill>
              </a:rPr>
              <a:t>Số</a:t>
            </a:r>
            <a:r>
              <a:rPr lang="en-US" sz="1000" dirty="0" smtClean="0">
                <a:solidFill>
                  <a:srgbClr val="0D1B2A"/>
                </a:solidFill>
              </a:rPr>
              <a:t> </a:t>
            </a:r>
            <a:r>
              <a:rPr lang="en-US" sz="1000" dirty="0" err="1" smtClean="0">
                <a:solidFill>
                  <a:srgbClr val="0D1B2A"/>
                </a:solidFill>
              </a:rPr>
              <a:t>lượng</a:t>
            </a:r>
            <a:r>
              <a:rPr lang="en-US" sz="1000" dirty="0" smtClean="0">
                <a:solidFill>
                  <a:srgbClr val="0D1B2A"/>
                </a:solidFill>
              </a:rPr>
              <a:t> pod </a:t>
            </a:r>
            <a:r>
              <a:rPr lang="en-US" sz="1000" dirty="0" err="1" smtClean="0">
                <a:solidFill>
                  <a:srgbClr val="0D1B2A"/>
                </a:solidFill>
              </a:rPr>
              <a:t>đang</a:t>
            </a:r>
            <a:r>
              <a:rPr lang="en-US" sz="1000" dirty="0" smtClean="0">
                <a:solidFill>
                  <a:srgbClr val="0D1B2A"/>
                </a:solidFill>
              </a:rPr>
              <a:t> active, HPA status, </a:t>
            </a:r>
            <a:r>
              <a:rPr lang="en-US" sz="1000" dirty="0" err="1" smtClean="0">
                <a:solidFill>
                  <a:srgbClr val="0D1B2A"/>
                </a:solidFill>
              </a:rPr>
              <a:t>Lượng</a:t>
            </a:r>
            <a:r>
              <a:rPr lang="en-US" sz="1000" dirty="0" smtClean="0">
                <a:solidFill>
                  <a:srgbClr val="0D1B2A"/>
                </a:solidFill>
              </a:rPr>
              <a:t> CPU </a:t>
            </a:r>
            <a:r>
              <a:rPr lang="en-US" sz="1000" dirty="0" err="1" smtClean="0">
                <a:solidFill>
                  <a:srgbClr val="0D1B2A"/>
                </a:solidFill>
              </a:rPr>
              <a:t>đang</a:t>
            </a:r>
            <a:r>
              <a:rPr lang="en-US" sz="1000" dirty="0" smtClean="0">
                <a:solidFill>
                  <a:srgbClr val="0D1B2A"/>
                </a:solidFill>
              </a:rPr>
              <a:t> </a:t>
            </a:r>
            <a:r>
              <a:rPr lang="en-US" sz="1000" dirty="0" err="1" smtClean="0">
                <a:solidFill>
                  <a:srgbClr val="0D1B2A"/>
                </a:solidFill>
              </a:rPr>
              <a:t>sử</a:t>
            </a:r>
            <a:r>
              <a:rPr lang="en-US" sz="1000" dirty="0" smtClean="0">
                <a:solidFill>
                  <a:srgbClr val="0D1B2A"/>
                </a:solidFill>
              </a:rPr>
              <a:t> </a:t>
            </a:r>
            <a:r>
              <a:rPr lang="en-US" sz="1000" dirty="0" err="1" smtClean="0">
                <a:solidFill>
                  <a:srgbClr val="0D1B2A"/>
                </a:solidFill>
              </a:rPr>
              <a:t>dụng</a:t>
            </a:r>
            <a:r>
              <a:rPr lang="en-US" sz="1000" dirty="0" smtClean="0">
                <a:solidFill>
                  <a:srgbClr val="0D1B2A"/>
                </a:solidFill>
              </a:rPr>
              <a:t> </a:t>
            </a:r>
            <a:r>
              <a:rPr lang="en-US" sz="1000" dirty="0" err="1" smtClean="0">
                <a:solidFill>
                  <a:srgbClr val="0D1B2A"/>
                </a:solidFill>
              </a:rPr>
              <a:t>mỗi</a:t>
            </a:r>
            <a:r>
              <a:rPr lang="en-US" sz="1000" dirty="0" smtClean="0">
                <a:solidFill>
                  <a:srgbClr val="0D1B2A"/>
                </a:solidFill>
              </a:rPr>
              <a:t> pod</a:t>
            </a:r>
          </a:p>
          <a:p>
            <a:pPr marL="0" indent="0">
              <a:buNone/>
            </a:pPr>
            <a:r>
              <a:rPr lang="en-US" sz="1000" dirty="0" smtClean="0">
                <a:solidFill>
                  <a:srgbClr val="0D1B2A"/>
                </a:solidFill>
              </a:rPr>
              <a:t>=&gt; </a:t>
            </a:r>
            <a:r>
              <a:rPr lang="en-US" sz="1000" dirty="0" err="1" smtClean="0">
                <a:solidFill>
                  <a:srgbClr val="0D1B2A"/>
                </a:solidFill>
              </a:rPr>
              <a:t>Trong</a:t>
            </a:r>
            <a:r>
              <a:rPr lang="en-US" sz="1000" dirty="0" smtClean="0">
                <a:solidFill>
                  <a:srgbClr val="0D1B2A"/>
                </a:solidFill>
              </a:rPr>
              <a:t> </a:t>
            </a:r>
            <a:r>
              <a:rPr lang="en-US" sz="1000" dirty="0" err="1" smtClean="0">
                <a:solidFill>
                  <a:srgbClr val="0D1B2A"/>
                </a:solidFill>
              </a:rPr>
              <a:t>trường</a:t>
            </a:r>
            <a:r>
              <a:rPr lang="en-US" sz="1000" dirty="0" smtClean="0">
                <a:solidFill>
                  <a:srgbClr val="0D1B2A"/>
                </a:solidFill>
              </a:rPr>
              <a:t> </a:t>
            </a:r>
            <a:r>
              <a:rPr lang="en-US" sz="1000" dirty="0" err="1" smtClean="0">
                <a:solidFill>
                  <a:srgbClr val="0D1B2A"/>
                </a:solidFill>
              </a:rPr>
              <a:t>hợp</a:t>
            </a:r>
            <a:r>
              <a:rPr lang="en-US" sz="1000" dirty="0" smtClean="0">
                <a:solidFill>
                  <a:srgbClr val="0D1B2A"/>
                </a:solidFill>
              </a:rPr>
              <a:t> </a:t>
            </a:r>
            <a:r>
              <a:rPr lang="en-US" sz="1000" dirty="0" err="1" smtClean="0">
                <a:solidFill>
                  <a:srgbClr val="0D1B2A"/>
                </a:solidFill>
              </a:rPr>
              <a:t>chỉ</a:t>
            </a:r>
            <a:r>
              <a:rPr lang="en-US" sz="1000" dirty="0" smtClean="0">
                <a:solidFill>
                  <a:srgbClr val="0D1B2A"/>
                </a:solidFill>
              </a:rPr>
              <a:t> </a:t>
            </a:r>
            <a:r>
              <a:rPr lang="en-US" sz="1000" dirty="0" err="1" smtClean="0">
                <a:solidFill>
                  <a:srgbClr val="0D1B2A"/>
                </a:solidFill>
              </a:rPr>
              <a:t>có</a:t>
            </a:r>
            <a:r>
              <a:rPr lang="en-US" sz="1000" dirty="0" smtClean="0">
                <a:solidFill>
                  <a:srgbClr val="0D1B2A"/>
                </a:solidFill>
              </a:rPr>
              <a:t> Legit traffic, </a:t>
            </a:r>
            <a:r>
              <a:rPr lang="en-US" sz="1000" dirty="0" err="1" smtClean="0">
                <a:solidFill>
                  <a:srgbClr val="0D1B2A"/>
                </a:solidFill>
              </a:rPr>
              <a:t>hệ</a:t>
            </a:r>
            <a:r>
              <a:rPr lang="en-US" sz="1000" dirty="0" smtClean="0">
                <a:solidFill>
                  <a:srgbClr val="0D1B2A"/>
                </a:solidFill>
              </a:rPr>
              <a:t> </a:t>
            </a:r>
            <a:r>
              <a:rPr lang="en-US" sz="1000" dirty="0" err="1" smtClean="0">
                <a:solidFill>
                  <a:srgbClr val="0D1B2A"/>
                </a:solidFill>
              </a:rPr>
              <a:t>thống</a:t>
            </a:r>
            <a:r>
              <a:rPr lang="en-US" sz="1000" dirty="0" smtClean="0">
                <a:solidFill>
                  <a:srgbClr val="0D1B2A"/>
                </a:solidFill>
              </a:rPr>
              <a:t> </a:t>
            </a:r>
            <a:r>
              <a:rPr lang="en-US" sz="1000" dirty="0" err="1" smtClean="0">
                <a:solidFill>
                  <a:srgbClr val="0D1B2A"/>
                </a:solidFill>
              </a:rPr>
              <a:t>hoàn</a:t>
            </a:r>
            <a:r>
              <a:rPr lang="en-US" sz="1000" dirty="0" smtClean="0">
                <a:solidFill>
                  <a:srgbClr val="0D1B2A"/>
                </a:solidFill>
              </a:rPr>
              <a:t> </a:t>
            </a:r>
            <a:r>
              <a:rPr lang="en-US" sz="1000" dirty="0" err="1" smtClean="0">
                <a:solidFill>
                  <a:srgbClr val="0D1B2A"/>
                </a:solidFill>
              </a:rPr>
              <a:t>toàn</a:t>
            </a:r>
            <a:r>
              <a:rPr lang="en-US" sz="1000" dirty="0" smtClean="0">
                <a:solidFill>
                  <a:srgbClr val="0D1B2A"/>
                </a:solidFill>
              </a:rPr>
              <a:t> </a:t>
            </a:r>
            <a:r>
              <a:rPr lang="en-US" sz="1000" dirty="0" err="1" smtClean="0">
                <a:solidFill>
                  <a:srgbClr val="0D1B2A"/>
                </a:solidFill>
              </a:rPr>
              <a:t>ổn</a:t>
            </a:r>
            <a:r>
              <a:rPr lang="en-US" sz="1000" dirty="0" smtClean="0">
                <a:solidFill>
                  <a:srgbClr val="0D1B2A"/>
                </a:solidFill>
              </a:rPr>
              <a:t> </a:t>
            </a:r>
            <a:r>
              <a:rPr lang="en-US" sz="1000" dirty="0" err="1" smtClean="0">
                <a:solidFill>
                  <a:srgbClr val="0D1B2A"/>
                </a:solidFill>
              </a:rPr>
              <a:t>định</a:t>
            </a:r>
            <a:endParaRPr lang="en-US" sz="1000" dirty="0"/>
          </a:p>
        </p:txBody>
      </p:sp>
      <p:pic>
        <p:nvPicPr>
          <p:cNvPr id="35" name="Picture 34"/>
          <p:cNvPicPr>
            <a:picLocks noChangeAspect="1"/>
          </p:cNvPicPr>
          <p:nvPr/>
        </p:nvPicPr>
        <p:blipFill>
          <a:blip r:embed="rId5"/>
          <a:stretch>
            <a:fillRect/>
          </a:stretch>
        </p:blipFill>
        <p:spPr>
          <a:xfrm>
            <a:off x="8027082" y="804672"/>
            <a:ext cx="710728" cy="213715"/>
          </a:xfrm>
          <a:prstGeom prst="rect">
            <a:avLst/>
          </a:prstGeom>
        </p:spPr>
      </p:pic>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31" name="Shape 5"/>
          <p:cNvSpPr/>
          <p:nvPr/>
        </p:nvSpPr>
        <p:spPr>
          <a:xfrm>
            <a:off x="274320" y="804672"/>
            <a:ext cx="8743556"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DEMO · Giai đoạn 1 — Baseline (chỉ traffic </a:t>
            </a:r>
            <a:r>
              <a:rPr lang="en-US" sz="2200" b="1" dirty="0" err="1">
                <a:solidFill>
                  <a:srgbClr val="FFFFFF"/>
                </a:solidFill>
              </a:rPr>
              <a:t>hợp</a:t>
            </a:r>
            <a:r>
              <a:rPr lang="en-US" sz="2200" b="1" dirty="0">
                <a:solidFill>
                  <a:srgbClr val="FFFFFF"/>
                </a:solidFill>
              </a:rPr>
              <a:t> </a:t>
            </a:r>
            <a:r>
              <a:rPr lang="en-US" sz="2200" b="1" dirty="0" err="1" smtClean="0">
                <a:solidFill>
                  <a:srgbClr val="FFFFFF"/>
                </a:solidFill>
              </a:rPr>
              <a:t>lệ</a:t>
            </a:r>
            <a:r>
              <a:rPr lang="en-US" sz="2200" b="1" dirty="0" smtClean="0">
                <a:solidFill>
                  <a:srgbClr val="FFFFFF"/>
                </a:solidFill>
              </a:rPr>
              <a:t> </a:t>
            </a:r>
            <a:r>
              <a:rPr lang="en-US" sz="2200" b="1" dirty="0" err="1" smtClean="0">
                <a:solidFill>
                  <a:srgbClr val="FFFFFF"/>
                </a:solidFill>
              </a:rPr>
              <a:t>từ</a:t>
            </a:r>
            <a:r>
              <a:rPr lang="en-US" sz="2200" b="1" dirty="0" smtClean="0">
                <a:solidFill>
                  <a:srgbClr val="FFFFFF"/>
                </a:solidFill>
              </a:rPr>
              <a:t> </a:t>
            </a:r>
            <a:r>
              <a:rPr lang="en-US" sz="2200" b="1" dirty="0" err="1" smtClean="0">
                <a:solidFill>
                  <a:srgbClr val="FFFFFF"/>
                </a:solidFill>
              </a:rPr>
              <a:t>JMeter</a:t>
            </a:r>
            <a:r>
              <a:rPr lang="en-US" sz="2200" b="1" dirty="0" smtClean="0">
                <a:solidFill>
                  <a:srgbClr val="FFFFFF"/>
                </a:solidFill>
              </a:rPr>
              <a:t>)</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8" name="Shape 6"/>
          <p:cNvSpPr/>
          <p:nvPr/>
        </p:nvSpPr>
        <p:spPr>
          <a:xfrm>
            <a:off x="274320" y="804672"/>
            <a:ext cx="54864" cy="3950208"/>
          </a:xfrm>
          <a:prstGeom prst="rect">
            <a:avLst/>
          </a:prstGeom>
          <a:solidFill>
            <a:srgbClr val="0096B7"/>
          </a:solidFill>
          <a:ln w="12700">
            <a:solidFill>
              <a:srgbClr val="0096B7"/>
            </a:solidFill>
            <a:prstDash val="solid"/>
          </a:ln>
        </p:spPr>
      </p:sp>
      <p:sp>
        <p:nvSpPr>
          <p:cNvPr id="9" name="Text 7"/>
          <p:cNvSpPr/>
          <p:nvPr/>
        </p:nvSpPr>
        <p:spPr>
          <a:xfrm>
            <a:off x="457200" y="804672"/>
            <a:ext cx="4206854" cy="320040"/>
          </a:xfrm>
          <a:prstGeom prst="rect">
            <a:avLst/>
          </a:prstGeom>
          <a:noFill/>
          <a:ln/>
        </p:spPr>
        <p:txBody>
          <a:bodyPr wrap="square" lIns="0" tIns="0" rIns="0" bIns="0" rtlCol="0" anchor="ctr"/>
          <a:lstStyle/>
          <a:p>
            <a:pPr marL="0" indent="0">
              <a:buNone/>
            </a:pPr>
            <a:r>
              <a:rPr lang="en-US" sz="1200" b="1" dirty="0" err="1" smtClean="0">
                <a:solidFill>
                  <a:srgbClr val="0D1B2A"/>
                </a:solidFill>
              </a:rPr>
              <a:t>Quan</a:t>
            </a:r>
            <a:r>
              <a:rPr lang="en-US" sz="1200" b="1" dirty="0" smtClean="0">
                <a:solidFill>
                  <a:srgbClr val="0D1B2A"/>
                </a:solidFill>
              </a:rPr>
              <a:t> </a:t>
            </a:r>
            <a:r>
              <a:rPr lang="en-US" sz="1200" b="1" dirty="0" err="1" smtClean="0">
                <a:solidFill>
                  <a:srgbClr val="0D1B2A"/>
                </a:solidFill>
              </a:rPr>
              <a:t>sát</a:t>
            </a:r>
            <a:r>
              <a:rPr lang="en-US" sz="1200" b="1" dirty="0" smtClean="0">
                <a:solidFill>
                  <a:srgbClr val="0D1B2A"/>
                </a:solidFill>
              </a:rPr>
              <a:t> </a:t>
            </a:r>
            <a:r>
              <a:rPr lang="en-US" sz="1200" b="1" dirty="0" err="1" smtClean="0">
                <a:solidFill>
                  <a:srgbClr val="0D1B2A"/>
                </a:solidFill>
              </a:rPr>
              <a:t>trên</a:t>
            </a:r>
            <a:r>
              <a:rPr lang="en-US" sz="1200" b="1" dirty="0" smtClean="0">
                <a:solidFill>
                  <a:srgbClr val="0D1B2A"/>
                </a:solidFill>
              </a:rPr>
              <a:t> </a:t>
            </a:r>
            <a:r>
              <a:rPr lang="en-US" sz="1200" b="1" dirty="0" err="1" smtClean="0">
                <a:solidFill>
                  <a:srgbClr val="0D1B2A"/>
                </a:solidFill>
              </a:rPr>
              <a:t>Grafana</a:t>
            </a:r>
            <a:r>
              <a:rPr lang="en-US" sz="1200" b="1" dirty="0" smtClean="0">
                <a:solidFill>
                  <a:srgbClr val="0D1B2A"/>
                </a:solidFill>
              </a:rPr>
              <a:t> </a:t>
            </a:r>
            <a:r>
              <a:rPr lang="en-US" sz="1200" b="1" dirty="0" err="1" smtClean="0">
                <a:solidFill>
                  <a:srgbClr val="0D1B2A"/>
                </a:solidFill>
              </a:rPr>
              <a:t>sau</a:t>
            </a:r>
            <a:r>
              <a:rPr lang="en-US" sz="1200" b="1" dirty="0" smtClean="0">
                <a:solidFill>
                  <a:srgbClr val="0D1B2A"/>
                </a:solidFill>
              </a:rPr>
              <a:t> 15 </a:t>
            </a:r>
            <a:r>
              <a:rPr lang="en-US" sz="1200" b="1" dirty="0" err="1" smtClean="0">
                <a:solidFill>
                  <a:srgbClr val="0D1B2A"/>
                </a:solidFill>
              </a:rPr>
              <a:t>phút</a:t>
            </a:r>
            <a:r>
              <a:rPr lang="en-US" sz="1200" b="1" dirty="0" smtClean="0">
                <a:solidFill>
                  <a:srgbClr val="0D1B2A"/>
                </a:solidFill>
              </a:rPr>
              <a:t> </a:t>
            </a:r>
            <a:r>
              <a:rPr lang="en-US" sz="1200" b="1" dirty="0" err="1" smtClean="0">
                <a:solidFill>
                  <a:srgbClr val="0D1B2A"/>
                </a:solidFill>
              </a:rPr>
              <a:t>đẩy</a:t>
            </a:r>
            <a:r>
              <a:rPr lang="en-US" sz="1200" b="1" dirty="0" smtClean="0">
                <a:solidFill>
                  <a:srgbClr val="0D1B2A"/>
                </a:solidFill>
              </a:rPr>
              <a:t> </a:t>
            </a:r>
            <a:r>
              <a:rPr lang="en-US" sz="1200" b="1" dirty="0" err="1" smtClean="0">
                <a:solidFill>
                  <a:srgbClr val="0D1B2A"/>
                </a:solidFill>
              </a:rPr>
              <a:t>tải</a:t>
            </a:r>
            <a:r>
              <a:rPr lang="en-US" sz="1200" b="1" dirty="0" smtClean="0">
                <a:solidFill>
                  <a:srgbClr val="0D1B2A"/>
                </a:solidFill>
              </a:rPr>
              <a:t> legit traffic </a:t>
            </a:r>
            <a:r>
              <a:rPr lang="en-US" sz="1200" b="1" dirty="0" err="1" smtClean="0">
                <a:solidFill>
                  <a:srgbClr val="0D1B2A"/>
                </a:solidFill>
              </a:rPr>
              <a:t>từ</a:t>
            </a:r>
            <a:r>
              <a:rPr lang="en-US" sz="1200" b="1" dirty="0" smtClean="0">
                <a:solidFill>
                  <a:srgbClr val="0D1B2A"/>
                </a:solidFill>
              </a:rPr>
              <a:t> </a:t>
            </a:r>
            <a:r>
              <a:rPr lang="en-US" sz="1200" b="1" dirty="0" err="1" smtClean="0">
                <a:solidFill>
                  <a:srgbClr val="0D1B2A"/>
                </a:solidFill>
              </a:rPr>
              <a:t>JMeter</a:t>
            </a:r>
            <a:endParaRPr lang="en-US" sz="1200" dirty="0"/>
          </a:p>
        </p:txBody>
      </p:sp>
      <p:sp>
        <p:nvSpPr>
          <p:cNvPr id="29" name="Text 27"/>
          <p:cNvSpPr/>
          <p:nvPr/>
        </p:nvSpPr>
        <p:spPr>
          <a:xfrm>
            <a:off x="4754880" y="4005072"/>
            <a:ext cx="3886200" cy="228600"/>
          </a:xfrm>
          <a:prstGeom prst="rect">
            <a:avLst/>
          </a:prstGeom>
          <a:noFill/>
          <a:ln/>
        </p:spPr>
        <p:txBody>
          <a:bodyPr wrap="square" lIns="0" tIns="0" rIns="0" bIns="0" rtlCol="0" anchor="ctr"/>
          <a:lstStyle/>
          <a:p>
            <a:pPr marL="0" indent="0" algn="ctr">
              <a:buNone/>
            </a:pPr>
            <a:r>
              <a:rPr lang="en-US" sz="800" dirty="0">
                <a:solidFill>
                  <a:srgbClr val="FFFFFF"/>
                </a:solidFill>
              </a:rPr>
              <a:t>Grafana — Replicas panel (baseline phase)</a:t>
            </a:r>
            <a:endParaRPr lang="en-US" sz="800" dirty="0"/>
          </a:p>
        </p:txBody>
      </p:sp>
      <p:sp>
        <p:nvSpPr>
          <p:cNvPr id="34" name="Text 19"/>
          <p:cNvSpPr/>
          <p:nvPr/>
        </p:nvSpPr>
        <p:spPr>
          <a:xfrm>
            <a:off x="599961" y="4233672"/>
            <a:ext cx="7126412" cy="384048"/>
          </a:xfrm>
          <a:prstGeom prst="rect">
            <a:avLst/>
          </a:prstGeom>
          <a:noFill/>
          <a:ln/>
        </p:spPr>
        <p:txBody>
          <a:bodyPr wrap="square" lIns="0" tIns="0" rIns="0" bIns="0" rtlCol="0" anchor="ctr"/>
          <a:lstStyle/>
          <a:p>
            <a:pPr marL="0" indent="0">
              <a:buNone/>
            </a:pPr>
            <a:r>
              <a:rPr lang="en-US" sz="1000" dirty="0" smtClean="0">
                <a:solidFill>
                  <a:srgbClr val="0D1B2A"/>
                </a:solidFill>
              </a:rPr>
              <a:t>=&gt; </a:t>
            </a:r>
            <a:r>
              <a:rPr lang="en-US" sz="1000" dirty="0" err="1" smtClean="0">
                <a:solidFill>
                  <a:srgbClr val="0D1B2A"/>
                </a:solidFill>
              </a:rPr>
              <a:t>Hệ</a:t>
            </a:r>
            <a:r>
              <a:rPr lang="en-US" sz="1000" dirty="0" smtClean="0">
                <a:solidFill>
                  <a:srgbClr val="0D1B2A"/>
                </a:solidFill>
              </a:rPr>
              <a:t> </a:t>
            </a:r>
            <a:r>
              <a:rPr lang="en-US" sz="1000" dirty="0" err="1" smtClean="0">
                <a:solidFill>
                  <a:srgbClr val="0D1B2A"/>
                </a:solidFill>
              </a:rPr>
              <a:t>thống</a:t>
            </a:r>
            <a:r>
              <a:rPr lang="en-US" sz="1000" dirty="0" smtClean="0">
                <a:solidFill>
                  <a:srgbClr val="0D1B2A"/>
                </a:solidFill>
              </a:rPr>
              <a:t> </a:t>
            </a:r>
            <a:r>
              <a:rPr lang="en-US" sz="1000" dirty="0" err="1" smtClean="0">
                <a:solidFill>
                  <a:srgbClr val="0D1B2A"/>
                </a:solidFill>
              </a:rPr>
              <a:t>ổn</a:t>
            </a:r>
            <a:r>
              <a:rPr lang="en-US" sz="1000" dirty="0" smtClean="0">
                <a:solidFill>
                  <a:srgbClr val="0D1B2A"/>
                </a:solidFill>
              </a:rPr>
              <a:t> </a:t>
            </a:r>
            <a:r>
              <a:rPr lang="en-US" sz="1000" dirty="0" err="1" smtClean="0">
                <a:solidFill>
                  <a:srgbClr val="0D1B2A"/>
                </a:solidFill>
              </a:rPr>
              <a:t>định</a:t>
            </a:r>
            <a:r>
              <a:rPr lang="en-US" sz="1000" dirty="0" smtClean="0">
                <a:solidFill>
                  <a:srgbClr val="0D1B2A"/>
                </a:solidFill>
              </a:rPr>
              <a:t>, CPU </a:t>
            </a:r>
            <a:r>
              <a:rPr lang="en-US" sz="1000" dirty="0" err="1" smtClean="0">
                <a:solidFill>
                  <a:srgbClr val="0D1B2A"/>
                </a:solidFill>
              </a:rPr>
              <a:t>đều</a:t>
            </a:r>
            <a:r>
              <a:rPr lang="en-US" sz="1000" dirty="0" smtClean="0">
                <a:solidFill>
                  <a:srgbClr val="0D1B2A"/>
                </a:solidFill>
              </a:rPr>
              <a:t> ở </a:t>
            </a:r>
            <a:r>
              <a:rPr lang="en-US" sz="1000" dirty="0" err="1" smtClean="0">
                <a:solidFill>
                  <a:srgbClr val="0D1B2A"/>
                </a:solidFill>
              </a:rPr>
              <a:t>mức</a:t>
            </a:r>
            <a:r>
              <a:rPr lang="en-US" sz="1000" dirty="0" smtClean="0">
                <a:solidFill>
                  <a:srgbClr val="0D1B2A"/>
                </a:solidFill>
              </a:rPr>
              <a:t> </a:t>
            </a:r>
            <a:r>
              <a:rPr lang="en-US" sz="1000" dirty="0" err="1" smtClean="0">
                <a:solidFill>
                  <a:srgbClr val="0D1B2A"/>
                </a:solidFill>
              </a:rPr>
              <a:t>ngưỡng</a:t>
            </a:r>
            <a:r>
              <a:rPr lang="en-US" sz="1000" dirty="0" smtClean="0">
                <a:solidFill>
                  <a:srgbClr val="0D1B2A"/>
                </a:solidFill>
              </a:rPr>
              <a:t> </a:t>
            </a:r>
            <a:r>
              <a:rPr lang="en-US" sz="1000" dirty="0" err="1" smtClean="0">
                <a:solidFill>
                  <a:srgbClr val="0D1B2A"/>
                </a:solidFill>
              </a:rPr>
              <a:t>ko</a:t>
            </a:r>
            <a:r>
              <a:rPr lang="en-US" sz="1000" dirty="0" smtClean="0">
                <a:solidFill>
                  <a:srgbClr val="0D1B2A"/>
                </a:solidFill>
              </a:rPr>
              <a:t> </a:t>
            </a:r>
            <a:r>
              <a:rPr lang="en-US" sz="1000" dirty="0" err="1" smtClean="0">
                <a:solidFill>
                  <a:srgbClr val="0D1B2A"/>
                </a:solidFill>
              </a:rPr>
              <a:t>vượt</a:t>
            </a:r>
            <a:r>
              <a:rPr lang="en-US" sz="1000" dirty="0" smtClean="0">
                <a:solidFill>
                  <a:srgbClr val="0D1B2A"/>
                </a:solidFill>
              </a:rPr>
              <a:t> </a:t>
            </a:r>
            <a:r>
              <a:rPr lang="en-US" sz="1000" dirty="0" err="1" smtClean="0">
                <a:solidFill>
                  <a:srgbClr val="0D1B2A"/>
                </a:solidFill>
              </a:rPr>
              <a:t>ngưỡng</a:t>
            </a:r>
            <a:r>
              <a:rPr lang="en-US" sz="1000" dirty="0" smtClean="0">
                <a:solidFill>
                  <a:srgbClr val="0D1B2A"/>
                </a:solidFill>
              </a:rPr>
              <a:t> 50% </a:t>
            </a:r>
            <a:r>
              <a:rPr lang="en-US" sz="1000" dirty="0" err="1" smtClean="0">
                <a:solidFill>
                  <a:srgbClr val="0D1B2A"/>
                </a:solidFill>
              </a:rPr>
              <a:t>liên</a:t>
            </a:r>
            <a:r>
              <a:rPr lang="en-US" sz="1000" dirty="0" smtClean="0">
                <a:solidFill>
                  <a:srgbClr val="0D1B2A"/>
                </a:solidFill>
              </a:rPr>
              <a:t> </a:t>
            </a:r>
            <a:r>
              <a:rPr lang="en-US" sz="1000" dirty="0" err="1" smtClean="0">
                <a:solidFill>
                  <a:srgbClr val="0D1B2A"/>
                </a:solidFill>
              </a:rPr>
              <a:t>tục</a:t>
            </a:r>
            <a:r>
              <a:rPr lang="en-US" sz="1000" dirty="0" smtClean="0">
                <a:solidFill>
                  <a:srgbClr val="0D1B2A"/>
                </a:solidFill>
              </a:rPr>
              <a:t>, pod </a:t>
            </a:r>
            <a:r>
              <a:rPr lang="en-US" sz="1000" dirty="0" err="1" smtClean="0">
                <a:solidFill>
                  <a:srgbClr val="0D1B2A"/>
                </a:solidFill>
              </a:rPr>
              <a:t>duy</a:t>
            </a:r>
            <a:r>
              <a:rPr lang="en-US" sz="1000" dirty="0" smtClean="0">
                <a:solidFill>
                  <a:srgbClr val="0D1B2A"/>
                </a:solidFill>
              </a:rPr>
              <a:t> </a:t>
            </a:r>
            <a:r>
              <a:rPr lang="en-US" sz="1000" dirty="0" err="1" smtClean="0">
                <a:solidFill>
                  <a:srgbClr val="0D1B2A"/>
                </a:solidFill>
              </a:rPr>
              <a:t>trì</a:t>
            </a:r>
            <a:r>
              <a:rPr lang="en-US" sz="1000" dirty="0" smtClean="0">
                <a:solidFill>
                  <a:srgbClr val="0D1B2A"/>
                </a:solidFill>
              </a:rPr>
              <a:t> </a:t>
            </a:r>
            <a:r>
              <a:rPr lang="en-US" sz="1000" dirty="0" err="1" smtClean="0">
                <a:solidFill>
                  <a:srgbClr val="0D1B2A"/>
                </a:solidFill>
              </a:rPr>
              <a:t>ổn</a:t>
            </a:r>
            <a:r>
              <a:rPr lang="en-US" sz="1000" dirty="0" smtClean="0">
                <a:solidFill>
                  <a:srgbClr val="0D1B2A"/>
                </a:solidFill>
              </a:rPr>
              <a:t> </a:t>
            </a:r>
            <a:r>
              <a:rPr lang="en-US" sz="1000" dirty="0" err="1" smtClean="0">
                <a:solidFill>
                  <a:srgbClr val="0D1B2A"/>
                </a:solidFill>
              </a:rPr>
              <a:t>định</a:t>
            </a:r>
            <a:r>
              <a:rPr lang="en-US" sz="1000" dirty="0" smtClean="0">
                <a:solidFill>
                  <a:srgbClr val="0D1B2A"/>
                </a:solidFill>
              </a:rPr>
              <a:t> 1 (</a:t>
            </a:r>
            <a:r>
              <a:rPr lang="en-US" sz="1000" dirty="0" err="1" smtClean="0">
                <a:solidFill>
                  <a:srgbClr val="0D1B2A"/>
                </a:solidFill>
              </a:rPr>
              <a:t>hoặc</a:t>
            </a:r>
            <a:r>
              <a:rPr lang="en-US" sz="1000" dirty="0" smtClean="0">
                <a:solidFill>
                  <a:srgbClr val="0D1B2A"/>
                </a:solidFill>
              </a:rPr>
              <a:t> 2) pod </a:t>
            </a:r>
            <a:r>
              <a:rPr lang="en-US" sz="1000" dirty="0" err="1" smtClean="0">
                <a:solidFill>
                  <a:srgbClr val="0D1B2A"/>
                </a:solidFill>
              </a:rPr>
              <a:t>tùy</a:t>
            </a:r>
            <a:r>
              <a:rPr lang="en-US" sz="1000" dirty="0" smtClean="0">
                <a:solidFill>
                  <a:srgbClr val="0D1B2A"/>
                </a:solidFill>
              </a:rPr>
              <a:t> </a:t>
            </a:r>
            <a:r>
              <a:rPr lang="en-US" sz="1000" dirty="0" err="1" smtClean="0">
                <a:solidFill>
                  <a:srgbClr val="0D1B2A"/>
                </a:solidFill>
              </a:rPr>
              <a:t>theo</a:t>
            </a:r>
            <a:r>
              <a:rPr lang="en-US" sz="1000" dirty="0" smtClean="0">
                <a:solidFill>
                  <a:srgbClr val="0D1B2A"/>
                </a:solidFill>
              </a:rPr>
              <a:t> </a:t>
            </a:r>
            <a:r>
              <a:rPr lang="en-US" sz="1000" dirty="0" err="1" smtClean="0">
                <a:solidFill>
                  <a:srgbClr val="0D1B2A"/>
                </a:solidFill>
              </a:rPr>
              <a:t>tải</a:t>
            </a:r>
            <a:endParaRPr lang="en-US" sz="1000" dirty="0"/>
          </a:p>
        </p:txBody>
      </p:sp>
      <p:pic>
        <p:nvPicPr>
          <p:cNvPr id="7" name="Picture 6"/>
          <p:cNvPicPr>
            <a:picLocks noChangeAspect="1"/>
          </p:cNvPicPr>
          <p:nvPr/>
        </p:nvPicPr>
        <p:blipFill>
          <a:blip r:embed="rId3"/>
          <a:stretch>
            <a:fillRect/>
          </a:stretch>
        </p:blipFill>
        <p:spPr>
          <a:xfrm>
            <a:off x="1008161" y="1062861"/>
            <a:ext cx="6815042" cy="3232662"/>
          </a:xfrm>
          <a:prstGeom prst="rect">
            <a:avLst/>
          </a:prstGeom>
        </p:spPr>
      </p:pic>
    </p:spTree>
    <p:extLst>
      <p:ext uri="{BB962C8B-B14F-4D97-AF65-F5344CB8AC3E}">
        <p14:creationId xmlns:p14="http://schemas.microsoft.com/office/powerpoint/2010/main" val="217222478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D62828"/>
          </a:solidFill>
          <a:ln w="12700">
            <a:solidFill>
              <a:srgbClr val="D62828"/>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DEMO · Giai đoạn 2 — Tấn công EDoS State-Aware</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4160520" cy="2176272"/>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2176272"/>
          </a:xfrm>
          <a:prstGeom prst="rect">
            <a:avLst/>
          </a:prstGeom>
          <a:solidFill>
            <a:srgbClr val="D62828"/>
          </a:solidFill>
          <a:ln w="12700">
            <a:solidFill>
              <a:srgbClr val="D62828"/>
            </a:solidFill>
            <a:prstDash val="solid"/>
          </a:ln>
        </p:spPr>
      </p:sp>
      <p:sp>
        <p:nvSpPr>
          <p:cNvPr id="9" name="Text 7"/>
          <p:cNvSpPr/>
          <p:nvPr/>
        </p:nvSpPr>
        <p:spPr>
          <a:xfrm>
            <a:off x="457200" y="868680"/>
            <a:ext cx="3840480" cy="320040"/>
          </a:xfrm>
          <a:prstGeom prst="rect">
            <a:avLst/>
          </a:prstGeom>
          <a:noFill/>
          <a:ln/>
        </p:spPr>
        <p:txBody>
          <a:bodyPr wrap="square" lIns="0" tIns="0" rIns="0" bIns="0" rtlCol="0" anchor="ctr"/>
          <a:lstStyle/>
          <a:p>
            <a:pPr marL="0" indent="0">
              <a:buNone/>
            </a:pPr>
            <a:r>
              <a:rPr lang="en-US" sz="1100" b="1" dirty="0" err="1" smtClean="0">
                <a:solidFill>
                  <a:srgbClr val="0D1B2A"/>
                </a:solidFill>
              </a:rPr>
              <a:t>Vòng</a:t>
            </a:r>
            <a:r>
              <a:rPr lang="en-US" sz="1100" b="1" dirty="0" smtClean="0">
                <a:solidFill>
                  <a:srgbClr val="0D1B2A"/>
                </a:solidFill>
              </a:rPr>
              <a:t> </a:t>
            </a:r>
            <a:r>
              <a:rPr lang="en-US" sz="1100" b="1" dirty="0" err="1" smtClean="0">
                <a:solidFill>
                  <a:srgbClr val="0D1B2A"/>
                </a:solidFill>
              </a:rPr>
              <a:t>lặp</a:t>
            </a:r>
            <a:r>
              <a:rPr lang="en-US" sz="1100" b="1" dirty="0" smtClean="0">
                <a:solidFill>
                  <a:srgbClr val="0D1B2A"/>
                </a:solidFill>
              </a:rPr>
              <a:t> </a:t>
            </a:r>
            <a:r>
              <a:rPr lang="en-US" sz="1100" b="1" dirty="0">
                <a:solidFill>
                  <a:srgbClr val="0D1B2A"/>
                </a:solidFill>
              </a:rPr>
              <a:t>Attacker </a:t>
            </a:r>
            <a:r>
              <a:rPr lang="en-US" sz="1100" b="1" dirty="0" smtClean="0">
                <a:solidFill>
                  <a:srgbClr val="0D1B2A"/>
                </a:solidFill>
              </a:rPr>
              <a:t>Controller</a:t>
            </a:r>
            <a:endParaRPr lang="en-US" sz="1100" dirty="0"/>
          </a:p>
        </p:txBody>
      </p:sp>
      <p:sp>
        <p:nvSpPr>
          <p:cNvPr id="10" name="Shape 8"/>
          <p:cNvSpPr/>
          <p:nvPr/>
        </p:nvSpPr>
        <p:spPr>
          <a:xfrm>
            <a:off x="457200" y="1261872"/>
            <a:ext cx="347472" cy="347472"/>
          </a:xfrm>
          <a:prstGeom prst="ellipse">
            <a:avLst/>
          </a:prstGeom>
          <a:solidFill>
            <a:srgbClr val="D62828"/>
          </a:solidFill>
          <a:ln w="12700">
            <a:solidFill>
              <a:srgbClr val="D62828"/>
            </a:solidFill>
            <a:prstDash val="solid"/>
          </a:ln>
        </p:spPr>
      </p:sp>
      <p:sp>
        <p:nvSpPr>
          <p:cNvPr id="11" name="Text 9"/>
          <p:cNvSpPr/>
          <p:nvPr/>
        </p:nvSpPr>
        <p:spPr>
          <a:xfrm>
            <a:off x="457200" y="126187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1</a:t>
            </a:r>
            <a:endParaRPr lang="en-US" sz="1100" dirty="0"/>
          </a:p>
        </p:txBody>
      </p:sp>
      <p:sp>
        <p:nvSpPr>
          <p:cNvPr id="12" name="Text 10"/>
          <p:cNvSpPr/>
          <p:nvPr/>
        </p:nvSpPr>
        <p:spPr>
          <a:xfrm>
            <a:off x="896112" y="1261872"/>
            <a:ext cx="1463040" cy="274320"/>
          </a:xfrm>
          <a:prstGeom prst="rect">
            <a:avLst/>
          </a:prstGeom>
          <a:noFill/>
          <a:ln/>
        </p:spPr>
        <p:txBody>
          <a:bodyPr wrap="square" lIns="0" tIns="0" rIns="0" bIns="0" rtlCol="0" anchor="ctr"/>
          <a:lstStyle/>
          <a:p>
            <a:pPr marL="0" indent="0">
              <a:buNone/>
            </a:pPr>
            <a:r>
              <a:rPr lang="en-US" sz="1000" b="1" dirty="0">
                <a:solidFill>
                  <a:srgbClr val="0D1B2A"/>
                </a:solidFill>
              </a:rPr>
              <a:t>Query Prometheus:</a:t>
            </a:r>
            <a:endParaRPr lang="en-US" sz="1000" dirty="0"/>
          </a:p>
        </p:txBody>
      </p:sp>
      <p:sp>
        <p:nvSpPr>
          <p:cNvPr id="13" name="Text 11"/>
          <p:cNvSpPr/>
          <p:nvPr/>
        </p:nvSpPr>
        <p:spPr>
          <a:xfrm>
            <a:off x="896112" y="1517904"/>
            <a:ext cx="3429000" cy="256032"/>
          </a:xfrm>
          <a:prstGeom prst="rect">
            <a:avLst/>
          </a:prstGeom>
          <a:noFill/>
          <a:ln/>
        </p:spPr>
        <p:txBody>
          <a:bodyPr wrap="square" lIns="0" tIns="0" rIns="0" bIns="0" rtlCol="0" anchor="ctr"/>
          <a:lstStyle/>
          <a:p>
            <a:pPr marL="0" indent="0">
              <a:buNone/>
            </a:pPr>
            <a:r>
              <a:rPr lang="en-US" sz="1000" dirty="0" err="1" smtClean="0">
                <a:solidFill>
                  <a:srgbClr val="64748B"/>
                </a:solidFill>
              </a:rPr>
              <a:t>Lấy</a:t>
            </a:r>
            <a:r>
              <a:rPr lang="en-US" sz="1000" dirty="0" smtClean="0">
                <a:solidFill>
                  <a:srgbClr val="64748B"/>
                </a:solidFill>
              </a:rPr>
              <a:t> </a:t>
            </a:r>
            <a:r>
              <a:rPr lang="en-US" sz="1000" dirty="0">
                <a:solidFill>
                  <a:srgbClr val="64748B"/>
                </a:solidFill>
              </a:rPr>
              <a:t>replicas &amp; CPU </a:t>
            </a:r>
            <a:r>
              <a:rPr lang="en-US" sz="1000" dirty="0" err="1" smtClean="0">
                <a:solidFill>
                  <a:srgbClr val="64748B"/>
                </a:solidFill>
              </a:rPr>
              <a:t>hiện</a:t>
            </a:r>
            <a:r>
              <a:rPr lang="en-US" sz="1000" dirty="0" smtClean="0">
                <a:solidFill>
                  <a:srgbClr val="64748B"/>
                </a:solidFill>
              </a:rPr>
              <a:t> </a:t>
            </a:r>
            <a:r>
              <a:rPr lang="en-US" sz="1000" dirty="0" err="1" smtClean="0">
                <a:solidFill>
                  <a:srgbClr val="64748B"/>
                </a:solidFill>
              </a:rPr>
              <a:t>tại</a:t>
            </a:r>
            <a:endParaRPr lang="en-US" sz="1000" dirty="0"/>
          </a:p>
        </p:txBody>
      </p:sp>
      <p:sp>
        <p:nvSpPr>
          <p:cNvPr id="14" name="Shape 12"/>
          <p:cNvSpPr/>
          <p:nvPr/>
        </p:nvSpPr>
        <p:spPr>
          <a:xfrm>
            <a:off x="457200" y="1810512"/>
            <a:ext cx="347472" cy="347472"/>
          </a:xfrm>
          <a:prstGeom prst="ellipse">
            <a:avLst/>
          </a:prstGeom>
          <a:solidFill>
            <a:srgbClr val="D62828"/>
          </a:solidFill>
          <a:ln w="12700">
            <a:solidFill>
              <a:srgbClr val="D62828"/>
            </a:solidFill>
            <a:prstDash val="solid"/>
          </a:ln>
        </p:spPr>
      </p:sp>
      <p:sp>
        <p:nvSpPr>
          <p:cNvPr id="15" name="Text 13"/>
          <p:cNvSpPr/>
          <p:nvPr/>
        </p:nvSpPr>
        <p:spPr>
          <a:xfrm>
            <a:off x="457200" y="181051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2</a:t>
            </a:r>
            <a:endParaRPr lang="en-US" sz="1100" dirty="0"/>
          </a:p>
        </p:txBody>
      </p:sp>
      <p:sp>
        <p:nvSpPr>
          <p:cNvPr id="16" name="Text 14"/>
          <p:cNvSpPr/>
          <p:nvPr/>
        </p:nvSpPr>
        <p:spPr>
          <a:xfrm>
            <a:off x="896112" y="1810512"/>
            <a:ext cx="1463040" cy="274320"/>
          </a:xfrm>
          <a:prstGeom prst="rect">
            <a:avLst/>
          </a:prstGeom>
          <a:noFill/>
          <a:ln/>
        </p:spPr>
        <p:txBody>
          <a:bodyPr wrap="square" lIns="0" tIns="0" rIns="0" bIns="0" rtlCol="0" anchor="ctr"/>
          <a:lstStyle/>
          <a:p>
            <a:pPr marL="0" indent="0">
              <a:buNone/>
            </a:pPr>
            <a:r>
              <a:rPr lang="en-US" sz="1000" b="1" dirty="0" err="1" smtClean="0">
                <a:solidFill>
                  <a:srgbClr val="0D1B2A"/>
                </a:solidFill>
              </a:rPr>
              <a:t>Đánh</a:t>
            </a:r>
            <a:r>
              <a:rPr lang="en-US" sz="1000" b="1" dirty="0" smtClean="0">
                <a:solidFill>
                  <a:srgbClr val="0D1B2A"/>
                </a:solidFill>
              </a:rPr>
              <a:t> </a:t>
            </a:r>
            <a:r>
              <a:rPr lang="en-US" sz="1000" b="1" dirty="0" err="1" smtClean="0">
                <a:solidFill>
                  <a:srgbClr val="0D1B2A"/>
                </a:solidFill>
              </a:rPr>
              <a:t>giá</a:t>
            </a:r>
            <a:r>
              <a:rPr lang="en-US" sz="1000" b="1" dirty="0" smtClean="0">
                <a:solidFill>
                  <a:srgbClr val="0D1B2A"/>
                </a:solidFill>
              </a:rPr>
              <a:t> </a:t>
            </a:r>
            <a:r>
              <a:rPr lang="en-US" sz="1000" b="1" dirty="0" err="1" smtClean="0">
                <a:solidFill>
                  <a:srgbClr val="0D1B2A"/>
                </a:solidFill>
              </a:rPr>
              <a:t>điều</a:t>
            </a:r>
            <a:r>
              <a:rPr lang="en-US" sz="1000" b="1" dirty="0" smtClean="0">
                <a:solidFill>
                  <a:srgbClr val="0D1B2A"/>
                </a:solidFill>
              </a:rPr>
              <a:t> </a:t>
            </a:r>
            <a:r>
              <a:rPr lang="en-US" sz="1000" b="1" dirty="0" err="1" smtClean="0">
                <a:solidFill>
                  <a:srgbClr val="0D1B2A"/>
                </a:solidFill>
              </a:rPr>
              <a:t>kiện</a:t>
            </a:r>
            <a:r>
              <a:rPr lang="en-US" sz="1000" b="1" dirty="0" smtClean="0">
                <a:solidFill>
                  <a:srgbClr val="0D1B2A"/>
                </a:solidFill>
              </a:rPr>
              <a:t>:</a:t>
            </a:r>
            <a:endParaRPr lang="en-US" sz="1000" dirty="0"/>
          </a:p>
        </p:txBody>
      </p:sp>
      <p:sp>
        <p:nvSpPr>
          <p:cNvPr id="17" name="Text 15"/>
          <p:cNvSpPr/>
          <p:nvPr/>
        </p:nvSpPr>
        <p:spPr>
          <a:xfrm>
            <a:off x="896112" y="2066544"/>
            <a:ext cx="3429000" cy="256032"/>
          </a:xfrm>
          <a:prstGeom prst="rect">
            <a:avLst/>
          </a:prstGeom>
          <a:noFill/>
          <a:ln/>
        </p:spPr>
        <p:txBody>
          <a:bodyPr wrap="square" lIns="0" tIns="0" rIns="0" bIns="0" rtlCol="0" anchor="ctr"/>
          <a:lstStyle/>
          <a:p>
            <a:pPr marL="0" indent="0">
              <a:buNone/>
            </a:pPr>
            <a:r>
              <a:rPr lang="en-US" sz="1000" dirty="0" err="1" smtClean="0">
                <a:solidFill>
                  <a:srgbClr val="64748B"/>
                </a:solidFill>
              </a:rPr>
              <a:t>Phát</a:t>
            </a:r>
            <a:r>
              <a:rPr lang="en-US" sz="1000" dirty="0" smtClean="0">
                <a:solidFill>
                  <a:srgbClr val="64748B"/>
                </a:solidFill>
              </a:rPr>
              <a:t> </a:t>
            </a:r>
            <a:r>
              <a:rPr lang="en-US" sz="1000" dirty="0" err="1" smtClean="0">
                <a:solidFill>
                  <a:srgbClr val="64748B"/>
                </a:solidFill>
              </a:rPr>
              <a:t>hiệnn</a:t>
            </a:r>
            <a:r>
              <a:rPr lang="en-US" sz="1000" dirty="0" smtClean="0">
                <a:solidFill>
                  <a:srgbClr val="64748B"/>
                </a:solidFill>
              </a:rPr>
              <a:t> scale-down, </a:t>
            </a:r>
            <a:r>
              <a:rPr lang="en-US" sz="1000" dirty="0" err="1" smtClean="0">
                <a:solidFill>
                  <a:srgbClr val="64748B"/>
                </a:solidFill>
              </a:rPr>
              <a:t>hoặc</a:t>
            </a:r>
            <a:r>
              <a:rPr lang="en-US" sz="1000" dirty="0" smtClean="0">
                <a:solidFill>
                  <a:srgbClr val="64748B"/>
                </a:solidFill>
              </a:rPr>
              <a:t> CPU </a:t>
            </a:r>
            <a:r>
              <a:rPr lang="en-US" sz="1000" dirty="0" err="1" smtClean="0">
                <a:solidFill>
                  <a:srgbClr val="64748B"/>
                </a:solidFill>
              </a:rPr>
              <a:t>tiêu</a:t>
            </a:r>
            <a:r>
              <a:rPr lang="en-US" sz="1000" dirty="0" smtClean="0">
                <a:solidFill>
                  <a:srgbClr val="64748B"/>
                </a:solidFill>
              </a:rPr>
              <a:t> </a:t>
            </a:r>
            <a:r>
              <a:rPr lang="en-US" sz="1000" dirty="0" err="1" smtClean="0">
                <a:solidFill>
                  <a:srgbClr val="64748B"/>
                </a:solidFill>
              </a:rPr>
              <a:t>thụ</a:t>
            </a:r>
            <a:r>
              <a:rPr lang="en-US" sz="1000" dirty="0" smtClean="0">
                <a:solidFill>
                  <a:srgbClr val="64748B"/>
                </a:solidFill>
              </a:rPr>
              <a:t> </a:t>
            </a:r>
            <a:r>
              <a:rPr lang="en-US" sz="1000" dirty="0" err="1" smtClean="0">
                <a:solidFill>
                  <a:srgbClr val="64748B"/>
                </a:solidFill>
              </a:rPr>
              <a:t>thấp</a:t>
            </a:r>
            <a:endParaRPr lang="en-US" sz="1000" dirty="0"/>
          </a:p>
        </p:txBody>
      </p:sp>
      <p:sp>
        <p:nvSpPr>
          <p:cNvPr id="18" name="Shape 16"/>
          <p:cNvSpPr/>
          <p:nvPr/>
        </p:nvSpPr>
        <p:spPr>
          <a:xfrm>
            <a:off x="457200" y="2359152"/>
            <a:ext cx="347472" cy="347472"/>
          </a:xfrm>
          <a:prstGeom prst="ellipse">
            <a:avLst/>
          </a:prstGeom>
          <a:solidFill>
            <a:srgbClr val="D62828"/>
          </a:solidFill>
          <a:ln w="12700">
            <a:solidFill>
              <a:srgbClr val="D62828"/>
            </a:solidFill>
            <a:prstDash val="solid"/>
          </a:ln>
        </p:spPr>
      </p:sp>
      <p:sp>
        <p:nvSpPr>
          <p:cNvPr id="19" name="Text 17"/>
          <p:cNvSpPr/>
          <p:nvPr/>
        </p:nvSpPr>
        <p:spPr>
          <a:xfrm>
            <a:off x="457200" y="235915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3</a:t>
            </a:r>
            <a:endParaRPr lang="en-US" sz="1100" dirty="0"/>
          </a:p>
        </p:txBody>
      </p:sp>
      <p:sp>
        <p:nvSpPr>
          <p:cNvPr id="20" name="Text 18"/>
          <p:cNvSpPr/>
          <p:nvPr/>
        </p:nvSpPr>
        <p:spPr>
          <a:xfrm>
            <a:off x="896112" y="2359152"/>
            <a:ext cx="1463040" cy="274320"/>
          </a:xfrm>
          <a:prstGeom prst="rect">
            <a:avLst/>
          </a:prstGeom>
          <a:noFill/>
          <a:ln/>
        </p:spPr>
        <p:txBody>
          <a:bodyPr wrap="square" lIns="0" tIns="0" rIns="0" bIns="0" rtlCol="0" anchor="ctr"/>
          <a:lstStyle/>
          <a:p>
            <a:pPr marL="0" indent="0">
              <a:buNone/>
            </a:pPr>
            <a:r>
              <a:rPr lang="en-US" sz="1000" b="1" dirty="0">
                <a:solidFill>
                  <a:srgbClr val="0D1B2A"/>
                </a:solidFill>
              </a:rPr>
              <a:t>Quyet dinh:</a:t>
            </a:r>
            <a:endParaRPr lang="en-US" sz="1000" dirty="0"/>
          </a:p>
        </p:txBody>
      </p:sp>
      <p:sp>
        <p:nvSpPr>
          <p:cNvPr id="21" name="Text 19"/>
          <p:cNvSpPr/>
          <p:nvPr/>
        </p:nvSpPr>
        <p:spPr>
          <a:xfrm>
            <a:off x="896112" y="2615184"/>
            <a:ext cx="3429000" cy="256032"/>
          </a:xfrm>
          <a:prstGeom prst="rect">
            <a:avLst/>
          </a:prstGeom>
          <a:noFill/>
          <a:ln/>
        </p:spPr>
        <p:txBody>
          <a:bodyPr wrap="square" lIns="0" tIns="0" rIns="0" bIns="0" rtlCol="0" anchor="ctr"/>
          <a:lstStyle/>
          <a:p>
            <a:pPr marL="0" indent="0">
              <a:buNone/>
            </a:pPr>
            <a:r>
              <a:rPr lang="en-US" sz="1000" dirty="0">
                <a:solidFill>
                  <a:srgbClr val="64748B"/>
                </a:solidFill>
              </a:rPr>
              <a:t>B</a:t>
            </a:r>
            <a:r>
              <a:rPr lang="en-US" sz="1000" dirty="0" smtClean="0">
                <a:solidFill>
                  <a:srgbClr val="64748B"/>
                </a:solidFill>
              </a:rPr>
              <a:t>urst </a:t>
            </a:r>
            <a:r>
              <a:rPr lang="en-US" sz="1000" dirty="0">
                <a:solidFill>
                  <a:srgbClr val="64748B"/>
                </a:solidFill>
              </a:rPr>
              <a:t>2 </a:t>
            </a:r>
            <a:r>
              <a:rPr lang="en-US" sz="1000" dirty="0" err="1" smtClean="0">
                <a:solidFill>
                  <a:srgbClr val="64748B"/>
                </a:solidFill>
              </a:rPr>
              <a:t>phút</a:t>
            </a:r>
            <a:r>
              <a:rPr lang="en-US" sz="1000" dirty="0" smtClean="0">
                <a:solidFill>
                  <a:srgbClr val="64748B"/>
                </a:solidFill>
              </a:rPr>
              <a:t> </a:t>
            </a:r>
            <a:r>
              <a:rPr lang="en-US" sz="1000" dirty="0">
                <a:solidFill>
                  <a:srgbClr val="64748B"/>
                </a:solidFill>
              </a:rPr>
              <a:t>voi K x </a:t>
            </a:r>
            <a:r>
              <a:rPr lang="en-US" sz="1000" dirty="0" smtClean="0">
                <a:solidFill>
                  <a:srgbClr val="64748B"/>
                </a:solidFill>
              </a:rPr>
              <a:t>threads, </a:t>
            </a:r>
            <a:r>
              <a:rPr lang="en-US" sz="1000" dirty="0" err="1" smtClean="0">
                <a:solidFill>
                  <a:srgbClr val="64748B"/>
                </a:solidFill>
              </a:rPr>
              <a:t>bơm</a:t>
            </a:r>
            <a:r>
              <a:rPr lang="en-US" sz="1000" dirty="0" smtClean="0">
                <a:solidFill>
                  <a:srgbClr val="64748B"/>
                </a:solidFill>
              </a:rPr>
              <a:t> </a:t>
            </a:r>
            <a:r>
              <a:rPr lang="en-US" sz="1000" dirty="0" err="1" smtClean="0">
                <a:solidFill>
                  <a:srgbClr val="64748B"/>
                </a:solidFill>
              </a:rPr>
              <a:t>lưu</a:t>
            </a:r>
            <a:r>
              <a:rPr lang="en-US" sz="1000" dirty="0" smtClean="0">
                <a:solidFill>
                  <a:srgbClr val="64748B"/>
                </a:solidFill>
              </a:rPr>
              <a:t> </a:t>
            </a:r>
            <a:r>
              <a:rPr lang="en-US" sz="1000" dirty="0" err="1" smtClean="0">
                <a:solidFill>
                  <a:srgbClr val="64748B"/>
                </a:solidFill>
              </a:rPr>
              <a:t>lượng</a:t>
            </a:r>
            <a:r>
              <a:rPr lang="en-US" sz="1000" dirty="0" smtClean="0">
                <a:solidFill>
                  <a:srgbClr val="64748B"/>
                </a:solidFill>
              </a:rPr>
              <a:t> </a:t>
            </a:r>
            <a:r>
              <a:rPr lang="en-US" sz="1000" dirty="0" err="1" smtClean="0">
                <a:solidFill>
                  <a:srgbClr val="64748B"/>
                </a:solidFill>
              </a:rPr>
              <a:t>làm</a:t>
            </a:r>
            <a:r>
              <a:rPr lang="en-US" sz="1000" dirty="0" smtClean="0">
                <a:solidFill>
                  <a:srgbClr val="64748B"/>
                </a:solidFill>
              </a:rPr>
              <a:t> </a:t>
            </a:r>
            <a:r>
              <a:rPr lang="en-US" sz="1000" dirty="0" err="1" smtClean="0">
                <a:solidFill>
                  <a:srgbClr val="64748B"/>
                </a:solidFill>
              </a:rPr>
              <a:t>tăng</a:t>
            </a:r>
            <a:r>
              <a:rPr lang="en-US" sz="1000" dirty="0" smtClean="0">
                <a:solidFill>
                  <a:srgbClr val="64748B"/>
                </a:solidFill>
              </a:rPr>
              <a:t> </a:t>
            </a:r>
            <a:r>
              <a:rPr lang="en-US" sz="1000" dirty="0" err="1" smtClean="0">
                <a:solidFill>
                  <a:srgbClr val="64748B"/>
                </a:solidFill>
              </a:rPr>
              <a:t>tải</a:t>
            </a:r>
            <a:r>
              <a:rPr lang="en-US" sz="1000" dirty="0" smtClean="0">
                <a:solidFill>
                  <a:srgbClr val="64748B"/>
                </a:solidFill>
              </a:rPr>
              <a:t> </a:t>
            </a:r>
            <a:r>
              <a:rPr lang="en-US" sz="1000" dirty="0" err="1" smtClean="0">
                <a:solidFill>
                  <a:srgbClr val="64748B"/>
                </a:solidFill>
              </a:rPr>
              <a:t>hệ</a:t>
            </a:r>
            <a:r>
              <a:rPr lang="en-US" sz="1000" dirty="0" smtClean="0">
                <a:solidFill>
                  <a:srgbClr val="64748B"/>
                </a:solidFill>
              </a:rPr>
              <a:t> </a:t>
            </a:r>
            <a:r>
              <a:rPr lang="en-US" sz="1000" dirty="0" err="1" smtClean="0">
                <a:solidFill>
                  <a:srgbClr val="64748B"/>
                </a:solidFill>
              </a:rPr>
              <a:t>thống</a:t>
            </a:r>
            <a:endParaRPr lang="en-US" sz="1000" dirty="0"/>
          </a:p>
        </p:txBody>
      </p:sp>
      <p:sp>
        <p:nvSpPr>
          <p:cNvPr id="33" name="Shape 31"/>
          <p:cNvSpPr/>
          <p:nvPr/>
        </p:nvSpPr>
        <p:spPr>
          <a:xfrm>
            <a:off x="4562855" y="810809"/>
            <a:ext cx="4221521"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39" name="Text 37"/>
          <p:cNvSpPr/>
          <p:nvPr/>
        </p:nvSpPr>
        <p:spPr>
          <a:xfrm>
            <a:off x="4754880" y="4005072"/>
            <a:ext cx="3886200" cy="228600"/>
          </a:xfrm>
          <a:prstGeom prst="rect">
            <a:avLst/>
          </a:prstGeom>
          <a:noFill/>
          <a:ln/>
        </p:spPr>
        <p:txBody>
          <a:bodyPr wrap="square" lIns="0" tIns="0" rIns="0" bIns="0" rtlCol="0" anchor="ctr"/>
          <a:lstStyle/>
          <a:p>
            <a:pPr marL="0" indent="0" algn="ctr">
              <a:buNone/>
            </a:pPr>
            <a:r>
              <a:rPr lang="en-US" sz="800" dirty="0">
                <a:solidFill>
                  <a:srgbClr val="FFFFFF"/>
                </a:solidFill>
              </a:rPr>
              <a:t>Grafana — Sawtooth pattern (attack phase)</a:t>
            </a:r>
            <a:endParaRPr lang="en-US" sz="800" dirty="0"/>
          </a:p>
        </p:txBody>
      </p:sp>
      <p:sp>
        <p:nvSpPr>
          <p:cNvPr id="40" name="Shape 5"/>
          <p:cNvSpPr/>
          <p:nvPr/>
        </p:nvSpPr>
        <p:spPr>
          <a:xfrm>
            <a:off x="278892" y="2980944"/>
            <a:ext cx="4160520" cy="175564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pic>
        <p:nvPicPr>
          <p:cNvPr id="42" name="Picture 41"/>
          <p:cNvPicPr>
            <a:picLocks noChangeAspect="1"/>
          </p:cNvPicPr>
          <p:nvPr/>
        </p:nvPicPr>
        <p:blipFill>
          <a:blip r:embed="rId3"/>
          <a:stretch>
            <a:fillRect/>
          </a:stretch>
        </p:blipFill>
        <p:spPr>
          <a:xfrm>
            <a:off x="278892" y="2871216"/>
            <a:ext cx="4155948" cy="1845986"/>
          </a:xfrm>
          <a:prstGeom prst="rect">
            <a:avLst/>
          </a:prstGeom>
        </p:spPr>
      </p:pic>
      <p:sp>
        <p:nvSpPr>
          <p:cNvPr id="24" name="TextBox 23"/>
          <p:cNvSpPr txBox="1"/>
          <p:nvPr/>
        </p:nvSpPr>
        <p:spPr>
          <a:xfrm>
            <a:off x="4550704" y="2928957"/>
            <a:ext cx="4197489" cy="1323439"/>
          </a:xfrm>
          <a:prstGeom prst="rect">
            <a:avLst/>
          </a:prstGeom>
          <a:noFill/>
        </p:spPr>
        <p:txBody>
          <a:bodyPr wrap="square" rtlCol="0">
            <a:spAutoFit/>
          </a:bodyPr>
          <a:lstStyle/>
          <a:p>
            <a:pPr marL="171450" indent="-171450">
              <a:buFontTx/>
              <a:buChar char="-"/>
            </a:pPr>
            <a:r>
              <a:rPr lang="vi-VN" sz="1000" dirty="0" smtClean="0">
                <a:latin typeface="Calibri (Body)"/>
              </a:rPr>
              <a:t>Dashboard </a:t>
            </a:r>
            <a:r>
              <a:rPr lang="vi-VN" sz="1000" dirty="0">
                <a:latin typeface="Calibri (Body)"/>
              </a:rPr>
              <a:t>ghi nhận cuộc tấn công EDoS đẩy cluster từ 1 pod lên 6 pods (maxReplicas) trong khoảng 2-3 </a:t>
            </a:r>
            <a:r>
              <a:rPr lang="vi-VN" sz="1000" dirty="0" smtClean="0">
                <a:latin typeface="Calibri (Body)"/>
              </a:rPr>
              <a:t>phút</a:t>
            </a:r>
            <a:r>
              <a:rPr lang="en-US" sz="1000" dirty="0" smtClean="0">
                <a:latin typeface="Calibri (Body)"/>
              </a:rPr>
              <a:t> </a:t>
            </a:r>
            <a:r>
              <a:rPr lang="en-US" sz="1000" dirty="0" err="1" smtClean="0">
                <a:latin typeface="Calibri (Body)"/>
              </a:rPr>
              <a:t>và</a:t>
            </a:r>
            <a:r>
              <a:rPr lang="en-US" sz="1000" dirty="0" smtClean="0">
                <a:latin typeface="Calibri (Body)"/>
              </a:rPr>
              <a:t> </a:t>
            </a:r>
            <a:r>
              <a:rPr lang="en-US" sz="1000" dirty="0" err="1" smtClean="0">
                <a:latin typeface="Calibri (Body)"/>
              </a:rPr>
              <a:t>duy</a:t>
            </a:r>
            <a:r>
              <a:rPr lang="en-US" sz="1000" dirty="0" smtClean="0">
                <a:latin typeface="Calibri (Body)"/>
              </a:rPr>
              <a:t> </a:t>
            </a:r>
            <a:r>
              <a:rPr lang="en-US" sz="1000" dirty="0" err="1" smtClean="0">
                <a:latin typeface="Calibri (Body)"/>
              </a:rPr>
              <a:t>trì</a:t>
            </a:r>
            <a:r>
              <a:rPr lang="en-US" sz="1000" dirty="0" smtClean="0">
                <a:latin typeface="Calibri (Body)"/>
              </a:rPr>
              <a:t> </a:t>
            </a:r>
            <a:r>
              <a:rPr lang="en-US" sz="1000" dirty="0" err="1" smtClean="0">
                <a:latin typeface="Calibri (Body)"/>
              </a:rPr>
              <a:t>khoảng</a:t>
            </a:r>
            <a:r>
              <a:rPr lang="en-US" sz="1000" dirty="0" smtClean="0">
                <a:latin typeface="Calibri (Body)"/>
              </a:rPr>
              <a:t> 10 </a:t>
            </a:r>
            <a:r>
              <a:rPr lang="en-US" sz="1000" dirty="0" err="1" smtClean="0">
                <a:latin typeface="Calibri (Body)"/>
              </a:rPr>
              <a:t>phút</a:t>
            </a:r>
            <a:r>
              <a:rPr lang="vi-VN" sz="1000" dirty="0" smtClean="0">
                <a:latin typeface="Calibri (Body)"/>
              </a:rPr>
              <a:t> </a:t>
            </a:r>
            <a:endParaRPr lang="en-US" sz="1000" dirty="0" smtClean="0">
              <a:latin typeface="Calibri (Body)"/>
            </a:endParaRPr>
          </a:p>
          <a:p>
            <a:pPr marL="171450" indent="-171450">
              <a:buFontTx/>
              <a:buChar char="-"/>
            </a:pPr>
            <a:r>
              <a:rPr lang="vi-VN" sz="1000" dirty="0" smtClean="0">
                <a:latin typeface="Calibri (Body)"/>
              </a:rPr>
              <a:t>CPU </a:t>
            </a:r>
            <a:r>
              <a:rPr lang="vi-VN" sz="1000" dirty="0">
                <a:latin typeface="Calibri (Body)"/>
              </a:rPr>
              <a:t>mọi pod đều bị đẩy lên 80-100%. </a:t>
            </a:r>
            <a:endParaRPr lang="en-US" sz="1000" dirty="0" smtClean="0">
              <a:latin typeface="Calibri (Body)"/>
            </a:endParaRPr>
          </a:p>
          <a:p>
            <a:pPr marL="171450" indent="-171450">
              <a:buFontTx/>
              <a:buChar char="-"/>
            </a:pPr>
            <a:r>
              <a:rPr lang="vi-VN" sz="1000" dirty="0" smtClean="0">
                <a:latin typeface="Calibri (Body)"/>
              </a:rPr>
              <a:t>HPA </a:t>
            </a:r>
            <a:r>
              <a:rPr lang="vi-VN" sz="1000" dirty="0">
                <a:latin typeface="Calibri (Body)"/>
              </a:rPr>
              <a:t>Status cho thấy Desired nhảy trước Current — thể hiện độ trễ scaling — rồi cả hai chạm mức tối đa 6, tức hệ thống đã hết khả năng scale thêm. </a:t>
            </a:r>
            <a:endParaRPr lang="en-US" sz="1000" dirty="0" smtClean="0">
              <a:latin typeface="Calibri (Body)"/>
            </a:endParaRPr>
          </a:p>
          <a:p>
            <a:r>
              <a:rPr lang="en-US" sz="1000" dirty="0" smtClean="0">
                <a:latin typeface="Calibri (Body)"/>
              </a:rPr>
              <a:t>=&gt; </a:t>
            </a:r>
            <a:r>
              <a:rPr lang="vi-VN" sz="1000" dirty="0" smtClean="0">
                <a:latin typeface="Calibri (Body)"/>
              </a:rPr>
              <a:t>Attacker </a:t>
            </a:r>
            <a:r>
              <a:rPr lang="vi-VN" sz="1000" dirty="0">
                <a:latin typeface="Calibri (Body)"/>
              </a:rPr>
              <a:t>thành công buộc cluster vận hành ở chi phí gấp 6 lần baseline mà không hề làm sập service.</a:t>
            </a:r>
            <a:endParaRPr lang="en-US" sz="1000" dirty="0">
              <a:latin typeface="Calibri (Body)"/>
            </a:endParaRPr>
          </a:p>
        </p:txBody>
      </p:sp>
      <p:pic>
        <p:nvPicPr>
          <p:cNvPr id="22" name="Picture 21"/>
          <p:cNvPicPr>
            <a:picLocks noChangeAspect="1"/>
          </p:cNvPicPr>
          <p:nvPr/>
        </p:nvPicPr>
        <p:blipFill>
          <a:blip r:embed="rId4"/>
          <a:stretch>
            <a:fillRect/>
          </a:stretch>
        </p:blipFill>
        <p:spPr>
          <a:xfrm>
            <a:off x="4562854" y="815799"/>
            <a:ext cx="4233673" cy="2017894"/>
          </a:xfrm>
          <a:prstGeom prst="rect">
            <a:avLst/>
          </a:prstGeom>
        </p:spPr>
      </p:pic>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r>
              <a:rPr lang="en-US" sz="2200" b="1" dirty="0">
                <a:solidFill>
                  <a:srgbClr val="FFFFFF"/>
                </a:solidFill>
              </a:rPr>
              <a:t>DEMO · </a:t>
            </a:r>
            <a:r>
              <a:rPr lang="en-US" sz="2200" b="1" dirty="0" err="1">
                <a:solidFill>
                  <a:srgbClr val="FFFFFF"/>
                </a:solidFill>
              </a:rPr>
              <a:t>Giai</a:t>
            </a:r>
            <a:r>
              <a:rPr lang="en-US" sz="2200" b="1" dirty="0">
                <a:solidFill>
                  <a:srgbClr val="FFFFFF"/>
                </a:solidFill>
              </a:rPr>
              <a:t> </a:t>
            </a:r>
            <a:r>
              <a:rPr lang="en-US" sz="2200" b="1" dirty="0" err="1">
                <a:solidFill>
                  <a:srgbClr val="FFFFFF"/>
                </a:solidFill>
              </a:rPr>
              <a:t>đoạn</a:t>
            </a:r>
            <a:r>
              <a:rPr lang="en-US" sz="2200" b="1" dirty="0">
                <a:solidFill>
                  <a:srgbClr val="FFFFFF"/>
                </a:solidFill>
              </a:rPr>
              <a:t> 2 — </a:t>
            </a:r>
            <a:r>
              <a:rPr lang="en-US" sz="2200" b="1" dirty="0" err="1">
                <a:solidFill>
                  <a:srgbClr val="FFFFFF"/>
                </a:solidFill>
              </a:rPr>
              <a:t>Tấn</a:t>
            </a:r>
            <a:r>
              <a:rPr lang="en-US" sz="2200" b="1" dirty="0">
                <a:solidFill>
                  <a:srgbClr val="FFFFFF"/>
                </a:solidFill>
              </a:rPr>
              <a:t> </a:t>
            </a:r>
            <a:r>
              <a:rPr lang="en-US" sz="2200" b="1" dirty="0" err="1">
                <a:solidFill>
                  <a:srgbClr val="FFFFFF"/>
                </a:solidFill>
              </a:rPr>
              <a:t>công</a:t>
            </a:r>
            <a:r>
              <a:rPr lang="en-US" sz="2200" b="1" dirty="0">
                <a:solidFill>
                  <a:srgbClr val="FFFFFF"/>
                </a:solidFill>
              </a:rPr>
              <a:t> </a:t>
            </a:r>
            <a:r>
              <a:rPr lang="en-US" sz="2200" b="1" dirty="0" err="1">
                <a:solidFill>
                  <a:srgbClr val="FFFFFF"/>
                </a:solidFill>
              </a:rPr>
              <a:t>EDoS</a:t>
            </a:r>
            <a:r>
              <a:rPr lang="en-US" sz="2200" b="1" dirty="0">
                <a:solidFill>
                  <a:srgbClr val="FFFFFF"/>
                </a:solidFill>
              </a:rPr>
              <a:t> State-Aware</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4389672"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50208"/>
          </a:xfrm>
          <a:prstGeom prst="rect">
            <a:avLst/>
          </a:prstGeom>
          <a:solidFill>
            <a:srgbClr val="FF0000"/>
          </a:solidFill>
          <a:ln w="12700">
            <a:solidFill>
              <a:srgbClr val="FF0000"/>
            </a:solidFill>
            <a:prstDash val="solid"/>
          </a:ln>
        </p:spPr>
      </p:sp>
      <p:sp>
        <p:nvSpPr>
          <p:cNvPr id="9" name="Text 7"/>
          <p:cNvSpPr/>
          <p:nvPr/>
        </p:nvSpPr>
        <p:spPr>
          <a:xfrm>
            <a:off x="457200" y="868680"/>
            <a:ext cx="3840480" cy="320040"/>
          </a:xfrm>
          <a:prstGeom prst="rect">
            <a:avLst/>
          </a:prstGeom>
          <a:noFill/>
          <a:ln/>
        </p:spPr>
        <p:txBody>
          <a:bodyPr wrap="square" lIns="0" tIns="0" rIns="0" bIns="0" rtlCol="0" anchor="ctr"/>
          <a:lstStyle/>
          <a:p>
            <a:pPr marL="0" indent="0">
              <a:buNone/>
            </a:pPr>
            <a:r>
              <a:rPr lang="en-US" sz="1200" b="1" dirty="0" err="1" smtClean="0">
                <a:solidFill>
                  <a:srgbClr val="0D1B2A"/>
                </a:solidFill>
              </a:rPr>
              <a:t>Phân</a:t>
            </a:r>
            <a:r>
              <a:rPr lang="en-US" sz="1200" b="1" dirty="0" smtClean="0">
                <a:solidFill>
                  <a:srgbClr val="0D1B2A"/>
                </a:solidFill>
              </a:rPr>
              <a:t> </a:t>
            </a:r>
            <a:r>
              <a:rPr lang="en-US" sz="1200" b="1" dirty="0" err="1" smtClean="0">
                <a:solidFill>
                  <a:srgbClr val="0D1B2A"/>
                </a:solidFill>
              </a:rPr>
              <a:t>tích</a:t>
            </a:r>
            <a:r>
              <a:rPr lang="en-US" sz="1200" b="1" dirty="0" smtClean="0">
                <a:solidFill>
                  <a:srgbClr val="0D1B2A"/>
                </a:solidFill>
              </a:rPr>
              <a:t> </a:t>
            </a:r>
            <a:r>
              <a:rPr lang="en-US" sz="1200" b="1" dirty="0" err="1" smtClean="0">
                <a:solidFill>
                  <a:srgbClr val="0D1B2A"/>
                </a:solidFill>
              </a:rPr>
              <a:t>biểu</a:t>
            </a:r>
            <a:r>
              <a:rPr lang="en-US" sz="1200" b="1" dirty="0" smtClean="0">
                <a:solidFill>
                  <a:srgbClr val="0D1B2A"/>
                </a:solidFill>
              </a:rPr>
              <a:t> </a:t>
            </a:r>
            <a:r>
              <a:rPr lang="en-US" sz="1200" b="1" dirty="0" err="1" smtClean="0">
                <a:solidFill>
                  <a:srgbClr val="0D1B2A"/>
                </a:solidFill>
              </a:rPr>
              <a:t>đồ</a:t>
            </a:r>
            <a:r>
              <a:rPr lang="en-US" sz="1200" b="1" dirty="0" smtClean="0">
                <a:solidFill>
                  <a:srgbClr val="0D1B2A"/>
                </a:solidFill>
              </a:rPr>
              <a:t> </a:t>
            </a:r>
            <a:r>
              <a:rPr lang="en-US" sz="1200" b="1" dirty="0" err="1" smtClean="0">
                <a:solidFill>
                  <a:srgbClr val="0D1B2A"/>
                </a:solidFill>
              </a:rPr>
              <a:t>tiêu</a:t>
            </a:r>
            <a:r>
              <a:rPr lang="en-US" sz="1200" b="1" dirty="0" smtClean="0">
                <a:solidFill>
                  <a:srgbClr val="0D1B2A"/>
                </a:solidFill>
              </a:rPr>
              <a:t> </a:t>
            </a:r>
            <a:r>
              <a:rPr lang="en-US" sz="1200" b="1" dirty="0" err="1" smtClean="0">
                <a:solidFill>
                  <a:srgbClr val="0D1B2A"/>
                </a:solidFill>
              </a:rPr>
              <a:t>thụ</a:t>
            </a:r>
            <a:r>
              <a:rPr lang="en-US" sz="1200" b="1" dirty="0" smtClean="0">
                <a:solidFill>
                  <a:srgbClr val="0D1B2A"/>
                </a:solidFill>
              </a:rPr>
              <a:t> CPU </a:t>
            </a:r>
            <a:r>
              <a:rPr lang="en-US" sz="1200" b="1" dirty="0" err="1" smtClean="0">
                <a:solidFill>
                  <a:srgbClr val="0D1B2A"/>
                </a:solidFill>
              </a:rPr>
              <a:t>và</a:t>
            </a:r>
            <a:r>
              <a:rPr lang="en-US" sz="1200" b="1" dirty="0" smtClean="0">
                <a:solidFill>
                  <a:srgbClr val="0D1B2A"/>
                </a:solidFill>
              </a:rPr>
              <a:t> HPA Status</a:t>
            </a:r>
            <a:endParaRPr lang="en-US" sz="1200" dirty="0"/>
          </a:p>
        </p:txBody>
      </p:sp>
      <p:sp>
        <p:nvSpPr>
          <p:cNvPr id="21" name="Text 19"/>
          <p:cNvSpPr/>
          <p:nvPr/>
        </p:nvSpPr>
        <p:spPr>
          <a:xfrm>
            <a:off x="457200" y="1280160"/>
            <a:ext cx="4121106" cy="2953511"/>
          </a:xfrm>
          <a:prstGeom prst="rect">
            <a:avLst/>
          </a:prstGeom>
          <a:noFill/>
          <a:ln/>
        </p:spPr>
        <p:txBody>
          <a:bodyPr wrap="square" lIns="0" tIns="0" rIns="0" bIns="0" rtlCol="0" anchor="ctr"/>
          <a:lstStyle/>
          <a:p>
            <a:r>
              <a:rPr lang="vi-VN" sz="1000" b="1" i="1" dirty="0">
                <a:solidFill>
                  <a:srgbClr val="0D1B2A"/>
                </a:solidFill>
                <a:latin typeface="Calibri (Body)"/>
              </a:rPr>
              <a:t>Biểu đồ CPU Utilization per Pod: </a:t>
            </a:r>
            <a:r>
              <a:rPr lang="en-US" sz="1000" dirty="0" smtClean="0">
                <a:solidFill>
                  <a:srgbClr val="0D1B2A"/>
                </a:solidFill>
                <a:latin typeface="Calibri (Body)"/>
              </a:rPr>
              <a:t/>
            </a:r>
            <a:br>
              <a:rPr lang="en-US" sz="1000" dirty="0" smtClean="0">
                <a:solidFill>
                  <a:srgbClr val="0D1B2A"/>
                </a:solidFill>
                <a:latin typeface="Calibri (Body)"/>
              </a:rPr>
            </a:br>
            <a:r>
              <a:rPr lang="vi-VN" sz="1000" dirty="0" smtClean="0">
                <a:solidFill>
                  <a:srgbClr val="0D1B2A"/>
                </a:solidFill>
                <a:latin typeface="Calibri (Body)"/>
              </a:rPr>
              <a:t>Trước </a:t>
            </a:r>
            <a:r>
              <a:rPr lang="vi-VN" sz="1000" dirty="0">
                <a:solidFill>
                  <a:srgbClr val="0D1B2A"/>
                </a:solidFill>
                <a:latin typeface="Calibri (Body)"/>
              </a:rPr>
              <a:t>21:27, hệ thống chỉ có 1-2 pods với CPU thấp (~0-50%). Khi attack burst bắt đầu, CPU nhảy vọt lên 150% rồi ổn định quanh 100% cho tất cả pods. Việc CPU duy trì ở mức ~100% liên tục cho thấy attack traffic đang đẩy mọi pod đến giới hạn resource limits — đúng mục tiêu của </a:t>
            </a:r>
            <a:r>
              <a:rPr lang="vi-VN" sz="1000" dirty="0" smtClean="0">
                <a:solidFill>
                  <a:srgbClr val="0D1B2A"/>
                </a:solidFill>
                <a:latin typeface="Calibri (Body)"/>
              </a:rPr>
              <a:t>EDoS</a:t>
            </a:r>
            <a:r>
              <a:rPr lang="en-US" sz="1000" dirty="0" smtClean="0">
                <a:solidFill>
                  <a:srgbClr val="0D1B2A"/>
                </a:solidFill>
                <a:latin typeface="Calibri (Body)"/>
              </a:rPr>
              <a:t/>
            </a:r>
            <a:br>
              <a:rPr lang="en-US" sz="1000" dirty="0" smtClean="0">
                <a:solidFill>
                  <a:srgbClr val="0D1B2A"/>
                </a:solidFill>
                <a:latin typeface="Calibri (Body)"/>
              </a:rPr>
            </a:br>
            <a:endParaRPr lang="en-US" sz="1000" dirty="0" smtClean="0">
              <a:solidFill>
                <a:srgbClr val="0D1B2A"/>
              </a:solidFill>
              <a:latin typeface="Calibri (Body)"/>
            </a:endParaRPr>
          </a:p>
          <a:p>
            <a:r>
              <a:rPr lang="en-US" sz="1000" dirty="0" smtClean="0">
                <a:solidFill>
                  <a:srgbClr val="0D1B2A"/>
                </a:solidFill>
                <a:latin typeface="Calibri (Body)"/>
              </a:rPr>
              <a:t/>
            </a:r>
            <a:br>
              <a:rPr lang="en-US" sz="1000" dirty="0" smtClean="0">
                <a:solidFill>
                  <a:srgbClr val="0D1B2A"/>
                </a:solidFill>
                <a:latin typeface="Calibri (Body)"/>
              </a:rPr>
            </a:br>
            <a:r>
              <a:rPr lang="vi-VN" sz="1000" b="1" i="1" dirty="0">
                <a:solidFill>
                  <a:srgbClr val="0D1B2A"/>
                </a:solidFill>
                <a:latin typeface="Calibri (Body)"/>
              </a:rPr>
              <a:t>Biểu đồ HPA Status: </a:t>
            </a:r>
            <a:r>
              <a:rPr lang="en-US" sz="1000" dirty="0" smtClean="0">
                <a:solidFill>
                  <a:srgbClr val="0D1B2A"/>
                </a:solidFill>
                <a:latin typeface="Calibri (Body)"/>
              </a:rPr>
              <a:t/>
            </a:r>
            <a:br>
              <a:rPr lang="en-US" sz="1000" dirty="0" smtClean="0">
                <a:solidFill>
                  <a:srgbClr val="0D1B2A"/>
                </a:solidFill>
                <a:latin typeface="Calibri (Body)"/>
              </a:rPr>
            </a:br>
            <a:r>
              <a:rPr lang="vi-VN" sz="1000" dirty="0" smtClean="0">
                <a:solidFill>
                  <a:srgbClr val="0D1B2A"/>
                </a:solidFill>
                <a:latin typeface="Calibri (Body)"/>
              </a:rPr>
              <a:t>Đây </a:t>
            </a:r>
            <a:r>
              <a:rPr lang="vi-VN" sz="1000" dirty="0">
                <a:solidFill>
                  <a:srgbClr val="0D1B2A"/>
                </a:solidFill>
                <a:latin typeface="Calibri (Body)"/>
              </a:rPr>
              <a:t>là biểu đồ quan trọng nhất. Tại 21:27, Desired (vàng) nhảy lên 5 trước, Current (xanh lá) chạy theo sau — đây là độ trễ scaling, khoảng thời gian hệ thống quá tải chưa kịp xử lý. Sau đó cả hai ổn định ở mức </a:t>
            </a:r>
            <a:r>
              <a:rPr lang="vi-VN" sz="1000" dirty="0" smtClean="0">
                <a:solidFill>
                  <a:srgbClr val="0D1B2A"/>
                </a:solidFill>
                <a:latin typeface="Calibri (Body)"/>
              </a:rPr>
              <a:t>6 </a:t>
            </a:r>
            <a:r>
              <a:rPr lang="vi-VN" sz="1000" dirty="0">
                <a:solidFill>
                  <a:srgbClr val="0D1B2A"/>
                </a:solidFill>
                <a:latin typeface="Calibri (Body)"/>
              </a:rPr>
              <a:t>replicas </a:t>
            </a:r>
            <a:r>
              <a:rPr lang="vi-VN" sz="1000" dirty="0" smtClean="0">
                <a:solidFill>
                  <a:srgbClr val="0D1B2A"/>
                </a:solidFill>
                <a:latin typeface="Calibri (Body)"/>
              </a:rPr>
              <a:t>(</a:t>
            </a:r>
            <a:r>
              <a:rPr lang="en-US" sz="1000" dirty="0" smtClean="0">
                <a:solidFill>
                  <a:srgbClr val="0D1B2A"/>
                </a:solidFill>
                <a:latin typeface="Calibri (Body)"/>
              </a:rPr>
              <a:t>Max</a:t>
            </a:r>
            <a:r>
              <a:rPr lang="vi-VN" sz="1000" dirty="0" smtClean="0">
                <a:solidFill>
                  <a:srgbClr val="0D1B2A"/>
                </a:solidFill>
                <a:latin typeface="Calibri (Body)"/>
              </a:rPr>
              <a:t>)</a:t>
            </a:r>
            <a:r>
              <a:rPr lang="en-US" sz="1000" dirty="0" smtClean="0">
                <a:solidFill>
                  <a:srgbClr val="0D1B2A"/>
                </a:solidFill>
                <a:latin typeface="Calibri (Body)"/>
              </a:rPr>
              <a:t> </a:t>
            </a:r>
            <a:r>
              <a:rPr lang="en-US" sz="1000" dirty="0" err="1" smtClean="0">
                <a:solidFill>
                  <a:srgbClr val="0D1B2A"/>
                </a:solidFill>
                <a:latin typeface="Calibri (Body)"/>
              </a:rPr>
              <a:t>chứng</a:t>
            </a:r>
            <a:r>
              <a:rPr lang="en-US" sz="1000" dirty="0" smtClean="0">
                <a:solidFill>
                  <a:srgbClr val="0D1B2A"/>
                </a:solidFill>
                <a:latin typeface="Calibri (Body)"/>
              </a:rPr>
              <a:t> </a:t>
            </a:r>
            <a:r>
              <a:rPr lang="en-US" sz="1000" dirty="0" err="1" smtClean="0">
                <a:solidFill>
                  <a:srgbClr val="0D1B2A"/>
                </a:solidFill>
                <a:latin typeface="Calibri (Body)"/>
              </a:rPr>
              <a:t>tỏ</a:t>
            </a:r>
            <a:r>
              <a:rPr lang="en-US" sz="1000" dirty="0" smtClean="0">
                <a:solidFill>
                  <a:srgbClr val="0D1B2A"/>
                </a:solidFill>
                <a:latin typeface="Calibri (Body)"/>
              </a:rPr>
              <a:t> </a:t>
            </a:r>
            <a:r>
              <a:rPr lang="vi-VN" sz="1000" dirty="0" smtClean="0">
                <a:solidFill>
                  <a:srgbClr val="0D1B2A"/>
                </a:solidFill>
                <a:latin typeface="Calibri (Body)"/>
              </a:rPr>
              <a:t>attacker</a:t>
            </a:r>
            <a:r>
              <a:rPr lang="en-US" sz="1000" dirty="0" smtClean="0">
                <a:solidFill>
                  <a:srgbClr val="0D1B2A"/>
                </a:solidFill>
                <a:latin typeface="Calibri (Body)"/>
              </a:rPr>
              <a:t> </a:t>
            </a:r>
            <a:r>
              <a:rPr lang="en-US" sz="1000" dirty="0" err="1" smtClean="0">
                <a:solidFill>
                  <a:srgbClr val="0D1B2A"/>
                </a:solidFill>
                <a:latin typeface="Calibri (Body)"/>
              </a:rPr>
              <a:t>đã</a:t>
            </a:r>
            <a:r>
              <a:rPr lang="vi-VN" sz="1000" dirty="0" smtClean="0">
                <a:solidFill>
                  <a:srgbClr val="0D1B2A"/>
                </a:solidFill>
                <a:latin typeface="Calibri (Body)"/>
              </a:rPr>
              <a:t> </a:t>
            </a:r>
            <a:r>
              <a:rPr lang="vi-VN" sz="1000" dirty="0">
                <a:solidFill>
                  <a:srgbClr val="0D1B2A"/>
                </a:solidFill>
                <a:latin typeface="Calibri (Body)"/>
              </a:rPr>
              <a:t>duy trì áp lực đủ để giữ replicas ở mức cao</a:t>
            </a:r>
            <a:r>
              <a:rPr lang="vi-VN" sz="1000" dirty="0" smtClean="0">
                <a:solidFill>
                  <a:srgbClr val="0D1B2A"/>
                </a:solidFill>
                <a:latin typeface="Calibri (Body)"/>
              </a:rPr>
              <a:t>.</a:t>
            </a:r>
            <a:endParaRPr lang="en-US" sz="1000" dirty="0" smtClean="0">
              <a:solidFill>
                <a:srgbClr val="0D1B2A"/>
              </a:solidFill>
              <a:latin typeface="Calibri (Body)"/>
            </a:endParaRPr>
          </a:p>
          <a:p>
            <a:r>
              <a:rPr lang="en-US" sz="1000" dirty="0" smtClean="0">
                <a:solidFill>
                  <a:srgbClr val="0D1B2A"/>
                </a:solidFill>
                <a:latin typeface="Calibri (Body)"/>
              </a:rPr>
              <a:t/>
            </a:r>
            <a:br>
              <a:rPr lang="en-US" sz="1000" dirty="0" smtClean="0">
                <a:solidFill>
                  <a:srgbClr val="0D1B2A"/>
                </a:solidFill>
                <a:latin typeface="Calibri (Body)"/>
              </a:rPr>
            </a:br>
            <a:r>
              <a:rPr lang="en-US" sz="1000" dirty="0" smtClean="0">
                <a:solidFill>
                  <a:srgbClr val="0D1B2A"/>
                </a:solidFill>
                <a:latin typeface="Calibri (Body)"/>
              </a:rPr>
              <a:t/>
            </a:r>
            <a:br>
              <a:rPr lang="en-US" sz="1000" dirty="0" smtClean="0">
                <a:solidFill>
                  <a:srgbClr val="0D1B2A"/>
                </a:solidFill>
                <a:latin typeface="Calibri (Body)"/>
              </a:rPr>
            </a:br>
            <a:r>
              <a:rPr lang="en-US" sz="1000" dirty="0" smtClean="0">
                <a:latin typeface="Calibri (Body)"/>
              </a:rPr>
              <a:t>=&gt; </a:t>
            </a:r>
            <a:r>
              <a:rPr lang="vi-VN" sz="1000" dirty="0" smtClean="0">
                <a:latin typeface="Calibri (Body)"/>
              </a:rPr>
              <a:t>EDoS </a:t>
            </a:r>
            <a:r>
              <a:rPr lang="vi-VN" sz="1000" dirty="0">
                <a:latin typeface="Calibri (Body)"/>
              </a:rPr>
              <a:t>thành công — attacker buộc cluster tăng từ 1 lên </a:t>
            </a:r>
            <a:r>
              <a:rPr lang="en-US" sz="1000" dirty="0" smtClean="0">
                <a:latin typeface="Calibri (Body)"/>
              </a:rPr>
              <a:t>6</a:t>
            </a:r>
            <a:r>
              <a:rPr lang="vi-VN" sz="1000" dirty="0" smtClean="0">
                <a:latin typeface="Calibri (Body)"/>
              </a:rPr>
              <a:t> replicas, </a:t>
            </a:r>
            <a:r>
              <a:rPr lang="vi-VN" sz="1000" dirty="0">
                <a:latin typeface="Calibri (Body)"/>
              </a:rPr>
              <a:t>mỗi pod đều chạy gần 100% CPU, tạo ra chi phí vận hành gấp </a:t>
            </a:r>
            <a:r>
              <a:rPr lang="en-US" sz="1000" dirty="0" smtClean="0">
                <a:latin typeface="Calibri (Body)"/>
              </a:rPr>
              <a:t>6</a:t>
            </a:r>
            <a:r>
              <a:rPr lang="vi-VN" sz="1000" dirty="0" smtClean="0">
                <a:latin typeface="Calibri (Body)"/>
              </a:rPr>
              <a:t> </a:t>
            </a:r>
            <a:r>
              <a:rPr lang="vi-VN" sz="1000" dirty="0">
                <a:latin typeface="Calibri (Body)"/>
              </a:rPr>
              <a:t>lần baseline. Đây chính là hiện tượng mà bài báo mô tả.</a:t>
            </a:r>
            <a:endParaRPr lang="en-US" sz="1000" dirty="0">
              <a:latin typeface="Calibri (Body)"/>
            </a:endParaRPr>
          </a:p>
        </p:txBody>
      </p:sp>
      <p:sp>
        <p:nvSpPr>
          <p:cNvPr id="23" name="Shape 21"/>
          <p:cNvSpPr/>
          <p:nvPr/>
        </p:nvSpPr>
        <p:spPr>
          <a:xfrm>
            <a:off x="4754880" y="804672"/>
            <a:ext cx="402336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4" name="Shape 22"/>
          <p:cNvSpPr/>
          <p:nvPr/>
        </p:nvSpPr>
        <p:spPr>
          <a:xfrm>
            <a:off x="4663992" y="804672"/>
            <a:ext cx="4114248" cy="3950208"/>
          </a:xfrm>
          <a:prstGeom prst="rect">
            <a:avLst/>
          </a:prstGeom>
          <a:solidFill>
            <a:srgbClr val="EAF4FB"/>
          </a:solidFill>
          <a:ln w="12700">
            <a:solidFill>
              <a:srgbClr val="0096B7"/>
            </a:solidFill>
            <a:prstDash val="solid"/>
          </a:ln>
        </p:spPr>
      </p:sp>
      <p:sp>
        <p:nvSpPr>
          <p:cNvPr id="29" name="Text 27"/>
          <p:cNvSpPr/>
          <p:nvPr/>
        </p:nvSpPr>
        <p:spPr>
          <a:xfrm>
            <a:off x="4754880" y="4005072"/>
            <a:ext cx="3886200" cy="228600"/>
          </a:xfrm>
          <a:prstGeom prst="rect">
            <a:avLst/>
          </a:prstGeom>
          <a:noFill/>
          <a:ln/>
        </p:spPr>
        <p:txBody>
          <a:bodyPr wrap="square" lIns="0" tIns="0" rIns="0" bIns="0" rtlCol="0" anchor="ctr"/>
          <a:lstStyle/>
          <a:p>
            <a:pPr marL="0" indent="0" algn="ctr">
              <a:buNone/>
            </a:pPr>
            <a:r>
              <a:rPr lang="en-US" sz="800" dirty="0">
                <a:solidFill>
                  <a:srgbClr val="FFFFFF"/>
                </a:solidFill>
              </a:rPr>
              <a:t>Grafana — Replicas panel (baseline phase)</a:t>
            </a:r>
            <a:endParaRPr lang="en-US" sz="800" dirty="0"/>
          </a:p>
        </p:txBody>
      </p:sp>
      <p:pic>
        <p:nvPicPr>
          <p:cNvPr id="25" name="Picture 24"/>
          <p:cNvPicPr>
            <a:picLocks noChangeAspect="1"/>
          </p:cNvPicPr>
          <p:nvPr/>
        </p:nvPicPr>
        <p:blipFill>
          <a:blip r:embed="rId3"/>
          <a:stretch>
            <a:fillRect/>
          </a:stretch>
        </p:blipFill>
        <p:spPr>
          <a:xfrm>
            <a:off x="4663992" y="804672"/>
            <a:ext cx="4107565" cy="3950208"/>
          </a:xfrm>
          <a:prstGeom prst="rect">
            <a:avLst/>
          </a:prstGeom>
        </p:spPr>
      </p:pic>
      <p:sp>
        <p:nvSpPr>
          <p:cNvPr id="31" name="Shape 1"/>
          <p:cNvSpPr/>
          <p:nvPr/>
        </p:nvSpPr>
        <p:spPr>
          <a:xfrm>
            <a:off x="0" y="0"/>
            <a:ext cx="109728" cy="658368"/>
          </a:xfrm>
          <a:prstGeom prst="rect">
            <a:avLst/>
          </a:prstGeom>
          <a:solidFill>
            <a:srgbClr val="D62828"/>
          </a:solidFill>
          <a:ln w="12700">
            <a:solidFill>
              <a:srgbClr val="D62828"/>
            </a:solidFill>
            <a:prstDash val="solid"/>
          </a:ln>
        </p:spPr>
      </p:sp>
    </p:spTree>
    <p:extLst>
      <p:ext uri="{BB962C8B-B14F-4D97-AF65-F5344CB8AC3E}">
        <p14:creationId xmlns:p14="http://schemas.microsoft.com/office/powerpoint/2010/main" val="133120258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r>
              <a:rPr lang="en-US" sz="2200" b="1" dirty="0">
                <a:solidFill>
                  <a:srgbClr val="FFFFFF"/>
                </a:solidFill>
              </a:rPr>
              <a:t>DEMO · </a:t>
            </a:r>
            <a:r>
              <a:rPr lang="en-US" sz="2200" b="1" dirty="0" err="1">
                <a:solidFill>
                  <a:srgbClr val="FFFFFF"/>
                </a:solidFill>
              </a:rPr>
              <a:t>Giai</a:t>
            </a:r>
            <a:r>
              <a:rPr lang="en-US" sz="2200" b="1" dirty="0">
                <a:solidFill>
                  <a:srgbClr val="FFFFFF"/>
                </a:solidFill>
              </a:rPr>
              <a:t> </a:t>
            </a:r>
            <a:r>
              <a:rPr lang="en-US" sz="2200" b="1" dirty="0" err="1">
                <a:solidFill>
                  <a:srgbClr val="FFFFFF"/>
                </a:solidFill>
              </a:rPr>
              <a:t>đoạn</a:t>
            </a:r>
            <a:r>
              <a:rPr lang="en-US" sz="2200" b="1" dirty="0">
                <a:solidFill>
                  <a:srgbClr val="FFFFFF"/>
                </a:solidFill>
              </a:rPr>
              <a:t> 2 — </a:t>
            </a:r>
            <a:r>
              <a:rPr lang="en-US" sz="2200" b="1" dirty="0" err="1">
                <a:solidFill>
                  <a:srgbClr val="FFFFFF"/>
                </a:solidFill>
              </a:rPr>
              <a:t>Tấn</a:t>
            </a:r>
            <a:r>
              <a:rPr lang="en-US" sz="2200" b="1" dirty="0">
                <a:solidFill>
                  <a:srgbClr val="FFFFFF"/>
                </a:solidFill>
              </a:rPr>
              <a:t> </a:t>
            </a:r>
            <a:r>
              <a:rPr lang="en-US" sz="2200" b="1" dirty="0" err="1">
                <a:solidFill>
                  <a:srgbClr val="FFFFFF"/>
                </a:solidFill>
              </a:rPr>
              <a:t>công</a:t>
            </a:r>
            <a:r>
              <a:rPr lang="en-US" sz="2200" b="1" dirty="0">
                <a:solidFill>
                  <a:srgbClr val="FFFFFF"/>
                </a:solidFill>
              </a:rPr>
              <a:t> </a:t>
            </a:r>
            <a:r>
              <a:rPr lang="en-US" sz="2200" b="1" dirty="0" err="1">
                <a:solidFill>
                  <a:srgbClr val="FFFFFF"/>
                </a:solidFill>
              </a:rPr>
              <a:t>EDoS</a:t>
            </a:r>
            <a:r>
              <a:rPr lang="en-US" sz="2200" b="1" dirty="0">
                <a:solidFill>
                  <a:srgbClr val="FFFFFF"/>
                </a:solidFill>
              </a:rPr>
              <a:t> State-Aware</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109728" y="804672"/>
            <a:ext cx="9034272"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9" name="Text 27"/>
          <p:cNvSpPr/>
          <p:nvPr/>
        </p:nvSpPr>
        <p:spPr>
          <a:xfrm>
            <a:off x="4754880" y="4005072"/>
            <a:ext cx="3886200" cy="228600"/>
          </a:xfrm>
          <a:prstGeom prst="rect">
            <a:avLst/>
          </a:prstGeom>
          <a:noFill/>
          <a:ln/>
        </p:spPr>
        <p:txBody>
          <a:bodyPr wrap="square" lIns="0" tIns="0" rIns="0" bIns="0" rtlCol="0" anchor="ctr"/>
          <a:lstStyle/>
          <a:p>
            <a:pPr marL="0" indent="0" algn="ctr">
              <a:buNone/>
            </a:pPr>
            <a:r>
              <a:rPr lang="en-US" sz="800" dirty="0">
                <a:solidFill>
                  <a:srgbClr val="FFFFFF"/>
                </a:solidFill>
              </a:rPr>
              <a:t>Grafana — Replicas panel (baseline phase)</a:t>
            </a:r>
            <a:endParaRPr lang="en-US" sz="800" dirty="0"/>
          </a:p>
        </p:txBody>
      </p:sp>
      <p:pic>
        <p:nvPicPr>
          <p:cNvPr id="26" name="Picture 25"/>
          <p:cNvPicPr>
            <a:picLocks noChangeAspect="1"/>
          </p:cNvPicPr>
          <p:nvPr/>
        </p:nvPicPr>
        <p:blipFill>
          <a:blip r:embed="rId3"/>
          <a:stretch>
            <a:fillRect/>
          </a:stretch>
        </p:blipFill>
        <p:spPr>
          <a:xfrm>
            <a:off x="1157820" y="1252728"/>
            <a:ext cx="6279720" cy="3321164"/>
          </a:xfrm>
          <a:prstGeom prst="rect">
            <a:avLst/>
          </a:prstGeom>
        </p:spPr>
      </p:pic>
      <p:sp>
        <p:nvSpPr>
          <p:cNvPr id="28" name="Shape 1"/>
          <p:cNvSpPr/>
          <p:nvPr/>
        </p:nvSpPr>
        <p:spPr>
          <a:xfrm>
            <a:off x="0" y="0"/>
            <a:ext cx="109728" cy="658368"/>
          </a:xfrm>
          <a:prstGeom prst="rect">
            <a:avLst/>
          </a:prstGeom>
          <a:solidFill>
            <a:srgbClr val="D62828"/>
          </a:solidFill>
          <a:ln w="12700">
            <a:solidFill>
              <a:srgbClr val="D62828"/>
            </a:solidFill>
            <a:prstDash val="solid"/>
          </a:ln>
        </p:spPr>
      </p:sp>
      <p:sp>
        <p:nvSpPr>
          <p:cNvPr id="30" name="Text 7"/>
          <p:cNvSpPr/>
          <p:nvPr/>
        </p:nvSpPr>
        <p:spPr>
          <a:xfrm>
            <a:off x="457200" y="868680"/>
            <a:ext cx="4599616" cy="320040"/>
          </a:xfrm>
          <a:prstGeom prst="rect">
            <a:avLst/>
          </a:prstGeom>
          <a:noFill/>
          <a:ln/>
        </p:spPr>
        <p:txBody>
          <a:bodyPr wrap="square" lIns="0" tIns="0" rIns="0" bIns="0" rtlCol="0" anchor="ctr"/>
          <a:lstStyle/>
          <a:p>
            <a:pPr marL="0" indent="0">
              <a:buNone/>
            </a:pPr>
            <a:r>
              <a:rPr lang="en-US" sz="1200" dirty="0" err="1" smtClean="0">
                <a:solidFill>
                  <a:srgbClr val="0D1B2A"/>
                </a:solidFill>
              </a:rPr>
              <a:t>Sau</a:t>
            </a:r>
            <a:r>
              <a:rPr lang="en-US" sz="1200" dirty="0" smtClean="0">
                <a:solidFill>
                  <a:srgbClr val="0D1B2A"/>
                </a:solidFill>
              </a:rPr>
              <a:t> </a:t>
            </a:r>
            <a:r>
              <a:rPr lang="en-US" sz="1200" dirty="0" err="1" smtClean="0">
                <a:solidFill>
                  <a:srgbClr val="0D1B2A"/>
                </a:solidFill>
              </a:rPr>
              <a:t>khi</a:t>
            </a:r>
            <a:r>
              <a:rPr lang="en-US" sz="1200" dirty="0" smtClean="0">
                <a:solidFill>
                  <a:srgbClr val="0D1B2A"/>
                </a:solidFill>
              </a:rPr>
              <a:t> </a:t>
            </a:r>
            <a:r>
              <a:rPr lang="en-US" sz="1200" dirty="0" err="1" smtClean="0">
                <a:solidFill>
                  <a:srgbClr val="0D1B2A"/>
                </a:solidFill>
              </a:rPr>
              <a:t>ngừng</a:t>
            </a:r>
            <a:r>
              <a:rPr lang="en-US" sz="1200" dirty="0" smtClean="0">
                <a:solidFill>
                  <a:srgbClr val="0D1B2A"/>
                </a:solidFill>
              </a:rPr>
              <a:t> </a:t>
            </a:r>
            <a:r>
              <a:rPr lang="en-US" sz="1200" dirty="0" err="1" smtClean="0">
                <a:solidFill>
                  <a:srgbClr val="0D1B2A"/>
                </a:solidFill>
              </a:rPr>
              <a:t>tấn</a:t>
            </a:r>
            <a:r>
              <a:rPr lang="en-US" sz="1200" dirty="0" smtClean="0">
                <a:solidFill>
                  <a:srgbClr val="0D1B2A"/>
                </a:solidFill>
              </a:rPr>
              <a:t> </a:t>
            </a:r>
            <a:r>
              <a:rPr lang="en-US" sz="1200" dirty="0" err="1" smtClean="0">
                <a:solidFill>
                  <a:srgbClr val="0D1B2A"/>
                </a:solidFill>
              </a:rPr>
              <a:t>công</a:t>
            </a:r>
            <a:r>
              <a:rPr lang="en-US" sz="1200" dirty="0" smtClean="0">
                <a:solidFill>
                  <a:srgbClr val="0D1B2A"/>
                </a:solidFill>
              </a:rPr>
              <a:t>, </a:t>
            </a:r>
            <a:r>
              <a:rPr lang="en-US" sz="1200" dirty="0" err="1" smtClean="0">
                <a:solidFill>
                  <a:srgbClr val="0D1B2A"/>
                </a:solidFill>
              </a:rPr>
              <a:t>hệ</a:t>
            </a:r>
            <a:r>
              <a:rPr lang="en-US" sz="1200" dirty="0" smtClean="0">
                <a:solidFill>
                  <a:srgbClr val="0D1B2A"/>
                </a:solidFill>
              </a:rPr>
              <a:t> </a:t>
            </a:r>
            <a:r>
              <a:rPr lang="en-US" sz="1200" dirty="0" err="1" smtClean="0">
                <a:solidFill>
                  <a:srgbClr val="0D1B2A"/>
                </a:solidFill>
              </a:rPr>
              <a:t>thống</a:t>
            </a:r>
            <a:r>
              <a:rPr lang="en-US" sz="1200" dirty="0" smtClean="0">
                <a:solidFill>
                  <a:srgbClr val="0D1B2A"/>
                </a:solidFill>
              </a:rPr>
              <a:t> </a:t>
            </a:r>
            <a:r>
              <a:rPr lang="en-US" sz="1200" dirty="0" err="1" smtClean="0">
                <a:solidFill>
                  <a:srgbClr val="0D1B2A"/>
                </a:solidFill>
              </a:rPr>
              <a:t>dần</a:t>
            </a:r>
            <a:r>
              <a:rPr lang="en-US" sz="1200" dirty="0" smtClean="0">
                <a:solidFill>
                  <a:srgbClr val="0D1B2A"/>
                </a:solidFill>
              </a:rPr>
              <a:t> </a:t>
            </a:r>
            <a:r>
              <a:rPr lang="en-US" sz="1200" dirty="0" err="1" smtClean="0">
                <a:solidFill>
                  <a:srgbClr val="0D1B2A"/>
                </a:solidFill>
              </a:rPr>
              <a:t>khôi</a:t>
            </a:r>
            <a:r>
              <a:rPr lang="en-US" sz="1200" dirty="0" smtClean="0">
                <a:solidFill>
                  <a:srgbClr val="0D1B2A"/>
                </a:solidFill>
              </a:rPr>
              <a:t> </a:t>
            </a:r>
            <a:r>
              <a:rPr lang="en-US" sz="1200" dirty="0" err="1" smtClean="0">
                <a:solidFill>
                  <a:srgbClr val="0D1B2A"/>
                </a:solidFill>
              </a:rPr>
              <a:t>phục</a:t>
            </a:r>
            <a:r>
              <a:rPr lang="en-US" sz="1200" dirty="0" smtClean="0">
                <a:solidFill>
                  <a:srgbClr val="0D1B2A"/>
                </a:solidFill>
              </a:rPr>
              <a:t> </a:t>
            </a:r>
            <a:r>
              <a:rPr lang="en-US" sz="1200" dirty="0" err="1" smtClean="0">
                <a:solidFill>
                  <a:srgbClr val="0D1B2A"/>
                </a:solidFill>
              </a:rPr>
              <a:t>về</a:t>
            </a:r>
            <a:r>
              <a:rPr lang="en-US" sz="1200" dirty="0" smtClean="0">
                <a:solidFill>
                  <a:srgbClr val="0D1B2A"/>
                </a:solidFill>
              </a:rPr>
              <a:t> </a:t>
            </a:r>
            <a:r>
              <a:rPr lang="en-US" sz="1200" dirty="0" err="1" smtClean="0">
                <a:solidFill>
                  <a:srgbClr val="0D1B2A"/>
                </a:solidFill>
              </a:rPr>
              <a:t>mức</a:t>
            </a:r>
            <a:r>
              <a:rPr lang="en-US" sz="1200" dirty="0" smtClean="0">
                <a:solidFill>
                  <a:srgbClr val="0D1B2A"/>
                </a:solidFill>
              </a:rPr>
              <a:t> </a:t>
            </a:r>
            <a:r>
              <a:rPr lang="en-US" sz="1200" dirty="0" err="1" smtClean="0">
                <a:solidFill>
                  <a:srgbClr val="0D1B2A"/>
                </a:solidFill>
              </a:rPr>
              <a:t>bình</a:t>
            </a:r>
            <a:r>
              <a:rPr lang="en-US" sz="1200" dirty="0" smtClean="0">
                <a:solidFill>
                  <a:srgbClr val="0D1B2A"/>
                </a:solidFill>
              </a:rPr>
              <a:t> </a:t>
            </a:r>
            <a:r>
              <a:rPr lang="en-US" sz="1200" dirty="0" err="1" smtClean="0">
                <a:solidFill>
                  <a:srgbClr val="0D1B2A"/>
                </a:solidFill>
              </a:rPr>
              <a:t>thường</a:t>
            </a:r>
            <a:r>
              <a:rPr lang="en-US" sz="1200" dirty="0" smtClean="0">
                <a:solidFill>
                  <a:srgbClr val="0D1B2A"/>
                </a:solidFill>
              </a:rPr>
              <a:t>:</a:t>
            </a:r>
            <a:endParaRPr lang="en-US" sz="1200" dirty="0"/>
          </a:p>
        </p:txBody>
      </p:sp>
    </p:spTree>
    <p:extLst>
      <p:ext uri="{BB962C8B-B14F-4D97-AF65-F5344CB8AC3E}">
        <p14:creationId xmlns:p14="http://schemas.microsoft.com/office/powerpoint/2010/main" val="359814278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r>
              <a:rPr lang="en-US" sz="2200" b="1" dirty="0">
                <a:solidFill>
                  <a:srgbClr val="FFFFFF"/>
                </a:solidFill>
              </a:rPr>
              <a:t>DEMO · </a:t>
            </a:r>
            <a:r>
              <a:rPr lang="en-US" sz="2200" b="1" dirty="0" err="1">
                <a:solidFill>
                  <a:srgbClr val="FFFFFF"/>
                </a:solidFill>
              </a:rPr>
              <a:t>Giai</a:t>
            </a:r>
            <a:r>
              <a:rPr lang="en-US" sz="2200" b="1" dirty="0">
                <a:solidFill>
                  <a:srgbClr val="FFFFFF"/>
                </a:solidFill>
              </a:rPr>
              <a:t> </a:t>
            </a:r>
            <a:r>
              <a:rPr lang="en-US" sz="2200" b="1" dirty="0" err="1">
                <a:solidFill>
                  <a:srgbClr val="FFFFFF"/>
                </a:solidFill>
              </a:rPr>
              <a:t>đoạn</a:t>
            </a:r>
            <a:r>
              <a:rPr lang="en-US" sz="2200" b="1" dirty="0">
                <a:solidFill>
                  <a:srgbClr val="FFFFFF"/>
                </a:solidFill>
              </a:rPr>
              <a:t> 3 — </a:t>
            </a:r>
            <a:r>
              <a:rPr lang="en-US" sz="2200" b="1" dirty="0" err="1">
                <a:solidFill>
                  <a:srgbClr val="FFFFFF"/>
                </a:solidFill>
              </a:rPr>
              <a:t>Phòng</a:t>
            </a:r>
            <a:r>
              <a:rPr lang="en-US" sz="2200" b="1" dirty="0">
                <a:solidFill>
                  <a:srgbClr val="FFFFFF"/>
                </a:solidFill>
              </a:rPr>
              <a:t> </a:t>
            </a:r>
            <a:r>
              <a:rPr lang="en-US" sz="2200" b="1" dirty="0" err="1">
                <a:solidFill>
                  <a:srgbClr val="FFFFFF"/>
                </a:solidFill>
              </a:rPr>
              <a:t>thủ</a:t>
            </a:r>
            <a:r>
              <a:rPr lang="en-US" sz="2200" b="1" dirty="0">
                <a:solidFill>
                  <a:srgbClr val="FFFFFF"/>
                </a:solidFill>
              </a:rPr>
              <a:t>: Custom Metrics </a:t>
            </a:r>
            <a:r>
              <a:rPr lang="en-US" sz="2200" b="1" dirty="0" smtClean="0">
                <a:solidFill>
                  <a:srgbClr val="FFFFFF"/>
                </a:solidFill>
              </a:rPr>
              <a:t>Adapter</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886968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50208"/>
          </a:xfrm>
          <a:prstGeom prst="rect">
            <a:avLst/>
          </a:prstGeom>
          <a:solidFill>
            <a:srgbClr val="2D9D5A"/>
          </a:solidFill>
          <a:ln w="12700">
            <a:solidFill>
              <a:srgbClr val="2D9D5A"/>
            </a:solidFill>
            <a:prstDash val="solid"/>
          </a:ln>
        </p:spPr>
      </p:sp>
      <p:sp>
        <p:nvSpPr>
          <p:cNvPr id="9" name="Text 7"/>
          <p:cNvSpPr/>
          <p:nvPr/>
        </p:nvSpPr>
        <p:spPr>
          <a:xfrm>
            <a:off x="457200" y="868680"/>
            <a:ext cx="4754880" cy="320040"/>
          </a:xfrm>
          <a:prstGeom prst="rect">
            <a:avLst/>
          </a:prstGeom>
          <a:noFill/>
          <a:ln/>
        </p:spPr>
        <p:txBody>
          <a:bodyPr wrap="square" lIns="0" tIns="0" rIns="0" bIns="0" rtlCol="0" anchor="ctr"/>
          <a:lstStyle/>
          <a:p>
            <a:pPr marL="0" indent="0">
              <a:buNone/>
            </a:pPr>
            <a:r>
              <a:rPr lang="en-US" sz="1200" b="1" dirty="0">
                <a:solidFill>
                  <a:srgbClr val="0D1B2A"/>
                </a:solidFill>
              </a:rPr>
              <a:t>Cơ chế Randomization HPA [4]</a:t>
            </a:r>
            <a:endParaRPr lang="en-US" sz="1200" dirty="0"/>
          </a:p>
        </p:txBody>
      </p:sp>
      <p:sp>
        <p:nvSpPr>
          <p:cNvPr id="10" name="Shape 8"/>
          <p:cNvSpPr/>
          <p:nvPr/>
        </p:nvSpPr>
        <p:spPr>
          <a:xfrm>
            <a:off x="457200" y="1261872"/>
            <a:ext cx="1389888" cy="621792"/>
          </a:xfrm>
          <a:prstGeom prst="rect">
            <a:avLst/>
          </a:prstGeom>
          <a:solidFill>
            <a:srgbClr val="0096B7">
              <a:alpha val="80000"/>
            </a:srgbClr>
          </a:solidFill>
          <a:ln w="12700">
            <a:solidFill>
              <a:srgbClr val="0096B7"/>
            </a:solidFill>
            <a:prstDash val="solid"/>
          </a:ln>
        </p:spPr>
      </p:sp>
      <p:sp>
        <p:nvSpPr>
          <p:cNvPr id="11" name="Text 9"/>
          <p:cNvSpPr/>
          <p:nvPr/>
        </p:nvSpPr>
        <p:spPr>
          <a:xfrm>
            <a:off x="457200" y="1261872"/>
            <a:ext cx="1389888" cy="621792"/>
          </a:xfrm>
          <a:prstGeom prst="rect">
            <a:avLst/>
          </a:prstGeom>
          <a:noFill/>
          <a:ln/>
        </p:spPr>
        <p:txBody>
          <a:bodyPr wrap="square" lIns="0" tIns="0" rIns="0" bIns="0" rtlCol="0" anchor="ctr"/>
          <a:lstStyle/>
          <a:p>
            <a:pPr marL="0" indent="0" algn="ctr">
              <a:buNone/>
            </a:pPr>
            <a:r>
              <a:rPr lang="en-US" sz="950" dirty="0">
                <a:solidFill>
                  <a:srgbClr val="0D1B2A"/>
                </a:solidFill>
              </a:rPr>
              <a:t>Metric vượt</a:t>
            </a:r>
            <a:endParaRPr lang="en-US" sz="950" dirty="0"/>
          </a:p>
          <a:p>
            <a:pPr marL="0" indent="0" algn="ctr">
              <a:buNone/>
            </a:pPr>
            <a:r>
              <a:rPr lang="en-US" sz="950" dirty="0">
                <a:solidFill>
                  <a:srgbClr val="0D1B2A"/>
                </a:solidFill>
              </a:rPr>
              <a:t>ngưỡng HPA</a:t>
            </a:r>
            <a:endParaRPr lang="en-US" sz="950" dirty="0"/>
          </a:p>
        </p:txBody>
      </p:sp>
      <p:sp>
        <p:nvSpPr>
          <p:cNvPr id="12" name="Shape 10"/>
          <p:cNvSpPr/>
          <p:nvPr/>
        </p:nvSpPr>
        <p:spPr>
          <a:xfrm>
            <a:off x="1874520" y="1572768"/>
            <a:ext cx="411480" cy="0"/>
          </a:xfrm>
          <a:prstGeom prst="line">
            <a:avLst/>
          </a:prstGeom>
          <a:noFill/>
          <a:ln w="19050">
            <a:solidFill>
              <a:srgbClr val="64748B"/>
            </a:solidFill>
            <a:prstDash val="solid"/>
          </a:ln>
        </p:spPr>
      </p:sp>
      <p:sp>
        <p:nvSpPr>
          <p:cNvPr id="13" name="Shape 11"/>
          <p:cNvSpPr/>
          <p:nvPr/>
        </p:nvSpPr>
        <p:spPr>
          <a:xfrm>
            <a:off x="2331720" y="1261872"/>
            <a:ext cx="777240" cy="621792"/>
          </a:xfrm>
          <a:prstGeom prst="ellipse">
            <a:avLst/>
          </a:prstGeom>
          <a:solidFill>
            <a:srgbClr val="F47B20">
              <a:alpha val="80000"/>
            </a:srgbClr>
          </a:solidFill>
          <a:ln w="12700">
            <a:solidFill>
              <a:srgbClr val="F47B20"/>
            </a:solidFill>
            <a:prstDash val="solid"/>
          </a:ln>
        </p:spPr>
      </p:sp>
      <p:sp>
        <p:nvSpPr>
          <p:cNvPr id="14" name="Text 12"/>
          <p:cNvSpPr/>
          <p:nvPr/>
        </p:nvSpPr>
        <p:spPr>
          <a:xfrm>
            <a:off x="2331720" y="1261872"/>
            <a:ext cx="777240" cy="621792"/>
          </a:xfrm>
          <a:prstGeom prst="rect">
            <a:avLst/>
          </a:prstGeom>
          <a:noFill/>
          <a:ln/>
        </p:spPr>
        <p:txBody>
          <a:bodyPr wrap="square" lIns="0" tIns="0" rIns="0" bIns="0" rtlCol="0" anchor="ctr"/>
          <a:lstStyle/>
          <a:p>
            <a:pPr marL="0" indent="0" algn="ctr">
              <a:buNone/>
            </a:pPr>
            <a:r>
              <a:rPr lang="en-US" sz="900" dirty="0">
                <a:solidFill>
                  <a:srgbClr val="0D1B2A"/>
                </a:solidFill>
              </a:rPr>
              <a:t>RNG</a:t>
            </a:r>
            <a:endParaRPr lang="en-US" sz="900" dirty="0"/>
          </a:p>
          <a:p>
            <a:pPr marL="0" indent="0" algn="ctr">
              <a:buNone/>
            </a:pPr>
            <a:r>
              <a:rPr lang="en-US" sz="900" dirty="0">
                <a:solidFill>
                  <a:srgbClr val="0D1B2A"/>
                </a:solidFill>
              </a:rPr>
              <a:t>50/50</a:t>
            </a:r>
            <a:endParaRPr lang="en-US" sz="900" dirty="0"/>
          </a:p>
        </p:txBody>
      </p:sp>
      <p:sp>
        <p:nvSpPr>
          <p:cNvPr id="15" name="Shape 13"/>
          <p:cNvSpPr/>
          <p:nvPr/>
        </p:nvSpPr>
        <p:spPr>
          <a:xfrm>
            <a:off x="3108960" y="1572768"/>
            <a:ext cx="182880" cy="0"/>
          </a:xfrm>
          <a:prstGeom prst="line">
            <a:avLst/>
          </a:prstGeom>
          <a:noFill/>
          <a:ln w="19050">
            <a:solidFill>
              <a:srgbClr val="2D9D5A"/>
            </a:solidFill>
            <a:prstDash val="solid"/>
          </a:ln>
        </p:spPr>
      </p:sp>
      <p:sp>
        <p:nvSpPr>
          <p:cNvPr id="16" name="Shape 14"/>
          <p:cNvSpPr/>
          <p:nvPr/>
        </p:nvSpPr>
        <p:spPr>
          <a:xfrm>
            <a:off x="3337560" y="1261872"/>
            <a:ext cx="1371600" cy="621792"/>
          </a:xfrm>
          <a:prstGeom prst="rect">
            <a:avLst/>
          </a:prstGeom>
          <a:solidFill>
            <a:srgbClr val="2D9D5A">
              <a:alpha val="80000"/>
            </a:srgbClr>
          </a:solidFill>
          <a:ln w="12700">
            <a:solidFill>
              <a:srgbClr val="2D9D5A"/>
            </a:solidFill>
            <a:prstDash val="solid"/>
          </a:ln>
        </p:spPr>
      </p:sp>
      <p:sp>
        <p:nvSpPr>
          <p:cNvPr id="17" name="Text 15"/>
          <p:cNvSpPr/>
          <p:nvPr/>
        </p:nvSpPr>
        <p:spPr>
          <a:xfrm>
            <a:off x="3337560" y="1261872"/>
            <a:ext cx="1371600" cy="621792"/>
          </a:xfrm>
          <a:prstGeom prst="rect">
            <a:avLst/>
          </a:prstGeom>
          <a:noFill/>
          <a:ln/>
        </p:spPr>
        <p:txBody>
          <a:bodyPr wrap="square" lIns="0" tIns="0" rIns="0" bIns="0" rtlCol="0" anchor="ctr"/>
          <a:lstStyle/>
          <a:p>
            <a:pPr marL="0" indent="0" algn="ctr">
              <a:buNone/>
            </a:pPr>
            <a:r>
              <a:rPr lang="en-US" sz="950" dirty="0">
                <a:solidFill>
                  <a:srgbClr val="0D1B2A"/>
                </a:solidFill>
              </a:rPr>
              <a:t>Scale Up</a:t>
            </a:r>
            <a:endParaRPr lang="en-US" sz="950" dirty="0"/>
          </a:p>
          <a:p>
            <a:pPr marL="0" indent="0" algn="ctr">
              <a:buNone/>
            </a:pPr>
            <a:r>
              <a:rPr lang="en-US" sz="950" dirty="0">
                <a:solidFill>
                  <a:srgbClr val="0D1B2A"/>
                </a:solidFill>
              </a:rPr>
              <a:t>bình thường</a:t>
            </a:r>
            <a:endParaRPr lang="en-US" sz="950" dirty="0"/>
          </a:p>
        </p:txBody>
      </p:sp>
      <p:sp>
        <p:nvSpPr>
          <p:cNvPr id="18" name="Shape 16"/>
          <p:cNvSpPr/>
          <p:nvPr/>
        </p:nvSpPr>
        <p:spPr>
          <a:xfrm>
            <a:off x="2724912" y="1883664"/>
            <a:ext cx="0" cy="365760"/>
          </a:xfrm>
          <a:prstGeom prst="line">
            <a:avLst/>
          </a:prstGeom>
          <a:noFill/>
          <a:ln w="19050">
            <a:solidFill>
              <a:srgbClr val="D62828"/>
            </a:solidFill>
            <a:prstDash val="solid"/>
          </a:ln>
        </p:spPr>
      </p:sp>
      <p:sp>
        <p:nvSpPr>
          <p:cNvPr id="19" name="Shape 17"/>
          <p:cNvSpPr/>
          <p:nvPr/>
        </p:nvSpPr>
        <p:spPr>
          <a:xfrm>
            <a:off x="2331720" y="2286000"/>
            <a:ext cx="777240" cy="621792"/>
          </a:xfrm>
          <a:prstGeom prst="rect">
            <a:avLst/>
          </a:prstGeom>
          <a:solidFill>
            <a:srgbClr val="D62828">
              <a:alpha val="80000"/>
            </a:srgbClr>
          </a:solidFill>
          <a:ln w="12700">
            <a:solidFill>
              <a:srgbClr val="D62828"/>
            </a:solidFill>
            <a:prstDash val="solid"/>
          </a:ln>
        </p:spPr>
      </p:sp>
      <p:sp>
        <p:nvSpPr>
          <p:cNvPr id="20" name="Text 18"/>
          <p:cNvSpPr/>
          <p:nvPr/>
        </p:nvSpPr>
        <p:spPr>
          <a:xfrm>
            <a:off x="2331720" y="2286000"/>
            <a:ext cx="777240" cy="621792"/>
          </a:xfrm>
          <a:prstGeom prst="rect">
            <a:avLst/>
          </a:prstGeom>
          <a:noFill/>
          <a:ln/>
        </p:spPr>
        <p:txBody>
          <a:bodyPr wrap="square" lIns="0" tIns="0" rIns="0" bIns="0" rtlCol="0" anchor="ctr"/>
          <a:lstStyle/>
          <a:p>
            <a:pPr marL="0" indent="0" algn="ctr">
              <a:buNone/>
            </a:pPr>
            <a:r>
              <a:rPr lang="en-US" sz="950" dirty="0">
                <a:solidFill>
                  <a:srgbClr val="0D1B2A"/>
                </a:solidFill>
              </a:rPr>
              <a:t>Bỏ qua</a:t>
            </a:r>
            <a:endParaRPr lang="en-US" sz="950" dirty="0"/>
          </a:p>
          <a:p>
            <a:pPr marL="0" indent="0" algn="ctr">
              <a:buNone/>
            </a:pPr>
            <a:r>
              <a:rPr lang="en-US" sz="950" dirty="0">
                <a:solidFill>
                  <a:srgbClr val="0D1B2A"/>
                </a:solidFill>
              </a:rPr>
              <a:t>chu kỳ này</a:t>
            </a:r>
            <a:endParaRPr lang="en-US" sz="950" dirty="0"/>
          </a:p>
        </p:txBody>
      </p:sp>
      <p:sp>
        <p:nvSpPr>
          <p:cNvPr id="21" name="Text 19"/>
          <p:cNvSpPr/>
          <p:nvPr/>
        </p:nvSpPr>
        <p:spPr>
          <a:xfrm>
            <a:off x="457200" y="2999232"/>
            <a:ext cx="4251960" cy="1038857"/>
          </a:xfrm>
          <a:prstGeom prst="rect">
            <a:avLst/>
          </a:prstGeom>
          <a:noFill/>
          <a:ln/>
        </p:spPr>
        <p:txBody>
          <a:bodyPr wrap="square" lIns="0" tIns="0" rIns="0" bIns="0" rtlCol="0" anchor="ctr"/>
          <a:lstStyle/>
          <a:p>
            <a:pPr marL="0" indent="0">
              <a:buNone/>
            </a:pPr>
            <a:r>
              <a:rPr lang="en-US" sz="1100" dirty="0">
                <a:solidFill>
                  <a:srgbClr val="0D1B2A"/>
                </a:solidFill>
              </a:rPr>
              <a:t>• Sử dụng custom scaling metrics của HPA</a:t>
            </a:r>
            <a:endParaRPr lang="en-US" sz="1100" dirty="0"/>
          </a:p>
          <a:p>
            <a:pPr marL="0" indent="0">
              <a:buNone/>
            </a:pPr>
            <a:r>
              <a:rPr lang="en-US" sz="1100" dirty="0">
                <a:solidFill>
                  <a:srgbClr val="0D1B2A"/>
                </a:solidFill>
              </a:rPr>
              <a:t>• RNG được cân </a:t>
            </a:r>
            <a:r>
              <a:rPr lang="en-US" sz="1100" dirty="0" err="1">
                <a:solidFill>
                  <a:srgbClr val="0D1B2A"/>
                </a:solidFill>
              </a:rPr>
              <a:t>bằng</a:t>
            </a:r>
            <a:r>
              <a:rPr lang="en-US" sz="1100" dirty="0">
                <a:solidFill>
                  <a:srgbClr val="0D1B2A"/>
                </a:solidFill>
              </a:rPr>
              <a:t> </a:t>
            </a:r>
            <a:r>
              <a:rPr lang="en-US" sz="1100" dirty="0" smtClean="0">
                <a:solidFill>
                  <a:srgbClr val="0D1B2A"/>
                </a:solidFill>
              </a:rPr>
              <a:t>50/50 (</a:t>
            </a:r>
            <a:r>
              <a:rPr lang="en-US" sz="1100" dirty="0" err="1" smtClean="0">
                <a:solidFill>
                  <a:srgbClr val="0D1B2A"/>
                </a:solidFill>
              </a:rPr>
              <a:t>có</a:t>
            </a:r>
            <a:r>
              <a:rPr lang="en-US" sz="1100" dirty="0" smtClean="0">
                <a:solidFill>
                  <a:srgbClr val="0D1B2A"/>
                </a:solidFill>
              </a:rPr>
              <a:t> </a:t>
            </a:r>
            <a:r>
              <a:rPr lang="en-US" sz="1100" dirty="0" err="1" smtClean="0">
                <a:solidFill>
                  <a:srgbClr val="0D1B2A"/>
                </a:solidFill>
              </a:rPr>
              <a:t>thể</a:t>
            </a:r>
            <a:r>
              <a:rPr lang="en-US" sz="1100" dirty="0" smtClean="0">
                <a:solidFill>
                  <a:srgbClr val="0D1B2A"/>
                </a:solidFill>
              </a:rPr>
              <a:t> </a:t>
            </a:r>
            <a:r>
              <a:rPr lang="en-US" sz="1100" dirty="0" err="1" smtClean="0">
                <a:solidFill>
                  <a:srgbClr val="0D1B2A"/>
                </a:solidFill>
              </a:rPr>
              <a:t>điều</a:t>
            </a:r>
            <a:r>
              <a:rPr lang="en-US" sz="1100" dirty="0" smtClean="0">
                <a:solidFill>
                  <a:srgbClr val="0D1B2A"/>
                </a:solidFill>
              </a:rPr>
              <a:t> </a:t>
            </a:r>
            <a:r>
              <a:rPr lang="en-US" sz="1100" dirty="0" err="1" smtClean="0">
                <a:solidFill>
                  <a:srgbClr val="0D1B2A"/>
                </a:solidFill>
              </a:rPr>
              <a:t>chỉnh</a:t>
            </a:r>
            <a:r>
              <a:rPr lang="en-US" sz="1100" dirty="0" smtClean="0">
                <a:solidFill>
                  <a:srgbClr val="0D1B2A"/>
                </a:solidFill>
              </a:rPr>
              <a:t> </a:t>
            </a:r>
            <a:r>
              <a:rPr lang="en-US" sz="1100" dirty="0" err="1" smtClean="0">
                <a:solidFill>
                  <a:srgbClr val="0D1B2A"/>
                </a:solidFill>
              </a:rPr>
              <a:t>tùy</a:t>
            </a:r>
            <a:r>
              <a:rPr lang="en-US" sz="1100" dirty="0" smtClean="0">
                <a:solidFill>
                  <a:srgbClr val="0D1B2A"/>
                </a:solidFill>
              </a:rPr>
              <a:t> </a:t>
            </a:r>
            <a:r>
              <a:rPr lang="en-US" sz="1100" dirty="0" err="1" smtClean="0">
                <a:solidFill>
                  <a:srgbClr val="0D1B2A"/>
                </a:solidFill>
              </a:rPr>
              <a:t>vào</a:t>
            </a:r>
            <a:r>
              <a:rPr lang="en-US" sz="1100" dirty="0" smtClean="0">
                <a:solidFill>
                  <a:srgbClr val="0D1B2A"/>
                </a:solidFill>
              </a:rPr>
              <a:t> </a:t>
            </a:r>
            <a:r>
              <a:rPr lang="en-US" sz="1100" dirty="0" err="1" smtClean="0">
                <a:solidFill>
                  <a:srgbClr val="0D1B2A"/>
                </a:solidFill>
              </a:rPr>
              <a:t>mục</a:t>
            </a:r>
            <a:r>
              <a:rPr lang="en-US" sz="1100" dirty="0" smtClean="0">
                <a:solidFill>
                  <a:srgbClr val="0D1B2A"/>
                </a:solidFill>
              </a:rPr>
              <a:t> </a:t>
            </a:r>
            <a:r>
              <a:rPr lang="en-US" sz="1100" dirty="0" err="1" smtClean="0">
                <a:solidFill>
                  <a:srgbClr val="0D1B2A"/>
                </a:solidFill>
              </a:rPr>
              <a:t>đích</a:t>
            </a:r>
            <a:r>
              <a:rPr lang="en-US" sz="1100" dirty="0" smtClean="0">
                <a:solidFill>
                  <a:srgbClr val="0D1B2A"/>
                </a:solidFill>
              </a:rPr>
              <a:t> </a:t>
            </a:r>
            <a:r>
              <a:rPr lang="en-US" sz="1100" dirty="0" err="1" smtClean="0">
                <a:solidFill>
                  <a:srgbClr val="0D1B2A"/>
                </a:solidFill>
              </a:rPr>
              <a:t>tăng</a:t>
            </a:r>
            <a:r>
              <a:rPr lang="en-US" sz="1100" dirty="0" smtClean="0">
                <a:solidFill>
                  <a:srgbClr val="0D1B2A"/>
                </a:solidFill>
              </a:rPr>
              <a:t> </a:t>
            </a:r>
            <a:r>
              <a:rPr lang="en-US" sz="1100" dirty="0" err="1" smtClean="0">
                <a:solidFill>
                  <a:srgbClr val="0D1B2A"/>
                </a:solidFill>
              </a:rPr>
              <a:t>khả</a:t>
            </a:r>
            <a:r>
              <a:rPr lang="en-US" sz="1100" dirty="0" smtClean="0">
                <a:solidFill>
                  <a:srgbClr val="0D1B2A"/>
                </a:solidFill>
              </a:rPr>
              <a:t> </a:t>
            </a:r>
            <a:r>
              <a:rPr lang="en-US" sz="1100" dirty="0" err="1" smtClean="0">
                <a:solidFill>
                  <a:srgbClr val="0D1B2A"/>
                </a:solidFill>
              </a:rPr>
              <a:t>năng</a:t>
            </a:r>
            <a:r>
              <a:rPr lang="en-US" sz="1100" dirty="0" smtClean="0">
                <a:solidFill>
                  <a:srgbClr val="0D1B2A"/>
                </a:solidFill>
              </a:rPr>
              <a:t> </a:t>
            </a:r>
            <a:r>
              <a:rPr lang="en-US" sz="1100" dirty="0" err="1" smtClean="0">
                <a:solidFill>
                  <a:srgbClr val="0D1B2A"/>
                </a:solidFill>
              </a:rPr>
              <a:t>phòng</a:t>
            </a:r>
            <a:r>
              <a:rPr lang="en-US" sz="1100" dirty="0">
                <a:solidFill>
                  <a:srgbClr val="0D1B2A"/>
                </a:solidFill>
              </a:rPr>
              <a:t> </a:t>
            </a:r>
            <a:r>
              <a:rPr lang="en-US" sz="1100" dirty="0" err="1" smtClean="0">
                <a:solidFill>
                  <a:srgbClr val="0D1B2A"/>
                </a:solidFill>
              </a:rPr>
              <a:t>thủ</a:t>
            </a:r>
            <a:r>
              <a:rPr lang="en-US" sz="1100" dirty="0" smtClean="0">
                <a:solidFill>
                  <a:srgbClr val="0D1B2A"/>
                </a:solidFill>
              </a:rPr>
              <a:t> hay </a:t>
            </a:r>
            <a:r>
              <a:rPr lang="en-US" sz="1100" dirty="0" err="1" smtClean="0">
                <a:solidFill>
                  <a:srgbClr val="0D1B2A"/>
                </a:solidFill>
              </a:rPr>
              <a:t>tăng</a:t>
            </a:r>
            <a:r>
              <a:rPr lang="en-US" sz="1100" dirty="0" smtClean="0">
                <a:solidFill>
                  <a:srgbClr val="0D1B2A"/>
                </a:solidFill>
              </a:rPr>
              <a:t> </a:t>
            </a:r>
            <a:r>
              <a:rPr lang="en-US" sz="1100" dirty="0" err="1" smtClean="0">
                <a:solidFill>
                  <a:srgbClr val="0D1B2A"/>
                </a:solidFill>
              </a:rPr>
              <a:t>trải</a:t>
            </a:r>
            <a:r>
              <a:rPr lang="en-US" sz="1100" dirty="0" smtClean="0">
                <a:solidFill>
                  <a:srgbClr val="0D1B2A"/>
                </a:solidFill>
              </a:rPr>
              <a:t> </a:t>
            </a:r>
            <a:r>
              <a:rPr lang="en-US" sz="1100" dirty="0" err="1" smtClean="0">
                <a:solidFill>
                  <a:srgbClr val="0D1B2A"/>
                </a:solidFill>
              </a:rPr>
              <a:t>nghiệm</a:t>
            </a:r>
            <a:r>
              <a:rPr lang="en-US" sz="1100" dirty="0" smtClean="0">
                <a:solidFill>
                  <a:srgbClr val="0D1B2A"/>
                </a:solidFill>
              </a:rPr>
              <a:t> </a:t>
            </a:r>
            <a:r>
              <a:rPr lang="en-US" sz="1100" dirty="0" err="1" smtClean="0">
                <a:solidFill>
                  <a:srgbClr val="0D1B2A"/>
                </a:solidFill>
              </a:rPr>
              <a:t>người</a:t>
            </a:r>
            <a:r>
              <a:rPr lang="en-US" sz="1100" dirty="0" smtClean="0">
                <a:solidFill>
                  <a:srgbClr val="0D1B2A"/>
                </a:solidFill>
              </a:rPr>
              <a:t> </a:t>
            </a:r>
            <a:r>
              <a:rPr lang="en-US" sz="1100" dirty="0" err="1" smtClean="0">
                <a:solidFill>
                  <a:srgbClr val="0D1B2A"/>
                </a:solidFill>
              </a:rPr>
              <a:t>dùng</a:t>
            </a:r>
            <a:r>
              <a:rPr lang="en-US" sz="1100" dirty="0" smtClean="0">
                <a:solidFill>
                  <a:srgbClr val="0D1B2A"/>
                </a:solidFill>
              </a:rPr>
              <a:t> )</a:t>
            </a:r>
            <a:endParaRPr lang="en-US" sz="1100" dirty="0"/>
          </a:p>
          <a:p>
            <a:pPr marL="0" indent="0">
              <a:buNone/>
            </a:pPr>
            <a:r>
              <a:rPr lang="en-US" sz="1100" dirty="0">
                <a:solidFill>
                  <a:srgbClr val="0D1B2A"/>
                </a:solidFill>
              </a:rPr>
              <a:t>• </a:t>
            </a:r>
            <a:r>
              <a:rPr lang="en-US" sz="1100" dirty="0" err="1">
                <a:solidFill>
                  <a:srgbClr val="0D1B2A"/>
                </a:solidFill>
              </a:rPr>
              <a:t>Kẻ</a:t>
            </a:r>
            <a:r>
              <a:rPr lang="en-US" sz="1100" dirty="0">
                <a:solidFill>
                  <a:srgbClr val="0D1B2A"/>
                </a:solidFill>
              </a:rPr>
              <a:t> </a:t>
            </a:r>
            <a:r>
              <a:rPr lang="en-US" sz="1100" dirty="0" err="1" smtClean="0">
                <a:solidFill>
                  <a:srgbClr val="0D1B2A"/>
                </a:solidFill>
              </a:rPr>
              <a:t>tấn</a:t>
            </a:r>
            <a:r>
              <a:rPr lang="en-US" sz="1100" dirty="0" smtClean="0">
                <a:solidFill>
                  <a:srgbClr val="0D1B2A"/>
                </a:solidFill>
              </a:rPr>
              <a:t> </a:t>
            </a:r>
            <a:r>
              <a:rPr lang="en-US" sz="1100" dirty="0" err="1" smtClean="0">
                <a:solidFill>
                  <a:srgbClr val="0D1B2A"/>
                </a:solidFill>
              </a:rPr>
              <a:t>công</a:t>
            </a:r>
            <a:r>
              <a:rPr lang="en-US" sz="1100" dirty="0" smtClean="0">
                <a:solidFill>
                  <a:srgbClr val="0D1B2A"/>
                </a:solidFill>
              </a:rPr>
              <a:t> </a:t>
            </a:r>
            <a:r>
              <a:rPr lang="en-US" sz="1100" dirty="0">
                <a:solidFill>
                  <a:srgbClr val="0D1B2A"/>
                </a:solidFill>
              </a:rPr>
              <a:t>không dự đoán được quyết định scale</a:t>
            </a:r>
            <a:endParaRPr lang="en-US" sz="1100" dirty="0"/>
          </a:p>
          <a:p>
            <a:pPr marL="0" indent="0">
              <a:buNone/>
            </a:pPr>
            <a:r>
              <a:rPr lang="en-US" sz="1100" dirty="0">
                <a:solidFill>
                  <a:srgbClr val="0D1B2A"/>
                </a:solidFill>
              </a:rPr>
              <a:t>• Triển khai không cần sửa đổi Kubernetes core</a:t>
            </a:r>
            <a:endParaRPr lang="en-US" sz="1100" dirty="0"/>
          </a:p>
        </p:txBody>
      </p:sp>
      <p:sp>
        <p:nvSpPr>
          <p:cNvPr id="39" name="Shape 1"/>
          <p:cNvSpPr/>
          <p:nvPr/>
        </p:nvSpPr>
        <p:spPr>
          <a:xfrm>
            <a:off x="0" y="0"/>
            <a:ext cx="109728" cy="658368"/>
          </a:xfrm>
          <a:prstGeom prst="rect">
            <a:avLst/>
          </a:prstGeom>
          <a:solidFill>
            <a:srgbClr val="2D9D5A"/>
          </a:solidFill>
          <a:ln w="12700">
            <a:solidFill>
              <a:srgbClr val="2D9D5A"/>
            </a:solidFill>
            <a:prstDash val="solid"/>
          </a:ln>
        </p:spPr>
      </p:sp>
      <p:pic>
        <p:nvPicPr>
          <p:cNvPr id="40" name="Picture 39"/>
          <p:cNvPicPr>
            <a:picLocks noChangeAspect="1"/>
          </p:cNvPicPr>
          <p:nvPr/>
        </p:nvPicPr>
        <p:blipFill>
          <a:blip r:embed="rId3"/>
          <a:stretch>
            <a:fillRect/>
          </a:stretch>
        </p:blipFill>
        <p:spPr>
          <a:xfrm>
            <a:off x="5212080" y="868680"/>
            <a:ext cx="3860482" cy="1850543"/>
          </a:xfrm>
          <a:prstGeom prst="rect">
            <a:avLst/>
          </a:prstGeom>
        </p:spPr>
      </p:pic>
      <p:sp>
        <p:nvSpPr>
          <p:cNvPr id="41" name="Text 19"/>
          <p:cNvSpPr/>
          <p:nvPr/>
        </p:nvSpPr>
        <p:spPr>
          <a:xfrm>
            <a:off x="5111496" y="2810663"/>
            <a:ext cx="3886200" cy="834663"/>
          </a:xfrm>
          <a:prstGeom prst="rect">
            <a:avLst/>
          </a:prstGeom>
          <a:noFill/>
          <a:ln/>
        </p:spPr>
        <p:txBody>
          <a:bodyPr wrap="square" lIns="0" tIns="0" rIns="0" bIns="0" rtlCol="0" anchor="ctr"/>
          <a:lstStyle/>
          <a:p>
            <a:r>
              <a:rPr lang="en-US" sz="1050" dirty="0" smtClean="0">
                <a:solidFill>
                  <a:srgbClr val="0D1B2A"/>
                </a:solidFill>
                <a:latin typeface="Calibri (Body)"/>
              </a:rPr>
              <a:t>- </a:t>
            </a:r>
            <a:r>
              <a:rPr lang="vi-VN" sz="1000" dirty="0" smtClean="0">
                <a:solidFill>
                  <a:srgbClr val="0D1B2A"/>
                </a:solidFill>
                <a:latin typeface="Calibri (Body)"/>
              </a:rPr>
              <a:t>Log </a:t>
            </a:r>
            <a:r>
              <a:rPr lang="vi-VN" sz="1000" dirty="0">
                <a:solidFill>
                  <a:srgbClr val="0D1B2A"/>
                </a:solidFill>
                <a:latin typeface="Calibri (Body)"/>
              </a:rPr>
              <a:t>cho thấy cơ chế randomized defense đang hoạt động. Dòng [REAL] </a:t>
            </a:r>
            <a:r>
              <a:rPr lang="vi-VN" sz="1000" dirty="0" smtClean="0">
                <a:solidFill>
                  <a:srgbClr val="0D1B2A"/>
                </a:solidFill>
                <a:latin typeface="Calibri (Body)"/>
              </a:rPr>
              <a:t>lúc 15:57:47 trả </a:t>
            </a:r>
            <a:r>
              <a:rPr lang="vi-VN" sz="1000" dirty="0">
                <a:solidFill>
                  <a:srgbClr val="0D1B2A"/>
                </a:solidFill>
                <a:latin typeface="Calibri (Body)"/>
              </a:rPr>
              <a:t>về CPU thật (1%) cho </a:t>
            </a:r>
            <a:r>
              <a:rPr lang="vi-VN" sz="1000" dirty="0" smtClean="0">
                <a:solidFill>
                  <a:srgbClr val="0D1B2A"/>
                </a:solidFill>
                <a:latin typeface="Calibri (Body)"/>
              </a:rPr>
              <a:t>HPA</a:t>
            </a:r>
            <a:r>
              <a:rPr lang="en-US" sz="1000" dirty="0" smtClean="0">
                <a:solidFill>
                  <a:srgbClr val="0D1B2A"/>
                </a:solidFill>
                <a:latin typeface="Calibri (Body)"/>
              </a:rPr>
              <a:t>. </a:t>
            </a:r>
            <a:r>
              <a:rPr lang="vi-VN" sz="1000" dirty="0" smtClean="0">
                <a:solidFill>
                  <a:srgbClr val="0D1B2A"/>
                </a:solidFill>
                <a:latin typeface="Calibri (Body)"/>
              </a:rPr>
              <a:t>Tiếp </a:t>
            </a:r>
            <a:r>
              <a:rPr lang="vi-VN" sz="1000" dirty="0">
                <a:solidFill>
                  <a:srgbClr val="0D1B2A"/>
                </a:solidFill>
                <a:latin typeface="Calibri (Body)"/>
              </a:rPr>
              <a:t>theo dòng [FAKE] lúc 15:58:02 trả về 10% giả dù CPU thực tế là 1</a:t>
            </a:r>
            <a:r>
              <a:rPr lang="vi-VN" sz="1000" dirty="0" smtClean="0">
                <a:solidFill>
                  <a:srgbClr val="0D1B2A"/>
                </a:solidFill>
                <a:latin typeface="Calibri (Body)"/>
              </a:rPr>
              <a:t>%</a:t>
            </a:r>
            <a:r>
              <a:rPr lang="en-US" sz="1000" dirty="0" smtClean="0">
                <a:solidFill>
                  <a:srgbClr val="0D1B2A"/>
                </a:solidFill>
                <a:latin typeface="Calibri (Body)"/>
              </a:rPr>
              <a:t>...</a:t>
            </a:r>
          </a:p>
        </p:txBody>
      </p:sp>
    </p:spTree>
    <p:extLst>
      <p:ext uri="{BB962C8B-B14F-4D97-AF65-F5344CB8AC3E}">
        <p14:creationId xmlns:p14="http://schemas.microsoft.com/office/powerpoint/2010/main" val="327224473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r>
              <a:rPr lang="en-US" sz="2200" b="1" dirty="0">
                <a:solidFill>
                  <a:srgbClr val="FFFFFF"/>
                </a:solidFill>
              </a:rPr>
              <a:t>DEMO · </a:t>
            </a:r>
            <a:r>
              <a:rPr lang="en-US" sz="2200" b="1" dirty="0" err="1">
                <a:solidFill>
                  <a:srgbClr val="FFFFFF"/>
                </a:solidFill>
              </a:rPr>
              <a:t>Giai</a:t>
            </a:r>
            <a:r>
              <a:rPr lang="en-US" sz="2200" b="1" dirty="0">
                <a:solidFill>
                  <a:srgbClr val="FFFFFF"/>
                </a:solidFill>
              </a:rPr>
              <a:t> </a:t>
            </a:r>
            <a:r>
              <a:rPr lang="en-US" sz="2200" b="1" dirty="0" err="1">
                <a:solidFill>
                  <a:srgbClr val="FFFFFF"/>
                </a:solidFill>
              </a:rPr>
              <a:t>đoạn</a:t>
            </a:r>
            <a:r>
              <a:rPr lang="en-US" sz="2200" b="1" dirty="0">
                <a:solidFill>
                  <a:srgbClr val="FFFFFF"/>
                </a:solidFill>
              </a:rPr>
              <a:t> 3 — </a:t>
            </a:r>
            <a:r>
              <a:rPr lang="en-US" sz="2200" b="1" dirty="0" err="1">
                <a:solidFill>
                  <a:srgbClr val="FFFFFF"/>
                </a:solidFill>
              </a:rPr>
              <a:t>Phòng</a:t>
            </a:r>
            <a:r>
              <a:rPr lang="en-US" sz="2200" b="1" dirty="0">
                <a:solidFill>
                  <a:srgbClr val="FFFFFF"/>
                </a:solidFill>
              </a:rPr>
              <a:t> </a:t>
            </a:r>
            <a:r>
              <a:rPr lang="en-US" sz="2200" b="1" dirty="0" err="1">
                <a:solidFill>
                  <a:srgbClr val="FFFFFF"/>
                </a:solidFill>
              </a:rPr>
              <a:t>thủ</a:t>
            </a:r>
            <a:r>
              <a:rPr lang="en-US" sz="2200" b="1" dirty="0">
                <a:solidFill>
                  <a:srgbClr val="FFFFFF"/>
                </a:solidFill>
              </a:rPr>
              <a:t>: Custom Metrics </a:t>
            </a:r>
            <a:r>
              <a:rPr lang="en-US" sz="2200" b="1" dirty="0" smtClean="0">
                <a:solidFill>
                  <a:srgbClr val="FFFFFF"/>
                </a:solidFill>
              </a:rPr>
              <a:t>Adapter</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886968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50208"/>
          </a:xfrm>
          <a:prstGeom prst="rect">
            <a:avLst/>
          </a:prstGeom>
          <a:solidFill>
            <a:srgbClr val="2D9D5A"/>
          </a:solidFill>
          <a:ln w="12700">
            <a:solidFill>
              <a:srgbClr val="2D9D5A"/>
            </a:solidFill>
            <a:prstDash val="solid"/>
          </a:ln>
        </p:spPr>
      </p:sp>
      <p:sp>
        <p:nvSpPr>
          <p:cNvPr id="9" name="Text 7"/>
          <p:cNvSpPr/>
          <p:nvPr/>
        </p:nvSpPr>
        <p:spPr>
          <a:xfrm>
            <a:off x="457199" y="868680"/>
            <a:ext cx="5194897" cy="320040"/>
          </a:xfrm>
          <a:prstGeom prst="rect">
            <a:avLst/>
          </a:prstGeom>
          <a:noFill/>
          <a:ln/>
        </p:spPr>
        <p:txBody>
          <a:bodyPr wrap="square" lIns="0" tIns="0" rIns="0" bIns="0" rtlCol="0" anchor="ctr"/>
          <a:lstStyle/>
          <a:p>
            <a:r>
              <a:rPr lang="en-US" sz="1200" b="1" dirty="0" err="1" smtClean="0">
                <a:solidFill>
                  <a:srgbClr val="0D1B2A"/>
                </a:solidFill>
              </a:rPr>
              <a:t>Thực</a:t>
            </a:r>
            <a:r>
              <a:rPr lang="en-US" sz="1200" b="1" dirty="0" smtClean="0">
                <a:solidFill>
                  <a:srgbClr val="0D1B2A"/>
                </a:solidFill>
              </a:rPr>
              <a:t> </a:t>
            </a:r>
            <a:r>
              <a:rPr lang="en-US" sz="1200" b="1" dirty="0" err="1" smtClean="0">
                <a:solidFill>
                  <a:srgbClr val="0D1B2A"/>
                </a:solidFill>
              </a:rPr>
              <a:t>hiện</a:t>
            </a:r>
            <a:r>
              <a:rPr lang="en-US" sz="1200" b="1" dirty="0" smtClean="0">
                <a:solidFill>
                  <a:srgbClr val="0D1B2A"/>
                </a:solidFill>
              </a:rPr>
              <a:t> </a:t>
            </a:r>
            <a:r>
              <a:rPr lang="en-US" sz="1200" b="1" dirty="0" err="1" smtClean="0">
                <a:solidFill>
                  <a:srgbClr val="0D1B2A"/>
                </a:solidFill>
              </a:rPr>
              <a:t>tấn</a:t>
            </a:r>
            <a:r>
              <a:rPr lang="en-US" sz="1200" b="1" dirty="0" smtClean="0">
                <a:solidFill>
                  <a:srgbClr val="0D1B2A"/>
                </a:solidFill>
              </a:rPr>
              <a:t> </a:t>
            </a:r>
            <a:r>
              <a:rPr lang="en-US" sz="1200" b="1" dirty="0" err="1" smtClean="0">
                <a:solidFill>
                  <a:srgbClr val="0D1B2A"/>
                </a:solidFill>
              </a:rPr>
              <a:t>công</a:t>
            </a:r>
            <a:r>
              <a:rPr lang="en-US" sz="1200" b="1" dirty="0" smtClean="0">
                <a:solidFill>
                  <a:srgbClr val="0D1B2A"/>
                </a:solidFill>
              </a:rPr>
              <a:t> </a:t>
            </a:r>
            <a:r>
              <a:rPr lang="en-US" sz="1200" b="1" dirty="0" err="1" smtClean="0">
                <a:solidFill>
                  <a:srgbClr val="0D1B2A"/>
                </a:solidFill>
              </a:rPr>
              <a:t>bơm</a:t>
            </a:r>
            <a:r>
              <a:rPr lang="en-US" sz="1200" b="1" dirty="0" smtClean="0">
                <a:solidFill>
                  <a:srgbClr val="0D1B2A"/>
                </a:solidFill>
              </a:rPr>
              <a:t> </a:t>
            </a:r>
            <a:r>
              <a:rPr lang="en-US" sz="1200" b="1" dirty="0" err="1" smtClean="0">
                <a:solidFill>
                  <a:srgbClr val="0D1B2A"/>
                </a:solidFill>
              </a:rPr>
              <a:t>lưu</a:t>
            </a:r>
            <a:r>
              <a:rPr lang="en-US" sz="1200" b="1" dirty="0" smtClean="0">
                <a:solidFill>
                  <a:srgbClr val="0D1B2A"/>
                </a:solidFill>
              </a:rPr>
              <a:t> </a:t>
            </a:r>
            <a:r>
              <a:rPr lang="en-US" sz="1200" b="1" dirty="0" err="1" smtClean="0">
                <a:solidFill>
                  <a:srgbClr val="0D1B2A"/>
                </a:solidFill>
              </a:rPr>
              <a:t>lượng</a:t>
            </a:r>
            <a:r>
              <a:rPr lang="en-US" sz="1200" b="1" dirty="0" smtClean="0">
                <a:solidFill>
                  <a:srgbClr val="0D1B2A"/>
                </a:solidFill>
              </a:rPr>
              <a:t> </a:t>
            </a:r>
            <a:r>
              <a:rPr lang="en-US" sz="1200" b="1" dirty="0" err="1" smtClean="0">
                <a:solidFill>
                  <a:srgbClr val="0D1B2A"/>
                </a:solidFill>
              </a:rPr>
              <a:t>sau</a:t>
            </a:r>
            <a:r>
              <a:rPr lang="en-US" sz="1200" b="1" dirty="0" smtClean="0">
                <a:solidFill>
                  <a:srgbClr val="0D1B2A"/>
                </a:solidFill>
              </a:rPr>
              <a:t> </a:t>
            </a:r>
            <a:r>
              <a:rPr lang="en-US" sz="1200" b="1" dirty="0" err="1" smtClean="0">
                <a:solidFill>
                  <a:srgbClr val="0D1B2A"/>
                </a:solidFill>
              </a:rPr>
              <a:t>khi</a:t>
            </a:r>
            <a:r>
              <a:rPr lang="en-US" sz="1200" b="1" dirty="0" smtClean="0">
                <a:solidFill>
                  <a:srgbClr val="0D1B2A"/>
                </a:solidFill>
              </a:rPr>
              <a:t> </a:t>
            </a:r>
            <a:r>
              <a:rPr lang="en-US" sz="1200" b="1" dirty="0" err="1" smtClean="0">
                <a:solidFill>
                  <a:srgbClr val="0D1B2A"/>
                </a:solidFill>
              </a:rPr>
              <a:t>đã</a:t>
            </a:r>
            <a:r>
              <a:rPr lang="en-US" sz="1200" b="1" dirty="0" smtClean="0">
                <a:solidFill>
                  <a:srgbClr val="0D1B2A"/>
                </a:solidFill>
              </a:rPr>
              <a:t> setup </a:t>
            </a:r>
            <a:r>
              <a:rPr lang="en-US" sz="1200" b="1" dirty="0" err="1" smtClean="0">
                <a:solidFill>
                  <a:srgbClr val="0D1B2A"/>
                </a:solidFill>
              </a:rPr>
              <a:t>cơ</a:t>
            </a:r>
            <a:r>
              <a:rPr lang="en-US" sz="1200" b="1" dirty="0" smtClean="0">
                <a:solidFill>
                  <a:srgbClr val="0D1B2A"/>
                </a:solidFill>
              </a:rPr>
              <a:t> </a:t>
            </a:r>
            <a:r>
              <a:rPr lang="en-US" sz="1200" b="1" dirty="0" err="1">
                <a:solidFill>
                  <a:srgbClr val="0D1B2A"/>
                </a:solidFill>
              </a:rPr>
              <a:t>chế</a:t>
            </a:r>
            <a:r>
              <a:rPr lang="en-US" sz="1200" b="1" dirty="0">
                <a:solidFill>
                  <a:srgbClr val="0D1B2A"/>
                </a:solidFill>
              </a:rPr>
              <a:t> Randomization HPA</a:t>
            </a:r>
            <a:r>
              <a:rPr lang="en-US" sz="1200" b="1" dirty="0" smtClean="0">
                <a:solidFill>
                  <a:srgbClr val="0D1B2A"/>
                </a:solidFill>
              </a:rPr>
              <a:t> </a:t>
            </a:r>
            <a:endParaRPr lang="en-US" sz="1200" dirty="0"/>
          </a:p>
        </p:txBody>
      </p:sp>
      <p:sp>
        <p:nvSpPr>
          <p:cNvPr id="39" name="Shape 1"/>
          <p:cNvSpPr/>
          <p:nvPr/>
        </p:nvSpPr>
        <p:spPr>
          <a:xfrm>
            <a:off x="0" y="0"/>
            <a:ext cx="109728" cy="658368"/>
          </a:xfrm>
          <a:prstGeom prst="rect">
            <a:avLst/>
          </a:prstGeom>
          <a:solidFill>
            <a:srgbClr val="2D9D5A"/>
          </a:solidFill>
          <a:ln w="12700">
            <a:solidFill>
              <a:srgbClr val="2D9D5A"/>
            </a:solidFill>
            <a:prstDash val="solid"/>
          </a:ln>
        </p:spPr>
      </p:sp>
      <p:pic>
        <p:nvPicPr>
          <p:cNvPr id="3" name="Picture 2"/>
          <p:cNvPicPr>
            <a:picLocks noChangeAspect="1"/>
          </p:cNvPicPr>
          <p:nvPr/>
        </p:nvPicPr>
        <p:blipFill>
          <a:blip r:embed="rId3"/>
          <a:stretch>
            <a:fillRect/>
          </a:stretch>
        </p:blipFill>
        <p:spPr>
          <a:xfrm>
            <a:off x="457199" y="1141465"/>
            <a:ext cx="3732203" cy="3565674"/>
          </a:xfrm>
          <a:prstGeom prst="rect">
            <a:avLst/>
          </a:prstGeom>
        </p:spPr>
      </p:pic>
      <p:sp>
        <p:nvSpPr>
          <p:cNvPr id="22" name="TextBox 21"/>
          <p:cNvSpPr txBox="1"/>
          <p:nvPr/>
        </p:nvSpPr>
        <p:spPr>
          <a:xfrm>
            <a:off x="4351071" y="1294889"/>
            <a:ext cx="4252881" cy="1384995"/>
          </a:xfrm>
          <a:prstGeom prst="rect">
            <a:avLst/>
          </a:prstGeom>
          <a:noFill/>
        </p:spPr>
        <p:txBody>
          <a:bodyPr wrap="square" rtlCol="0">
            <a:spAutoFit/>
          </a:bodyPr>
          <a:lstStyle/>
          <a:p>
            <a:pPr marL="171450" indent="-171450">
              <a:buFontTx/>
              <a:buChar char="-"/>
            </a:pPr>
            <a:r>
              <a:rPr lang="en-US" sz="1200" dirty="0" err="1" smtClean="0"/>
              <a:t>Với</a:t>
            </a:r>
            <a:r>
              <a:rPr lang="en-US" sz="1200" dirty="0" smtClean="0"/>
              <a:t> </a:t>
            </a:r>
            <a:r>
              <a:rPr lang="en-US" sz="1200" dirty="0" err="1" smtClean="0"/>
              <a:t>hệ</a:t>
            </a:r>
            <a:r>
              <a:rPr lang="en-US" sz="1200" dirty="0" smtClean="0"/>
              <a:t> </a:t>
            </a:r>
            <a:r>
              <a:rPr lang="en-US" sz="1200" dirty="0" err="1" smtClean="0"/>
              <a:t>số</a:t>
            </a:r>
            <a:r>
              <a:rPr lang="en-US" sz="1200" dirty="0" smtClean="0"/>
              <a:t> RNG = 0.5 (50% </a:t>
            </a:r>
            <a:r>
              <a:rPr lang="en-US" sz="1200" dirty="0" err="1" smtClean="0"/>
              <a:t>trả</a:t>
            </a:r>
            <a:r>
              <a:rPr lang="en-US" sz="1200" dirty="0" smtClean="0"/>
              <a:t> </a:t>
            </a:r>
            <a:r>
              <a:rPr lang="en-US" sz="1200" dirty="0" err="1" smtClean="0"/>
              <a:t>về</a:t>
            </a:r>
            <a:r>
              <a:rPr lang="en-US" sz="1200" dirty="0" smtClean="0"/>
              <a:t> REAL, 50 % </a:t>
            </a:r>
            <a:r>
              <a:rPr lang="en-US" sz="1200" dirty="0" err="1" smtClean="0"/>
              <a:t>trả</a:t>
            </a:r>
            <a:r>
              <a:rPr lang="en-US" sz="1200" dirty="0" smtClean="0"/>
              <a:t> </a:t>
            </a:r>
            <a:r>
              <a:rPr lang="en-US" sz="1200" dirty="0" err="1" smtClean="0"/>
              <a:t>về</a:t>
            </a:r>
            <a:r>
              <a:rPr lang="en-US" sz="1200" dirty="0" smtClean="0"/>
              <a:t> FAKE) ta </a:t>
            </a:r>
            <a:r>
              <a:rPr lang="en-US" sz="1200" dirty="0" err="1" smtClean="0"/>
              <a:t>có</a:t>
            </a:r>
            <a:r>
              <a:rPr lang="en-US" sz="1200" dirty="0" smtClean="0"/>
              <a:t> </a:t>
            </a:r>
            <a:r>
              <a:rPr lang="en-US" sz="1200" dirty="0" err="1" smtClean="0"/>
              <a:t>thể</a:t>
            </a:r>
            <a:r>
              <a:rPr lang="en-US" sz="1200" dirty="0" smtClean="0"/>
              <a:t> </a:t>
            </a:r>
            <a:r>
              <a:rPr lang="en-US" sz="1200" dirty="0" err="1" smtClean="0"/>
              <a:t>thấy</a:t>
            </a:r>
            <a:r>
              <a:rPr lang="en-US" sz="1200" dirty="0" smtClean="0"/>
              <a:t> </a:t>
            </a:r>
            <a:r>
              <a:rPr lang="en-US" sz="1200" dirty="0" err="1" smtClean="0"/>
              <a:t>hệ</a:t>
            </a:r>
            <a:r>
              <a:rPr lang="en-US" sz="1200" dirty="0" smtClean="0"/>
              <a:t> </a:t>
            </a:r>
            <a:r>
              <a:rPr lang="en-US" sz="1200" dirty="0" err="1" smtClean="0"/>
              <a:t>thống</a:t>
            </a:r>
            <a:r>
              <a:rPr lang="en-US" sz="1200" dirty="0" smtClean="0"/>
              <a:t> </a:t>
            </a:r>
            <a:r>
              <a:rPr lang="en-US" sz="1200" dirty="0" err="1" smtClean="0"/>
              <a:t>khá</a:t>
            </a:r>
            <a:r>
              <a:rPr lang="en-US" sz="1200" dirty="0" smtClean="0"/>
              <a:t> </a:t>
            </a:r>
            <a:r>
              <a:rPr lang="en-US" sz="1200" dirty="0" err="1" smtClean="0"/>
              <a:t>ổn</a:t>
            </a:r>
            <a:r>
              <a:rPr lang="en-US" sz="1200" dirty="0" smtClean="0"/>
              <a:t> </a:t>
            </a:r>
            <a:r>
              <a:rPr lang="en-US" sz="1200" dirty="0" err="1" smtClean="0"/>
              <a:t>định</a:t>
            </a:r>
            <a:r>
              <a:rPr lang="en-US" sz="1200" dirty="0" smtClean="0"/>
              <a:t>, </a:t>
            </a:r>
            <a:r>
              <a:rPr lang="en-US" sz="1200" dirty="0" err="1" smtClean="0"/>
              <a:t>mặc</a:t>
            </a:r>
            <a:r>
              <a:rPr lang="en-US" sz="1200" dirty="0" smtClean="0"/>
              <a:t> </a:t>
            </a:r>
            <a:r>
              <a:rPr lang="en-US" sz="1200" dirty="0" err="1" smtClean="0"/>
              <a:t>dù</a:t>
            </a:r>
            <a:r>
              <a:rPr lang="en-US" sz="1200" dirty="0" smtClean="0"/>
              <a:t> CPU </a:t>
            </a:r>
            <a:r>
              <a:rPr lang="en-US" sz="1200" dirty="0" err="1" smtClean="0"/>
              <a:t>của</a:t>
            </a:r>
            <a:r>
              <a:rPr lang="en-US" sz="1200" dirty="0" smtClean="0"/>
              <a:t> pod </a:t>
            </a:r>
            <a:r>
              <a:rPr lang="en-US" sz="1200" dirty="0" err="1" smtClean="0"/>
              <a:t>bị</a:t>
            </a:r>
            <a:r>
              <a:rPr lang="en-US" sz="1200" dirty="0" smtClean="0"/>
              <a:t> </a:t>
            </a:r>
            <a:r>
              <a:rPr lang="en-US" sz="1200" dirty="0" err="1" smtClean="0"/>
              <a:t>đẩy</a:t>
            </a:r>
            <a:r>
              <a:rPr lang="en-US" sz="1200" dirty="0" smtClean="0"/>
              <a:t> </a:t>
            </a:r>
            <a:r>
              <a:rPr lang="en-US" sz="1200" dirty="0" err="1" smtClean="0"/>
              <a:t>lên</a:t>
            </a:r>
            <a:r>
              <a:rPr lang="en-US" sz="1200" dirty="0" smtClean="0"/>
              <a:t> </a:t>
            </a:r>
            <a:r>
              <a:rPr lang="en-US" sz="1200" dirty="0" err="1" smtClean="0"/>
              <a:t>khá</a:t>
            </a:r>
            <a:r>
              <a:rPr lang="en-US" sz="1200" dirty="0" smtClean="0"/>
              <a:t> </a:t>
            </a:r>
            <a:r>
              <a:rPr lang="en-US" sz="1200" dirty="0" err="1" smtClean="0"/>
              <a:t>cao</a:t>
            </a:r>
            <a:r>
              <a:rPr lang="en-US" sz="1200" dirty="0" smtClean="0"/>
              <a:t> so </a:t>
            </a:r>
            <a:r>
              <a:rPr lang="en-US" sz="1200" dirty="0" err="1" smtClean="0"/>
              <a:t>với</a:t>
            </a:r>
            <a:r>
              <a:rPr lang="en-US" sz="1200" dirty="0" smtClean="0"/>
              <a:t> </a:t>
            </a:r>
            <a:r>
              <a:rPr lang="en-US" sz="1200" dirty="0" err="1" smtClean="0"/>
              <a:t>ngưỡng</a:t>
            </a:r>
            <a:r>
              <a:rPr lang="en-US" sz="1200" dirty="0" smtClean="0"/>
              <a:t> </a:t>
            </a:r>
            <a:r>
              <a:rPr lang="en-US" sz="1200" dirty="0" err="1" smtClean="0"/>
              <a:t>thiết</a:t>
            </a:r>
            <a:r>
              <a:rPr lang="en-US" sz="1200" dirty="0" smtClean="0"/>
              <a:t> </a:t>
            </a:r>
            <a:r>
              <a:rPr lang="en-US" sz="1200" dirty="0" err="1" smtClean="0"/>
              <a:t>lập</a:t>
            </a:r>
            <a:r>
              <a:rPr lang="en-US" sz="1200" dirty="0" smtClean="0"/>
              <a:t> </a:t>
            </a:r>
            <a:r>
              <a:rPr lang="en-US" sz="1200" dirty="0" err="1" smtClean="0"/>
              <a:t>nhưng</a:t>
            </a:r>
            <a:r>
              <a:rPr lang="en-US" sz="1200" dirty="0" smtClean="0"/>
              <a:t> </a:t>
            </a:r>
            <a:r>
              <a:rPr lang="en-US" sz="1200" dirty="0" err="1" smtClean="0"/>
              <a:t>số</a:t>
            </a:r>
            <a:r>
              <a:rPr lang="en-US" sz="1200" dirty="0" smtClean="0"/>
              <a:t> Replica (pod) </a:t>
            </a:r>
            <a:r>
              <a:rPr lang="en-US" sz="1200" dirty="0" err="1" smtClean="0"/>
              <a:t>gần</a:t>
            </a:r>
            <a:r>
              <a:rPr lang="en-US" sz="1200" dirty="0" smtClean="0"/>
              <a:t> </a:t>
            </a:r>
            <a:r>
              <a:rPr lang="en-US" sz="1200" dirty="0" err="1" smtClean="0"/>
              <a:t>như</a:t>
            </a:r>
            <a:r>
              <a:rPr lang="en-US" sz="1200" dirty="0" smtClean="0"/>
              <a:t> </a:t>
            </a:r>
            <a:r>
              <a:rPr lang="en-US" sz="1200" dirty="0" err="1" smtClean="0"/>
              <a:t>ổn</a:t>
            </a:r>
            <a:r>
              <a:rPr lang="en-US" sz="1200" dirty="0" smtClean="0"/>
              <a:t> </a:t>
            </a:r>
            <a:r>
              <a:rPr lang="en-US" sz="1200" dirty="0" err="1" smtClean="0"/>
              <a:t>định</a:t>
            </a:r>
            <a:r>
              <a:rPr lang="en-US" sz="1200" dirty="0" smtClean="0"/>
              <a:t>, </a:t>
            </a:r>
            <a:r>
              <a:rPr lang="en-US" sz="1200" dirty="0" err="1" smtClean="0"/>
              <a:t>không</a:t>
            </a:r>
            <a:r>
              <a:rPr lang="en-US" sz="1200" dirty="0" smtClean="0"/>
              <a:t> </a:t>
            </a:r>
            <a:r>
              <a:rPr lang="en-US" sz="1200" dirty="0" err="1" smtClean="0"/>
              <a:t>bị</a:t>
            </a:r>
            <a:r>
              <a:rPr lang="en-US" sz="1200" dirty="0" smtClean="0"/>
              <a:t> scale </a:t>
            </a:r>
            <a:r>
              <a:rPr lang="en-US" sz="1200" dirty="0" err="1" smtClean="0"/>
              <a:t>lên</a:t>
            </a:r>
            <a:r>
              <a:rPr lang="en-US" sz="1200" dirty="0"/>
              <a:t>, </a:t>
            </a:r>
            <a:r>
              <a:rPr lang="en-US" sz="1200" dirty="0" err="1"/>
              <a:t>trong</a:t>
            </a:r>
            <a:r>
              <a:rPr lang="en-US" sz="1200" dirty="0"/>
              <a:t> </a:t>
            </a:r>
            <a:r>
              <a:rPr lang="en-US" sz="1200" dirty="0" err="1"/>
              <a:t>khi</a:t>
            </a:r>
            <a:r>
              <a:rPr lang="en-US" sz="1200" dirty="0"/>
              <a:t> requests </a:t>
            </a:r>
            <a:r>
              <a:rPr lang="en-US" sz="1200" dirty="0" err="1"/>
              <a:t>bị</a:t>
            </a:r>
            <a:r>
              <a:rPr lang="en-US" sz="1200" dirty="0"/>
              <a:t> drop ở </a:t>
            </a:r>
            <a:r>
              <a:rPr lang="en-US" sz="1200" dirty="0" err="1"/>
              <a:t>mức</a:t>
            </a:r>
            <a:r>
              <a:rPr lang="en-US" sz="1200" dirty="0"/>
              <a:t> </a:t>
            </a:r>
            <a:r>
              <a:rPr lang="en-US" sz="1200" dirty="0" err="1"/>
              <a:t>không</a:t>
            </a:r>
            <a:r>
              <a:rPr lang="en-US" sz="1200" dirty="0"/>
              <a:t> </a:t>
            </a:r>
            <a:r>
              <a:rPr lang="en-US" sz="1200" dirty="0" err="1"/>
              <a:t>đáng</a:t>
            </a:r>
            <a:r>
              <a:rPr lang="en-US" sz="1200" dirty="0"/>
              <a:t> </a:t>
            </a:r>
            <a:r>
              <a:rPr lang="en-US" sz="1200" dirty="0" err="1"/>
              <a:t>kể</a:t>
            </a:r>
            <a:endParaRPr lang="en-US" sz="1200" dirty="0" smtClean="0"/>
          </a:p>
          <a:p>
            <a:pPr marL="171450" indent="-171450">
              <a:buFontTx/>
              <a:buChar char="-"/>
            </a:pPr>
            <a:endParaRPr lang="en-US" sz="1200" dirty="0"/>
          </a:p>
          <a:p>
            <a:pPr marL="171450" indent="-171450">
              <a:buFontTx/>
              <a:buChar char="-"/>
            </a:pPr>
            <a:r>
              <a:rPr lang="en-US" sz="1200" dirty="0" err="1" smtClean="0"/>
              <a:t>Kiểm</a:t>
            </a:r>
            <a:r>
              <a:rPr lang="en-US" sz="1200" dirty="0" smtClean="0"/>
              <a:t> </a:t>
            </a:r>
            <a:r>
              <a:rPr lang="en-US" sz="1200" dirty="0" err="1" smtClean="0"/>
              <a:t>tra</a:t>
            </a:r>
            <a:r>
              <a:rPr lang="en-US" sz="1200" dirty="0" smtClean="0"/>
              <a:t> log:</a:t>
            </a:r>
            <a:endParaRPr lang="en-US" sz="1200" dirty="0"/>
          </a:p>
        </p:txBody>
      </p:sp>
      <p:pic>
        <p:nvPicPr>
          <p:cNvPr id="23" name="Picture 22"/>
          <p:cNvPicPr>
            <a:picLocks noChangeAspect="1"/>
          </p:cNvPicPr>
          <p:nvPr/>
        </p:nvPicPr>
        <p:blipFill>
          <a:blip r:embed="rId4"/>
          <a:stretch>
            <a:fillRect/>
          </a:stretch>
        </p:blipFill>
        <p:spPr>
          <a:xfrm>
            <a:off x="4351071" y="2726220"/>
            <a:ext cx="4604957" cy="991162"/>
          </a:xfrm>
          <a:prstGeom prst="rect">
            <a:avLst/>
          </a:prstGeom>
        </p:spPr>
      </p:pic>
    </p:spTree>
    <p:extLst>
      <p:ext uri="{BB962C8B-B14F-4D97-AF65-F5344CB8AC3E}">
        <p14:creationId xmlns:p14="http://schemas.microsoft.com/office/powerpoint/2010/main" val="415648844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12">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6858000" y="-457200"/>
            <a:ext cx="3200400" cy="3200400"/>
          </a:xfrm>
          <a:prstGeom prst="ellipse">
            <a:avLst/>
          </a:prstGeom>
          <a:solidFill>
            <a:srgbClr val="0096B7">
              <a:alpha val="12000"/>
            </a:srgbClr>
          </a:solidFill>
          <a:ln w="12700">
            <a:solidFill>
              <a:srgbClr val="0096B7">
                <a:alpha val="12000"/>
              </a:srgbClr>
            </a:solidFill>
            <a:prstDash val="solid"/>
          </a:ln>
        </p:spPr>
      </p:sp>
      <p:sp>
        <p:nvSpPr>
          <p:cNvPr id="3" name="Shape 1"/>
          <p:cNvSpPr/>
          <p:nvPr/>
        </p:nvSpPr>
        <p:spPr>
          <a:xfrm>
            <a:off x="-914400" y="3200400"/>
            <a:ext cx="2743200" cy="2743200"/>
          </a:xfrm>
          <a:prstGeom prst="ellipse">
            <a:avLst/>
          </a:prstGeom>
          <a:solidFill>
            <a:srgbClr val="F47B20">
              <a:alpha val="12000"/>
            </a:srgbClr>
          </a:solidFill>
          <a:ln w="12700">
            <a:solidFill>
              <a:srgbClr val="F47B20">
                <a:alpha val="12000"/>
              </a:srgbClr>
            </a:solidFill>
            <a:prstDash val="solid"/>
          </a:ln>
        </p:spPr>
      </p:sp>
      <p:sp>
        <p:nvSpPr>
          <p:cNvPr id="4" name="Text 2"/>
          <p:cNvSpPr/>
          <p:nvPr/>
        </p:nvSpPr>
        <p:spPr>
          <a:xfrm>
            <a:off x="502920" y="320040"/>
            <a:ext cx="8229600" cy="502920"/>
          </a:xfrm>
          <a:prstGeom prst="rect">
            <a:avLst/>
          </a:prstGeom>
          <a:noFill/>
          <a:ln/>
        </p:spPr>
        <p:txBody>
          <a:bodyPr wrap="square" lIns="0" tIns="0" rIns="0" bIns="0" rtlCol="0" anchor="ctr"/>
          <a:lstStyle/>
          <a:p>
            <a:pPr marL="0" indent="0">
              <a:buNone/>
            </a:pPr>
            <a:r>
              <a:rPr lang="en-US" sz="2400" b="1" dirty="0">
                <a:solidFill>
                  <a:srgbClr val="0096B7"/>
                </a:solidFill>
              </a:rPr>
              <a:t>Kết luận &amp; Hướng phát triển</a:t>
            </a:r>
            <a:endParaRPr lang="en-US" sz="2400" dirty="0"/>
          </a:p>
        </p:txBody>
      </p:sp>
      <p:sp>
        <p:nvSpPr>
          <p:cNvPr id="5" name="Shape 3"/>
          <p:cNvSpPr/>
          <p:nvPr/>
        </p:nvSpPr>
        <p:spPr>
          <a:xfrm>
            <a:off x="502920" y="850392"/>
            <a:ext cx="1828800" cy="54864"/>
          </a:xfrm>
          <a:prstGeom prst="rect">
            <a:avLst/>
          </a:prstGeom>
          <a:solidFill>
            <a:srgbClr val="0096B7"/>
          </a:solidFill>
          <a:ln w="12700">
            <a:solidFill>
              <a:srgbClr val="0096B7"/>
            </a:solidFill>
            <a:prstDash val="solid"/>
          </a:ln>
        </p:spPr>
      </p:sp>
      <p:sp>
        <p:nvSpPr>
          <p:cNvPr id="6" name="Shape 4"/>
          <p:cNvSpPr/>
          <p:nvPr/>
        </p:nvSpPr>
        <p:spPr>
          <a:xfrm>
            <a:off x="502920" y="1024128"/>
            <a:ext cx="8138160" cy="685800"/>
          </a:xfrm>
          <a:prstGeom prst="rect">
            <a:avLst/>
          </a:prstGeom>
          <a:solidFill>
            <a:srgbClr val="162435"/>
          </a:solidFill>
          <a:ln w="12700">
            <a:solidFill>
              <a:srgbClr val="243850"/>
            </a:solidFill>
            <a:prstDash val="solid"/>
          </a:ln>
        </p:spPr>
      </p:sp>
      <p:sp>
        <p:nvSpPr>
          <p:cNvPr id="7" name="Shape 5"/>
          <p:cNvSpPr/>
          <p:nvPr/>
        </p:nvSpPr>
        <p:spPr>
          <a:xfrm>
            <a:off x="658368" y="1266444"/>
            <a:ext cx="201168" cy="201168"/>
          </a:xfrm>
          <a:prstGeom prst="ellipse">
            <a:avLst/>
          </a:prstGeom>
          <a:solidFill>
            <a:srgbClr val="0096B7"/>
          </a:solidFill>
          <a:ln w="12700">
            <a:solidFill>
              <a:srgbClr val="0096B7"/>
            </a:solidFill>
            <a:prstDash val="solid"/>
          </a:ln>
        </p:spPr>
      </p:sp>
      <p:sp>
        <p:nvSpPr>
          <p:cNvPr id="8" name="Text 6"/>
          <p:cNvSpPr/>
          <p:nvPr/>
        </p:nvSpPr>
        <p:spPr>
          <a:xfrm>
            <a:off x="987552" y="1024128"/>
            <a:ext cx="7543800" cy="685800"/>
          </a:xfrm>
          <a:prstGeom prst="rect">
            <a:avLst/>
          </a:prstGeom>
          <a:noFill/>
          <a:ln/>
        </p:spPr>
        <p:txBody>
          <a:bodyPr wrap="square" lIns="0" tIns="0" rIns="0" bIns="0" rtlCol="0" anchor="ctr"/>
          <a:lstStyle/>
          <a:p>
            <a:pPr marL="0" indent="0">
              <a:buNone/>
            </a:pPr>
            <a:r>
              <a:rPr lang="en-US" sz="1100" dirty="0">
                <a:solidFill>
                  <a:srgbClr val="D0E8F2"/>
                </a:solidFill>
              </a:rPr>
              <a:t>Xây dựng mô hình lý thuyết toàn diện (MDP + Stackelberg) cho tấn công EDoS trên Kubernetes</a:t>
            </a:r>
            <a:endParaRPr lang="en-US" sz="1100" dirty="0"/>
          </a:p>
        </p:txBody>
      </p:sp>
      <p:sp>
        <p:nvSpPr>
          <p:cNvPr id="9" name="Shape 7"/>
          <p:cNvSpPr/>
          <p:nvPr/>
        </p:nvSpPr>
        <p:spPr>
          <a:xfrm>
            <a:off x="502920" y="1828800"/>
            <a:ext cx="8138160" cy="685800"/>
          </a:xfrm>
          <a:prstGeom prst="rect">
            <a:avLst/>
          </a:prstGeom>
          <a:solidFill>
            <a:srgbClr val="162435"/>
          </a:solidFill>
          <a:ln w="12700">
            <a:solidFill>
              <a:srgbClr val="243850"/>
            </a:solidFill>
            <a:prstDash val="solid"/>
          </a:ln>
        </p:spPr>
      </p:sp>
      <p:sp>
        <p:nvSpPr>
          <p:cNvPr id="10" name="Shape 8"/>
          <p:cNvSpPr/>
          <p:nvPr/>
        </p:nvSpPr>
        <p:spPr>
          <a:xfrm>
            <a:off x="658368" y="2071116"/>
            <a:ext cx="201168" cy="201168"/>
          </a:xfrm>
          <a:prstGeom prst="ellipse">
            <a:avLst/>
          </a:prstGeom>
          <a:solidFill>
            <a:srgbClr val="F47B20"/>
          </a:solidFill>
          <a:ln w="12700">
            <a:solidFill>
              <a:srgbClr val="F47B20"/>
            </a:solidFill>
            <a:prstDash val="solid"/>
          </a:ln>
        </p:spPr>
      </p:sp>
      <p:sp>
        <p:nvSpPr>
          <p:cNvPr id="11" name="Text 9"/>
          <p:cNvSpPr/>
          <p:nvPr/>
        </p:nvSpPr>
        <p:spPr>
          <a:xfrm>
            <a:off x="987552" y="1828800"/>
            <a:ext cx="7543800" cy="685800"/>
          </a:xfrm>
          <a:prstGeom prst="rect">
            <a:avLst/>
          </a:prstGeom>
          <a:noFill/>
          <a:ln/>
        </p:spPr>
        <p:txBody>
          <a:bodyPr wrap="square" lIns="0" tIns="0" rIns="0" bIns="0" rtlCol="0" anchor="ctr"/>
          <a:lstStyle/>
          <a:p>
            <a:pPr marL="0" indent="0">
              <a:buNone/>
            </a:pPr>
            <a:r>
              <a:rPr lang="en-US" sz="1100" dirty="0">
                <a:solidFill>
                  <a:srgbClr val="D0E8F2"/>
                </a:solidFill>
              </a:rPr>
              <a:t>Per-hour billing làm trầm trọng thêm nguy cơ EDoS bằng cách phá vỡ hysteresis của autoscaler</a:t>
            </a:r>
            <a:endParaRPr lang="en-US" sz="1100" dirty="0"/>
          </a:p>
        </p:txBody>
      </p:sp>
      <p:sp>
        <p:nvSpPr>
          <p:cNvPr id="12" name="Shape 10"/>
          <p:cNvSpPr/>
          <p:nvPr/>
        </p:nvSpPr>
        <p:spPr>
          <a:xfrm>
            <a:off x="502920" y="2633472"/>
            <a:ext cx="8138160" cy="685800"/>
          </a:xfrm>
          <a:prstGeom prst="rect">
            <a:avLst/>
          </a:prstGeom>
          <a:solidFill>
            <a:srgbClr val="162435"/>
          </a:solidFill>
          <a:ln w="12700">
            <a:solidFill>
              <a:srgbClr val="243850"/>
            </a:solidFill>
            <a:prstDash val="solid"/>
          </a:ln>
        </p:spPr>
      </p:sp>
      <p:sp>
        <p:nvSpPr>
          <p:cNvPr id="13" name="Shape 11"/>
          <p:cNvSpPr/>
          <p:nvPr/>
        </p:nvSpPr>
        <p:spPr>
          <a:xfrm>
            <a:off x="658368" y="2875788"/>
            <a:ext cx="201168" cy="201168"/>
          </a:xfrm>
          <a:prstGeom prst="ellipse">
            <a:avLst/>
          </a:prstGeom>
          <a:solidFill>
            <a:srgbClr val="D62828"/>
          </a:solidFill>
          <a:ln w="12700">
            <a:solidFill>
              <a:srgbClr val="D62828"/>
            </a:solidFill>
            <a:prstDash val="solid"/>
          </a:ln>
        </p:spPr>
      </p:sp>
      <p:sp>
        <p:nvSpPr>
          <p:cNvPr id="14" name="Text 12"/>
          <p:cNvSpPr/>
          <p:nvPr/>
        </p:nvSpPr>
        <p:spPr>
          <a:xfrm>
            <a:off x="987552" y="2633472"/>
            <a:ext cx="7543800" cy="685800"/>
          </a:xfrm>
          <a:prstGeom prst="rect">
            <a:avLst/>
          </a:prstGeom>
          <a:noFill/>
          <a:ln/>
        </p:spPr>
        <p:txBody>
          <a:bodyPr wrap="square" lIns="0" tIns="0" rIns="0" bIns="0" rtlCol="0" anchor="ctr"/>
          <a:lstStyle/>
          <a:p>
            <a:pPr marL="0" indent="0">
              <a:buNone/>
            </a:pPr>
            <a:r>
              <a:rPr lang="en-US" sz="1100" dirty="0">
                <a:solidFill>
                  <a:srgbClr val="D0E8F2"/>
                </a:solidFill>
              </a:rPr>
              <a:t>K=10 là điểm tối ưu — tăng K hơn nữa không mang lại lợi ích cho kẻ tấn công</a:t>
            </a:r>
            <a:endParaRPr lang="en-US" sz="1100" dirty="0"/>
          </a:p>
        </p:txBody>
      </p:sp>
      <p:sp>
        <p:nvSpPr>
          <p:cNvPr id="15" name="Shape 13"/>
          <p:cNvSpPr/>
          <p:nvPr/>
        </p:nvSpPr>
        <p:spPr>
          <a:xfrm>
            <a:off x="502920" y="3438144"/>
            <a:ext cx="8138160" cy="685800"/>
          </a:xfrm>
          <a:prstGeom prst="rect">
            <a:avLst/>
          </a:prstGeom>
          <a:solidFill>
            <a:srgbClr val="162435"/>
          </a:solidFill>
          <a:ln w="12700">
            <a:solidFill>
              <a:srgbClr val="243850"/>
            </a:solidFill>
            <a:prstDash val="solid"/>
          </a:ln>
        </p:spPr>
      </p:sp>
      <p:sp>
        <p:nvSpPr>
          <p:cNvPr id="16" name="Shape 14"/>
          <p:cNvSpPr/>
          <p:nvPr/>
        </p:nvSpPr>
        <p:spPr>
          <a:xfrm>
            <a:off x="658368" y="3680460"/>
            <a:ext cx="201168" cy="201168"/>
          </a:xfrm>
          <a:prstGeom prst="ellipse">
            <a:avLst/>
          </a:prstGeom>
          <a:solidFill>
            <a:srgbClr val="2D9D5A"/>
          </a:solidFill>
          <a:ln w="12700">
            <a:solidFill>
              <a:srgbClr val="2D9D5A"/>
            </a:solidFill>
            <a:prstDash val="solid"/>
          </a:ln>
        </p:spPr>
      </p:sp>
      <p:sp>
        <p:nvSpPr>
          <p:cNvPr id="17" name="Text 15"/>
          <p:cNvSpPr/>
          <p:nvPr/>
        </p:nvSpPr>
        <p:spPr>
          <a:xfrm>
            <a:off x="987552" y="3438144"/>
            <a:ext cx="7543800" cy="685800"/>
          </a:xfrm>
          <a:prstGeom prst="rect">
            <a:avLst/>
          </a:prstGeom>
          <a:noFill/>
          <a:ln/>
        </p:spPr>
        <p:txBody>
          <a:bodyPr wrap="square" lIns="0" tIns="0" rIns="0" bIns="0" rtlCol="0" anchor="ctr"/>
          <a:lstStyle/>
          <a:p>
            <a:pPr marL="0" indent="0">
              <a:buNone/>
            </a:pPr>
            <a:r>
              <a:rPr lang="en-US" sz="1100" dirty="0">
                <a:solidFill>
                  <a:srgbClr val="D0E8F2"/>
                </a:solidFill>
              </a:rPr>
              <a:t>Ngẫu nhiên hóa HPA (50/50 RNG) là biện pháp phòng thủ khả thi, giảm 9.6% chi phí baseline</a:t>
            </a:r>
            <a:endParaRPr lang="en-US" sz="1100" dirty="0"/>
          </a:p>
        </p:txBody>
      </p:sp>
      <p:sp>
        <p:nvSpPr>
          <p:cNvPr id="18" name="Text 16"/>
          <p:cNvSpPr/>
          <p:nvPr/>
        </p:nvSpPr>
        <p:spPr>
          <a:xfrm>
            <a:off x="502920" y="4233672"/>
            <a:ext cx="2743200" cy="256032"/>
          </a:xfrm>
          <a:prstGeom prst="rect">
            <a:avLst/>
          </a:prstGeom>
          <a:noFill/>
          <a:ln/>
        </p:spPr>
        <p:txBody>
          <a:bodyPr wrap="square" lIns="0" tIns="0" rIns="0" bIns="0" rtlCol="0" anchor="ctr"/>
          <a:lstStyle/>
          <a:p>
            <a:pPr marL="0" indent="0">
              <a:buNone/>
            </a:pPr>
            <a:r>
              <a:rPr lang="en-US" sz="1050" b="1" dirty="0">
                <a:solidFill>
                  <a:srgbClr val="F47B20"/>
                </a:solidFill>
              </a:rPr>
              <a:t>Hướng phát triển:</a:t>
            </a:r>
            <a:endParaRPr lang="en-US" sz="1050" dirty="0"/>
          </a:p>
        </p:txBody>
      </p:sp>
      <p:sp>
        <p:nvSpPr>
          <p:cNvPr id="19" name="Text 17"/>
          <p:cNvSpPr/>
          <p:nvPr/>
        </p:nvSpPr>
        <p:spPr>
          <a:xfrm>
            <a:off x="502920" y="4526280"/>
            <a:ext cx="8138160" cy="365760"/>
          </a:xfrm>
          <a:prstGeom prst="rect">
            <a:avLst/>
          </a:prstGeom>
          <a:noFill/>
          <a:ln/>
        </p:spPr>
        <p:txBody>
          <a:bodyPr wrap="square" lIns="0" tIns="0" rIns="0" bIns="0" rtlCol="0" anchor="ctr"/>
          <a:lstStyle/>
          <a:p>
            <a:pPr marL="0" indent="0">
              <a:buNone/>
            </a:pPr>
            <a:r>
              <a:rPr lang="en-US" sz="1000" dirty="0">
                <a:solidFill>
                  <a:srgbClr val="64748B"/>
                </a:solidFill>
              </a:rPr>
              <a:t>Tích hợp yếu tố thời gian vào mô hình  ·  Cửa sổ trượt thời gian cho kẻ tấn công  ·  Tối ưu trọng số ngẫu nhiên theo loại lưu lượng</a:t>
            </a:r>
            <a:endParaRPr lang="en-US" sz="1000" dirty="0"/>
          </a:p>
        </p:txBody>
      </p:sp>
      <p:sp>
        <p:nvSpPr>
          <p:cNvPr id="20" name="Text 18"/>
          <p:cNvSpPr/>
          <p:nvPr/>
        </p:nvSpPr>
        <p:spPr>
          <a:xfrm>
            <a:off x="502920" y="4937760"/>
            <a:ext cx="8138160" cy="228600"/>
          </a:xfrm>
          <a:prstGeom prst="rect">
            <a:avLst/>
          </a:prstGeom>
          <a:noFill/>
          <a:ln/>
        </p:spPr>
        <p:txBody>
          <a:bodyPr wrap="square" lIns="0" tIns="0" rIns="0" bIns="0" rtlCol="0" anchor="ctr"/>
          <a:lstStyle/>
          <a:p>
            <a:pPr marL="0" indent="0">
              <a:buNone/>
            </a:pPr>
            <a:r>
              <a:rPr lang="en-US" sz="850" i="1" dirty="0">
                <a:solidFill>
                  <a:srgbClr val="4A6B85"/>
                </a:solidFill>
              </a:rPr>
              <a:t>[1] Chamberlain et al., Exploiting K8s Autoscaling for EDoS, SIGMETRICS 2025</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401</TotalTime>
  <Words>2340</Words>
  <Application>Microsoft Office PowerPoint</Application>
  <PresentationFormat>On-screen Show (16:9)</PresentationFormat>
  <Paragraphs>333</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Calibri (Body)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EDoS Attack on Kubernetes Autoscaling</dc:title>
  <dc:subject>PptxGenJS Presentation</dc:subject>
  <dc:creator>Nguyen Tien Lam</dc:creator>
  <cp:lastModifiedBy>Nguyễn Tiến Lâm</cp:lastModifiedBy>
  <cp:revision>62</cp:revision>
  <dcterms:created xsi:type="dcterms:W3CDTF">2026-04-02T14:52:21Z</dcterms:created>
  <dcterms:modified xsi:type="dcterms:W3CDTF">2026-07-30T07:50:35Z</dcterms:modified>
</cp:coreProperties>
</file>