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0" r:id="rId5"/>
    <p:sldId id="279" r:id="rId6"/>
    <p:sldId id="280" r:id="rId7"/>
    <p:sldId id="281" r:id="rId8"/>
    <p:sldId id="282" r:id="rId9"/>
    <p:sldId id="283" r:id="rId10"/>
    <p:sldId id="262" r:id="rId11"/>
    <p:sldId id="266" r:id="rId12"/>
    <p:sldId id="264" r:id="rId13"/>
    <p:sldId id="268" r:id="rId14"/>
    <p:sldId id="273" r:id="rId15"/>
    <p:sldId id="269" r:id="rId16"/>
    <p:sldId id="274" r:id="rId17"/>
    <p:sldId id="270" r:id="rId18"/>
    <p:sldId id="275" r:id="rId19"/>
    <p:sldId id="277" r:id="rId20"/>
    <p:sldId id="278" r:id="rId21"/>
    <p:sldId id="267"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294" autoAdjust="0"/>
  </p:normalViewPr>
  <p:slideViewPr>
    <p:cSldViewPr snapToGrid="0" snapToObjects="1">
      <p:cViewPr varScale="1">
        <p:scale>
          <a:sx n="80" d="100"/>
          <a:sy n="80" d="100"/>
        </p:scale>
        <p:origin x="8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599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23714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cả hai framework cùng trả lời một câu hỏi - ra quyết định tối ưu khi kết quả phụ thuộc yếu tố ngoài tầm kiểm soát. Khác nhau ở nguồn gốc của sự bất định: MDP là ngẫu nhiên của môi trường, Stackelberg là hành vi có chủ đích của đối thủ. Bài toán EDoS có cả hai nên cần kết hợp.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13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MDP là trường hợp đặc biệt của trò chơi với một người chơi, đối thủ là thiên nhiên. Trọng số alpha/beta/gamma trong reward chính là nơi mã hóa trade-off doanh nghiệp - nếu phạt false positive quá nhẹ, agent sẽ học cách chặn tất cả để tiết kiệm tiền. Vì trạng thái tấn công là ẩn nên mô hình chuẩn hơn là POMDP.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799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bị hỏi vì sao không dùng Nash: Nash giả định hai bên ra quyết định đồng thời, không đúng với thực tế EDoS - cấu hình phòng thủ luôn được đặt trước và attacker quan sát được. Hàm ý thực tiễn quan trọng nhất là ngẫu nhiên hóa chính sách; cần chuẩn bị câu trả lời cho trade-off giữa tính khó đoán và hiện tượng thrashing.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715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Markov Game là nơi hai nền tảng gặp nhau - giữ được state động của cluster từ MDP và giữ được đối thủ thích nghi từ Stackelberg. Lưu ý thách thức non-stationarity khi cả hai agent cùng học, và sim-to-real gap khi triển khai policy lên cluster thật.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343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smtClean="0"/>
              <a:t>λ: </a:t>
            </a:r>
            <a:r>
              <a:rPr lang="vi-VN" dirty="0" smtClean="0"/>
              <a:t>tốc độ đến của người dùng hợp lệ — đây là giả định chuẩn cho lưu lượng web thực tế.</a:t>
            </a:r>
          </a:p>
          <a:p>
            <a:r>
              <a:rPr lang="vi-VN" dirty="0" smtClean="0"/>
              <a:t>K</a:t>
            </a:r>
            <a:r>
              <a:rPr lang="el-GR" dirty="0" smtClean="0"/>
              <a:t>λ: </a:t>
            </a:r>
            <a:r>
              <a:rPr lang="vi-VN" dirty="0" smtClean="0"/>
              <a:t>lưu lượng của kẻ tấn công. Điểm mấu chốt là K — "sức mạnh kẻ thù". K càng lớn, tải bơm vào càng nhiều.</a:t>
            </a:r>
          </a:p>
          <a:p>
            <a:r>
              <a:rPr lang="el-GR" dirty="0" smtClean="0"/>
              <a:t>μ: </a:t>
            </a:r>
            <a:r>
              <a:rPr lang="vi-VN" dirty="0" smtClean="0"/>
              <a:t>tốc độ phục vụ mỗi Service Unit (một pod)</a:t>
            </a:r>
          </a:p>
          <a:p>
            <a:r>
              <a:rPr lang="vi-VN" dirty="0" smtClean="0"/>
              <a:t>m: số SU đang chạy — chính là số pod hiện tại, dao động trong khoảng [1, M]. Đây là biến mà HPA điều khiển.</a:t>
            </a:r>
          </a:p>
          <a:p>
            <a:r>
              <a:rPr lang="vi-VN" dirty="0" smtClean="0"/>
              <a:t>N: dung lượng hàng đợi tối đa — quá ngưỡng này thì request bị rớt.</a:t>
            </a:r>
            <a:r>
              <a:rPr lang="en-US" dirty="0" smtClean="0"/>
              <a:t/>
            </a:r>
            <a:br>
              <a:rPr lang="en-US" dirty="0" smtClean="0"/>
            </a:br>
            <a:r>
              <a:rPr lang="en-US" dirty="0" smtClean="0"/>
              <a:t>=&gt; </a:t>
            </a:r>
            <a:r>
              <a:rPr lang="en-US" sz="1200" b="0" i="1" kern="1200" dirty="0" err="1" smtClean="0">
                <a:solidFill>
                  <a:schemeClr val="tx1"/>
                </a:solidFill>
                <a:effectLst/>
                <a:latin typeface="+mn-lt"/>
                <a:ea typeface="+mn-ea"/>
                <a:cs typeface="+mn-cs"/>
              </a:rPr>
              <a:t>Nói</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ngắn</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gọn</a:t>
            </a:r>
            <a:r>
              <a:rPr lang="en-US" sz="1200" b="0" i="1" kern="1200" dirty="0" smtClean="0">
                <a:solidFill>
                  <a:schemeClr val="tx1"/>
                </a:solidFill>
                <a:effectLst/>
                <a:latin typeface="+mn-lt"/>
                <a:ea typeface="+mn-ea"/>
                <a:cs typeface="+mn-cs"/>
              </a:rPr>
              <a:t> — m </a:t>
            </a:r>
            <a:r>
              <a:rPr lang="en-US" sz="1200" b="0" i="1" kern="1200" dirty="0" err="1" smtClean="0">
                <a:solidFill>
                  <a:schemeClr val="tx1"/>
                </a:solidFill>
                <a:effectLst/>
                <a:latin typeface="+mn-lt"/>
                <a:ea typeface="+mn-ea"/>
                <a:cs typeface="+mn-cs"/>
              </a:rPr>
              <a:t>chính</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là</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thứ</a:t>
            </a:r>
            <a:r>
              <a:rPr lang="en-US" sz="1200" b="0" i="1" kern="1200" dirty="0" smtClean="0">
                <a:solidFill>
                  <a:schemeClr val="tx1"/>
                </a:solidFill>
                <a:effectLst/>
                <a:latin typeface="+mn-lt"/>
                <a:ea typeface="+mn-ea"/>
                <a:cs typeface="+mn-cs"/>
              </a:rPr>
              <a:t> HPA </a:t>
            </a:r>
            <a:r>
              <a:rPr lang="en-US" sz="1200" b="0" i="1" kern="1200" dirty="0" err="1" smtClean="0">
                <a:solidFill>
                  <a:schemeClr val="tx1"/>
                </a:solidFill>
                <a:effectLst/>
                <a:latin typeface="+mn-lt"/>
                <a:ea typeface="+mn-ea"/>
                <a:cs typeface="+mn-cs"/>
              </a:rPr>
              <a:t>tăng</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giảm</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và</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cũng</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chính</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là</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thứ</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kẻ</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tấn</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công</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muốn</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ép</a:t>
            </a:r>
            <a:r>
              <a:rPr lang="en-US" sz="1200" b="0" i="1" kern="1200" dirty="0" smtClean="0">
                <a:solidFill>
                  <a:schemeClr val="tx1"/>
                </a:solidFill>
                <a:effectLst/>
                <a:latin typeface="+mn-lt"/>
                <a:ea typeface="+mn-ea"/>
                <a:cs typeface="+mn-cs"/>
              </a:rPr>
              <a:t> </a:t>
            </a:r>
            <a:r>
              <a:rPr lang="en-US" sz="1200" b="0" i="1" kern="1200" dirty="0" err="1" smtClean="0">
                <a:solidFill>
                  <a:schemeClr val="tx1"/>
                </a:solidFill>
                <a:effectLst/>
                <a:latin typeface="+mn-lt"/>
                <a:ea typeface="+mn-ea"/>
                <a:cs typeface="+mn-cs"/>
              </a:rPr>
              <a:t>cho</a:t>
            </a:r>
            <a:r>
              <a:rPr lang="en-US" sz="1200" b="0" i="1" kern="1200" dirty="0" smtClean="0">
                <a:solidFill>
                  <a:schemeClr val="tx1"/>
                </a:solidFill>
                <a:effectLst/>
                <a:latin typeface="+mn-lt"/>
                <a:ea typeface="+mn-ea"/>
                <a:cs typeface="+mn-cs"/>
              </a:rPr>
              <a:t> tang</a:t>
            </a:r>
            <a:br>
              <a:rPr lang="en-US" sz="1200" b="0" i="1" kern="1200" dirty="0" smtClean="0">
                <a:solidFill>
                  <a:schemeClr val="tx1"/>
                </a:solidFill>
                <a:effectLst/>
                <a:latin typeface="+mn-lt"/>
                <a:ea typeface="+mn-ea"/>
                <a:cs typeface="+mn-cs"/>
              </a:rPr>
            </a:br>
            <a:r>
              <a:rPr lang="en-US" sz="1200" b="0" i="1" kern="1200" dirty="0" smtClean="0">
                <a:solidFill>
                  <a:schemeClr val="tx1"/>
                </a:solidFill>
                <a:effectLst/>
                <a:latin typeface="+mn-lt"/>
                <a:ea typeface="+mn-ea"/>
                <a:cs typeface="+mn-cs"/>
              </a:rPr>
              <a:t/>
            </a:r>
            <a:br>
              <a:rPr lang="en-US" sz="1200" b="0" i="1" kern="1200" dirty="0" smtClean="0">
                <a:solidFill>
                  <a:schemeClr val="tx1"/>
                </a:solidFill>
                <a:effectLst/>
                <a:latin typeface="+mn-lt"/>
                <a:ea typeface="+mn-ea"/>
                <a:cs typeface="+mn-cs"/>
              </a:rPr>
            </a:br>
            <a:r>
              <a:rPr lang="en-US" sz="1200" b="0" i="1" kern="1200" dirty="0" err="1" smtClean="0">
                <a:solidFill>
                  <a:schemeClr val="tx1"/>
                </a:solidFill>
                <a:effectLst/>
                <a:latin typeface="+mn-lt"/>
                <a:ea typeface="+mn-ea"/>
                <a:cs typeface="+mn-cs"/>
              </a:rPr>
              <a:t>Khối</a:t>
            </a:r>
            <a:r>
              <a:rPr lang="en-US" sz="1200" b="0" i="1" kern="1200" baseline="0" dirty="0" smtClean="0">
                <a:solidFill>
                  <a:schemeClr val="tx1"/>
                </a:solidFill>
                <a:effectLst/>
                <a:latin typeface="+mn-lt"/>
                <a:ea typeface="+mn-ea"/>
                <a:cs typeface="+mn-cs"/>
              </a:rPr>
              <a:t> 2:</a:t>
            </a:r>
            <a:br>
              <a:rPr lang="en-US" sz="1200" b="0" i="1" kern="1200" baseline="0" dirty="0" smtClean="0">
                <a:solidFill>
                  <a:schemeClr val="tx1"/>
                </a:solidFill>
                <a:effectLst/>
                <a:latin typeface="+mn-lt"/>
                <a:ea typeface="+mn-ea"/>
                <a:cs typeface="+mn-cs"/>
              </a:rPr>
            </a:br>
            <a:r>
              <a:rPr lang="vi-VN" sz="1200" b="0" i="1" kern="1200" dirty="0" smtClean="0">
                <a:solidFill>
                  <a:schemeClr val="tx1"/>
                </a:solidFill>
                <a:effectLst/>
                <a:latin typeface="+mn-lt"/>
                <a:ea typeface="+mn-ea"/>
                <a:cs typeface="+mn-cs"/>
              </a:rPr>
              <a:t>Defender kẹt giữa hai lằn ranh: bật nhiều pod thì tốn tiền (CS, CD), bật ít pod thì vi phạm chất lượng dịch vụ (CR, CP)</a:t>
            </a:r>
            <a:endParaRPr lang="en-US" sz="1200" b="0" i="1" kern="1200" dirty="0" smtClean="0">
              <a:solidFill>
                <a:schemeClr val="tx1"/>
              </a:solidFill>
              <a:effectLst/>
              <a:latin typeface="+mn-lt"/>
              <a:ea typeface="+mn-ea"/>
              <a:cs typeface="+mn-cs"/>
            </a:endParaRPr>
          </a:p>
          <a:p>
            <a:endParaRPr lang="en-US" sz="1200" b="0" i="1" kern="1200" dirty="0" smtClean="0">
              <a:solidFill>
                <a:schemeClr val="tx1"/>
              </a:solidFill>
              <a:effectLst/>
              <a:latin typeface="+mn-lt"/>
              <a:ea typeface="+mn-ea"/>
              <a:cs typeface="+mn-cs"/>
            </a:endParaRPr>
          </a:p>
          <a:p>
            <a:r>
              <a:rPr lang="en-US" sz="1200" b="0" i="1" kern="1200" dirty="0" err="1" smtClean="0">
                <a:solidFill>
                  <a:schemeClr val="tx1"/>
                </a:solidFill>
                <a:effectLst/>
                <a:latin typeface="+mn-lt"/>
                <a:ea typeface="+mn-ea"/>
                <a:cs typeface="+mn-cs"/>
              </a:rPr>
              <a:t>Khối</a:t>
            </a:r>
            <a:r>
              <a:rPr lang="en-US" sz="1200" b="0" i="1" kern="1200" baseline="0" dirty="0" smtClean="0">
                <a:solidFill>
                  <a:schemeClr val="tx1"/>
                </a:solidFill>
                <a:effectLst/>
                <a:latin typeface="+mn-lt"/>
                <a:ea typeface="+mn-ea"/>
                <a:cs typeface="+mn-cs"/>
              </a:rPr>
              <a:t> 3: </a:t>
            </a:r>
            <a:br>
              <a:rPr lang="en-US" sz="1200" b="0" i="1" kern="1200" baseline="0" dirty="0" smtClean="0">
                <a:solidFill>
                  <a:schemeClr val="tx1"/>
                </a:solidFill>
                <a:effectLst/>
                <a:latin typeface="+mn-lt"/>
                <a:ea typeface="+mn-ea"/>
                <a:cs typeface="+mn-cs"/>
              </a:rPr>
            </a:br>
            <a:r>
              <a:rPr lang="vi-VN" sz="1200" b="0" i="1" kern="1200" baseline="0" dirty="0" smtClean="0">
                <a:solidFill>
                  <a:schemeClr val="tx1"/>
                </a:solidFill>
                <a:effectLst/>
                <a:latin typeface="+mn-lt"/>
                <a:ea typeface="+mn-ea"/>
                <a:cs typeface="+mn-cs"/>
              </a:rPr>
              <a:t>C(s, </a:t>
            </a:r>
            <a:r>
              <a:rPr lang="el-GR" sz="1200" b="0" i="1" kern="1200" baseline="0" dirty="0" smtClean="0">
                <a:solidFill>
                  <a:schemeClr val="tx1"/>
                </a:solidFill>
                <a:effectLst/>
                <a:latin typeface="+mn-lt"/>
                <a:ea typeface="+mn-ea"/>
                <a:cs typeface="+mn-cs"/>
              </a:rPr>
              <a:t>π(</a:t>
            </a:r>
            <a:r>
              <a:rPr lang="vi-VN" sz="1200" b="0" i="1" kern="1200" baseline="0" dirty="0" smtClean="0">
                <a:solidFill>
                  <a:schemeClr val="tx1"/>
                </a:solidFill>
                <a:effectLst/>
                <a:latin typeface="+mn-lt"/>
                <a:ea typeface="+mn-ea"/>
                <a:cs typeface="+mn-cs"/>
              </a:rPr>
              <a:t>s)): chi phí mà attacker ép được lên nạn nhân — attacker muốn tối đa hóa phần này.</a:t>
            </a:r>
          </a:p>
          <a:p>
            <a:r>
              <a:rPr lang="vi-VN" sz="1200" b="0" i="1" kern="1200" baseline="0" dirty="0" smtClean="0">
                <a:solidFill>
                  <a:schemeClr val="tx1"/>
                </a:solidFill>
                <a:effectLst/>
                <a:latin typeface="+mn-lt"/>
                <a:ea typeface="+mn-ea"/>
                <a:cs typeface="+mn-cs"/>
              </a:rPr>
              <a:t>K × CA: chi phí attacker phải tự bỏ ra để bơm traffic (CA = đơn giá, K = cường độ) — phần trừ đi.</a:t>
            </a:r>
          </a:p>
          <a:p>
            <a:r>
              <a:rPr lang="vi-VN" sz="1200" b="0" i="1" kern="1200" baseline="0" dirty="0" smtClean="0">
                <a:solidFill>
                  <a:schemeClr val="tx1"/>
                </a:solidFill>
                <a:effectLst/>
                <a:latin typeface="+mn-lt"/>
                <a:ea typeface="+mn-ea"/>
                <a:cs typeface="+mn-cs"/>
              </a:rPr>
              <a:t>Ý nghĩa: "Kẻ tấn công không tấn công bừa. Nó tính lời–lỗ: gây thiệt hại cho nạn nhân trừ đi chi phí của chính mình. Tấn công chỉ hợp lý khi phần thưởng ròng còn dương.“</a:t>
            </a:r>
            <a:r>
              <a:rPr lang="en-US" sz="1200" b="0" i="1" kern="1200" baseline="0" dirty="0" smtClean="0">
                <a:solidFill>
                  <a:schemeClr val="tx1"/>
                </a:solidFill>
                <a:effectLst/>
                <a:latin typeface="+mn-lt"/>
                <a:ea typeface="+mn-ea"/>
                <a:cs typeface="+mn-cs"/>
              </a:rPr>
              <a:t/>
            </a:r>
            <a:br>
              <a:rPr lang="en-US" sz="1200" b="0" i="1" kern="1200" baseline="0" dirty="0" smtClean="0">
                <a:solidFill>
                  <a:schemeClr val="tx1"/>
                </a:solidFill>
                <a:effectLst/>
                <a:latin typeface="+mn-lt"/>
                <a:ea typeface="+mn-ea"/>
                <a:cs typeface="+mn-cs"/>
              </a:rPr>
            </a:br>
            <a:r>
              <a:rPr lang="en-US" sz="1200" b="0" i="1" kern="1200" baseline="0" dirty="0" smtClean="0">
                <a:solidFill>
                  <a:schemeClr val="tx1"/>
                </a:solidFill>
                <a:effectLst/>
                <a:latin typeface="+mn-lt"/>
                <a:ea typeface="+mn-ea"/>
                <a:cs typeface="+mn-cs"/>
              </a:rPr>
              <a:t/>
            </a:r>
            <a:br>
              <a:rPr lang="en-US" sz="1200" b="0" i="1" kern="1200" baseline="0" dirty="0" smtClean="0">
                <a:solidFill>
                  <a:schemeClr val="tx1"/>
                </a:solidFill>
                <a:effectLst/>
                <a:latin typeface="+mn-lt"/>
                <a:ea typeface="+mn-ea"/>
                <a:cs typeface="+mn-cs"/>
              </a:rPr>
            </a:br>
            <a:r>
              <a:rPr lang="en-US" sz="1200" b="0" i="1" kern="1200" baseline="0" dirty="0" smtClean="0">
                <a:solidFill>
                  <a:schemeClr val="tx1"/>
                </a:solidFill>
                <a:effectLst/>
                <a:latin typeface="+mn-lt"/>
                <a:ea typeface="+mn-ea"/>
                <a:cs typeface="+mn-cs"/>
              </a:rPr>
              <a:t>=&gt; </a:t>
            </a:r>
            <a:r>
              <a:rPr lang="vi-VN" sz="1200" b="0" i="1" kern="1200" dirty="0" smtClean="0">
                <a:solidFill>
                  <a:schemeClr val="tx1"/>
                </a:solidFill>
                <a:effectLst/>
                <a:latin typeface="+mn-lt"/>
                <a:ea typeface="+mn-ea"/>
                <a:cs typeface="+mn-cs"/>
              </a:rPr>
              <a:t>Và đây là giả định mạnh nhất của mô hình: kẻ tấn công biết trước chính sách </a:t>
            </a:r>
            <a:r>
              <a:rPr lang="el-GR" sz="1200" b="0" i="1" kern="1200" dirty="0" smtClean="0">
                <a:solidFill>
                  <a:schemeClr val="tx1"/>
                </a:solidFill>
                <a:effectLst/>
                <a:latin typeface="+mn-lt"/>
                <a:ea typeface="+mn-ea"/>
                <a:cs typeface="+mn-cs"/>
              </a:rPr>
              <a:t>π </a:t>
            </a:r>
            <a:r>
              <a:rPr lang="vi-VN" sz="1200" b="0" i="1" kern="1200" dirty="0" smtClean="0">
                <a:solidFill>
                  <a:schemeClr val="tx1"/>
                </a:solidFill>
                <a:effectLst/>
                <a:latin typeface="+mn-lt"/>
                <a:ea typeface="+mn-ea"/>
                <a:cs typeface="+mn-cs"/>
              </a:rPr>
              <a:t>của defender — tức là biết HPA sẽ phản ứng thế nào. Chính vì nó dự đoán được, nó mới tấn công state-aware hiệu quả. Đây cũng là lý do vì sao giải pháp phòng thủ là ngẫu nhiên hóa — để phá vỡ đúng cái giả định 'biết trước' này.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344441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51915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915595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87940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774375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766560" y="-731520"/>
            <a:ext cx="2926080" cy="2926080"/>
          </a:xfrm>
          <a:prstGeom prst="ellipse">
            <a:avLst/>
          </a:prstGeom>
          <a:solidFill>
            <a:srgbClr val="0096B7">
              <a:alpha val="15000"/>
            </a:srgbClr>
          </a:solidFill>
          <a:ln w="12700">
            <a:solidFill>
              <a:srgbClr val="0096B7">
                <a:alpha val="15000"/>
              </a:srgbClr>
            </a:solidFill>
            <a:prstDash val="solid"/>
          </a:ln>
        </p:spPr>
      </p:sp>
      <p:sp>
        <p:nvSpPr>
          <p:cNvPr id="3" name="Shape 1"/>
          <p:cNvSpPr/>
          <p:nvPr/>
        </p:nvSpPr>
        <p:spPr>
          <a:xfrm>
            <a:off x="7406640" y="182880"/>
            <a:ext cx="1828800" cy="1828800"/>
          </a:xfrm>
          <a:prstGeom prst="ellipse">
            <a:avLst/>
          </a:prstGeom>
          <a:solidFill>
            <a:srgbClr val="F47B20">
              <a:alpha val="20000"/>
            </a:srgbClr>
          </a:solidFill>
          <a:ln w="12700">
            <a:solidFill>
              <a:srgbClr val="F47B20">
                <a:alpha val="20000"/>
              </a:srgbClr>
            </a:solidFill>
            <a:prstDash val="solid"/>
          </a:ln>
        </p:spPr>
      </p:sp>
      <p:sp>
        <p:nvSpPr>
          <p:cNvPr id="4" name="Shape 2"/>
          <p:cNvSpPr/>
          <p:nvPr/>
        </p:nvSpPr>
        <p:spPr>
          <a:xfrm>
            <a:off x="-731520" y="3474720"/>
            <a:ext cx="2286000" cy="2286000"/>
          </a:xfrm>
          <a:prstGeom prst="ellipse">
            <a:avLst/>
          </a:prstGeom>
          <a:solidFill>
            <a:srgbClr val="0096B7">
              <a:alpha val="12000"/>
            </a:srgbClr>
          </a:solidFill>
          <a:ln w="12700">
            <a:solidFill>
              <a:srgbClr val="0096B7">
                <a:alpha val="12000"/>
              </a:srgbClr>
            </a:solidFill>
            <a:prstDash val="solid"/>
          </a:ln>
        </p:spPr>
      </p:sp>
      <p:sp>
        <p:nvSpPr>
          <p:cNvPr id="5" name="Text 3"/>
          <p:cNvSpPr/>
          <p:nvPr/>
        </p:nvSpPr>
        <p:spPr>
          <a:xfrm>
            <a:off x="502920" y="932688"/>
            <a:ext cx="7315200" cy="228600"/>
          </a:xfrm>
          <a:prstGeom prst="rect">
            <a:avLst/>
          </a:prstGeom>
          <a:noFill/>
          <a:ln/>
        </p:spPr>
        <p:txBody>
          <a:bodyPr wrap="square" lIns="0" tIns="0" rIns="0" bIns="0" rtlCol="0" anchor="ctr"/>
          <a:lstStyle/>
          <a:p>
            <a:pPr marL="0" indent="0">
              <a:buNone/>
            </a:pPr>
            <a:r>
              <a:rPr lang="en-US" sz="950" b="1" kern="0" spc="400" dirty="0" smtClean="0">
                <a:solidFill>
                  <a:srgbClr val="0096B7"/>
                </a:solidFill>
              </a:rPr>
              <a:t>BÁO CÁO PHÂN TÍCH NGHIÊN CỨU</a:t>
            </a:r>
            <a:endParaRPr lang="en-US" sz="950" dirty="0"/>
          </a:p>
        </p:txBody>
      </p:sp>
      <p:sp>
        <p:nvSpPr>
          <p:cNvPr id="6" name="Shape 4"/>
          <p:cNvSpPr/>
          <p:nvPr/>
        </p:nvSpPr>
        <p:spPr>
          <a:xfrm>
            <a:off x="502920" y="1188720"/>
            <a:ext cx="1097280" cy="64008"/>
          </a:xfrm>
          <a:prstGeom prst="rect">
            <a:avLst/>
          </a:prstGeom>
          <a:solidFill>
            <a:srgbClr val="0096B7"/>
          </a:solidFill>
          <a:ln w="12700">
            <a:solidFill>
              <a:srgbClr val="0096B7"/>
            </a:solidFill>
            <a:prstDash val="solid"/>
          </a:ln>
        </p:spPr>
      </p:sp>
      <p:sp>
        <p:nvSpPr>
          <p:cNvPr id="7" name="Text 5"/>
          <p:cNvSpPr/>
          <p:nvPr/>
        </p:nvSpPr>
        <p:spPr>
          <a:xfrm>
            <a:off x="502920" y="1325880"/>
            <a:ext cx="8046720" cy="594360"/>
          </a:xfrm>
          <a:prstGeom prst="rect">
            <a:avLst/>
          </a:prstGeom>
          <a:noFill/>
          <a:ln/>
        </p:spPr>
        <p:txBody>
          <a:bodyPr wrap="square" lIns="0" tIns="0" rIns="0" bIns="0" rtlCol="0" anchor="ctr"/>
          <a:lstStyle/>
          <a:p>
            <a:pPr marL="0" indent="0">
              <a:buNone/>
            </a:pPr>
            <a:r>
              <a:rPr lang="en-US" sz="2600" b="1" dirty="0">
                <a:solidFill>
                  <a:srgbClr val="FFFFFF"/>
                </a:solidFill>
              </a:rPr>
              <a:t>Khai thác cơ chế Autoscaling của Kubernetes cho tấn công</a:t>
            </a:r>
            <a:endParaRPr lang="en-US" sz="2600" dirty="0"/>
          </a:p>
        </p:txBody>
      </p:sp>
      <p:sp>
        <p:nvSpPr>
          <p:cNvPr id="8" name="Text 6"/>
          <p:cNvSpPr/>
          <p:nvPr/>
        </p:nvSpPr>
        <p:spPr>
          <a:xfrm>
            <a:off x="502920" y="1920240"/>
            <a:ext cx="8046720" cy="566928"/>
          </a:xfrm>
          <a:prstGeom prst="rect">
            <a:avLst/>
          </a:prstGeom>
          <a:noFill/>
          <a:ln/>
        </p:spPr>
        <p:txBody>
          <a:bodyPr wrap="square" lIns="0" tIns="0" rIns="0" bIns="0" rtlCol="0" anchor="ctr"/>
          <a:lstStyle/>
          <a:p>
            <a:pPr marL="0" indent="0">
              <a:buNone/>
            </a:pPr>
            <a:r>
              <a:rPr lang="en-US" sz="3000" b="1" dirty="0">
                <a:solidFill>
                  <a:srgbClr val="0096B7"/>
                </a:solidFill>
              </a:rPr>
              <a:t>Economic Denial of Sustainability (EDoS)</a:t>
            </a:r>
            <a:endParaRPr lang="en-US" sz="3000" dirty="0"/>
          </a:p>
        </p:txBody>
      </p:sp>
      <p:sp>
        <p:nvSpPr>
          <p:cNvPr id="11" name="Text 9"/>
          <p:cNvSpPr/>
          <p:nvPr/>
        </p:nvSpPr>
        <p:spPr>
          <a:xfrm>
            <a:off x="502920" y="4206240"/>
            <a:ext cx="8229600" cy="937260"/>
          </a:xfrm>
          <a:prstGeom prst="rect">
            <a:avLst/>
          </a:prstGeom>
          <a:noFill/>
          <a:ln/>
        </p:spPr>
        <p:txBody>
          <a:bodyPr wrap="square" lIns="0" tIns="0" rIns="0" bIns="0" rtlCol="0" anchor="ctr"/>
          <a:lstStyle/>
          <a:p>
            <a:pPr marL="0" indent="0">
              <a:buNone/>
            </a:pPr>
            <a:endParaRPr lang="en-US" sz="1200" dirty="0"/>
          </a:p>
        </p:txBody>
      </p:sp>
      <p:sp>
        <p:nvSpPr>
          <p:cNvPr id="12" name="Text 7"/>
          <p:cNvSpPr/>
          <p:nvPr/>
        </p:nvSpPr>
        <p:spPr>
          <a:xfrm>
            <a:off x="502920" y="2606040"/>
            <a:ext cx="7315200" cy="292608"/>
          </a:xfrm>
          <a:prstGeom prst="rect">
            <a:avLst/>
          </a:prstGeom>
          <a:noFill/>
          <a:ln/>
        </p:spPr>
        <p:txBody>
          <a:bodyPr wrap="square" lIns="0" tIns="0" rIns="0" bIns="0" rtlCol="0" anchor="ctr"/>
          <a:lstStyle/>
          <a:p>
            <a:pPr marL="0" indent="0">
              <a:buNone/>
            </a:pPr>
            <a:r>
              <a:rPr lang="en-US" sz="1500" b="1" i="1" dirty="0" err="1" smtClean="0">
                <a:solidFill>
                  <a:srgbClr val="8BA0B4"/>
                </a:solidFill>
              </a:rPr>
              <a:t>Giảng</a:t>
            </a:r>
            <a:r>
              <a:rPr lang="en-US" sz="1500" b="1" i="1" dirty="0" smtClean="0">
                <a:solidFill>
                  <a:srgbClr val="8BA0B4"/>
                </a:solidFill>
              </a:rPr>
              <a:t> </a:t>
            </a:r>
            <a:r>
              <a:rPr lang="en-US" sz="1500" b="1" i="1" dirty="0" err="1" smtClean="0">
                <a:solidFill>
                  <a:srgbClr val="8BA0B4"/>
                </a:solidFill>
              </a:rPr>
              <a:t>viên</a:t>
            </a:r>
            <a:r>
              <a:rPr lang="en-US" sz="1500" b="1" i="1" dirty="0" smtClean="0">
                <a:solidFill>
                  <a:srgbClr val="8BA0B4"/>
                </a:solidFill>
              </a:rPr>
              <a:t> </a:t>
            </a:r>
            <a:r>
              <a:rPr lang="en-US" sz="1500" b="1" i="1" dirty="0" err="1" smtClean="0">
                <a:solidFill>
                  <a:srgbClr val="8BA0B4"/>
                </a:solidFill>
              </a:rPr>
              <a:t>hướng</a:t>
            </a:r>
            <a:r>
              <a:rPr lang="en-US" sz="1500" b="1" i="1" dirty="0" smtClean="0">
                <a:solidFill>
                  <a:srgbClr val="8BA0B4"/>
                </a:solidFill>
              </a:rPr>
              <a:t> </a:t>
            </a:r>
            <a:r>
              <a:rPr lang="en-US" sz="1500" b="1" i="1" dirty="0" err="1" smtClean="0">
                <a:solidFill>
                  <a:srgbClr val="8BA0B4"/>
                </a:solidFill>
              </a:rPr>
              <a:t>dẫn</a:t>
            </a:r>
            <a:r>
              <a:rPr lang="en-US" sz="1500" b="1" i="1" dirty="0" smtClean="0">
                <a:solidFill>
                  <a:srgbClr val="8BA0B4"/>
                </a:solidFill>
              </a:rPr>
              <a:t>: PGS.TS. Nguyễn </a:t>
            </a:r>
            <a:r>
              <a:rPr lang="en-US" sz="1500" b="1" i="1" dirty="0" err="1" smtClean="0">
                <a:solidFill>
                  <a:srgbClr val="8BA0B4"/>
                </a:solidFill>
              </a:rPr>
              <a:t>Khanh</a:t>
            </a:r>
            <a:r>
              <a:rPr lang="en-US" sz="1500" b="1" i="1" dirty="0" smtClean="0">
                <a:solidFill>
                  <a:srgbClr val="8BA0B4"/>
                </a:solidFill>
              </a:rPr>
              <a:t> </a:t>
            </a:r>
            <a:r>
              <a:rPr lang="en-US" sz="1500" b="1" i="1" dirty="0" err="1" smtClean="0">
                <a:solidFill>
                  <a:srgbClr val="8BA0B4"/>
                </a:solidFill>
              </a:rPr>
              <a:t>Văn</a:t>
            </a:r>
            <a:endParaRPr lang="en-US" sz="1500" b="1" dirty="0"/>
          </a:p>
        </p:txBody>
      </p:sp>
      <p:sp>
        <p:nvSpPr>
          <p:cNvPr id="13" name="Text 9"/>
          <p:cNvSpPr/>
          <p:nvPr/>
        </p:nvSpPr>
        <p:spPr>
          <a:xfrm>
            <a:off x="502920" y="3030487"/>
            <a:ext cx="8229600" cy="937260"/>
          </a:xfrm>
          <a:prstGeom prst="rect">
            <a:avLst/>
          </a:prstGeom>
          <a:noFill/>
          <a:ln/>
        </p:spPr>
        <p:txBody>
          <a:bodyPr wrap="square" lIns="0" tIns="0" rIns="0" bIns="0" rtlCol="0" anchor="ctr"/>
          <a:lstStyle/>
          <a:p>
            <a:pPr marL="0" indent="0">
              <a:buNone/>
            </a:pPr>
            <a:r>
              <a:rPr lang="en-US" sz="1200" b="1" dirty="0" smtClean="0">
                <a:solidFill>
                  <a:srgbClr val="FFFFFF"/>
                </a:solidFill>
              </a:rPr>
              <a:t>Nguyễn Tiến Lâm</a:t>
            </a:r>
            <a:r>
              <a:rPr lang="en-US" sz="1200" dirty="0" smtClean="0">
                <a:solidFill>
                  <a:srgbClr val="FFFFFF"/>
                </a:solidFill>
              </a:rPr>
              <a:t>  |  Lam.NT251061M@sis.hust.edu.vn</a:t>
            </a:r>
            <a:endParaRPr lang="en-US" sz="1200" dirty="0"/>
          </a:p>
        </p:txBody>
      </p:sp>
      <p:sp>
        <p:nvSpPr>
          <p:cNvPr id="14" name="Text 9"/>
          <p:cNvSpPr/>
          <p:nvPr/>
        </p:nvSpPr>
        <p:spPr>
          <a:xfrm>
            <a:off x="502920" y="3608806"/>
            <a:ext cx="8229600" cy="937260"/>
          </a:xfrm>
          <a:prstGeom prst="rect">
            <a:avLst/>
          </a:prstGeom>
          <a:noFill/>
          <a:ln/>
        </p:spPr>
        <p:txBody>
          <a:bodyPr wrap="square" lIns="0" tIns="0" rIns="0" bIns="0" rtlCol="0" anchor="ctr"/>
          <a:lstStyle/>
          <a:p>
            <a:r>
              <a:rPr lang="en-US" sz="1200" b="1" dirty="0" smtClean="0">
                <a:solidFill>
                  <a:srgbClr val="FFFFFF"/>
                </a:solidFill>
              </a:rPr>
              <a:t>Nguyễn </a:t>
            </a:r>
            <a:r>
              <a:rPr lang="en-US" sz="1200" b="1" dirty="0" err="1" smtClean="0">
                <a:solidFill>
                  <a:srgbClr val="FFFFFF"/>
                </a:solidFill>
              </a:rPr>
              <a:t>Kỳ</a:t>
            </a:r>
            <a:r>
              <a:rPr lang="en-US" sz="1200" b="1" dirty="0" smtClean="0">
                <a:solidFill>
                  <a:srgbClr val="FFFFFF"/>
                </a:solidFill>
              </a:rPr>
              <a:t> </a:t>
            </a:r>
            <a:r>
              <a:rPr lang="en-US" sz="1200" b="1" dirty="0" err="1" smtClean="0">
                <a:solidFill>
                  <a:srgbClr val="FFFFFF"/>
                </a:solidFill>
              </a:rPr>
              <a:t>Tùng</a:t>
            </a:r>
            <a:r>
              <a:rPr lang="en-US" sz="1200" dirty="0" smtClean="0">
                <a:solidFill>
                  <a:srgbClr val="FFFFFF"/>
                </a:solidFill>
              </a:rPr>
              <a:t>   |  Tung.NK251075M@sis.hust.edu.vn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Nội dung trình bày</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411480" y="841248"/>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411480" y="841248"/>
            <a:ext cx="54864" cy="658368"/>
          </a:xfrm>
          <a:prstGeom prst="rect">
            <a:avLst/>
          </a:prstGeom>
          <a:solidFill>
            <a:srgbClr val="0096B7"/>
          </a:solidFill>
          <a:ln w="12700">
            <a:solidFill>
              <a:srgbClr val="0096B7"/>
            </a:solidFill>
            <a:prstDash val="solid"/>
          </a:ln>
        </p:spPr>
      </p:sp>
      <p:sp>
        <p:nvSpPr>
          <p:cNvPr id="9" name="Text 7"/>
          <p:cNvSpPr/>
          <p:nvPr/>
        </p:nvSpPr>
        <p:spPr>
          <a:xfrm>
            <a:off x="521208" y="841248"/>
            <a:ext cx="594360" cy="658368"/>
          </a:xfrm>
          <a:prstGeom prst="rect">
            <a:avLst/>
          </a:prstGeom>
          <a:noFill/>
          <a:ln/>
        </p:spPr>
        <p:txBody>
          <a:bodyPr wrap="square" lIns="0" tIns="0" rIns="0" bIns="0" rtlCol="0" anchor="ctr"/>
          <a:lstStyle/>
          <a:p>
            <a:pPr marL="0" indent="0" algn="ctr">
              <a:buNone/>
            </a:pPr>
            <a:r>
              <a:rPr lang="en-US" sz="1800" b="1" dirty="0">
                <a:solidFill>
                  <a:srgbClr val="0096B7"/>
                </a:solidFill>
              </a:rPr>
              <a:t>01</a:t>
            </a:r>
            <a:endParaRPr lang="en-US" sz="1800" dirty="0"/>
          </a:p>
        </p:txBody>
      </p:sp>
      <p:sp>
        <p:nvSpPr>
          <p:cNvPr id="10" name="Text 8"/>
          <p:cNvSpPr/>
          <p:nvPr/>
        </p:nvSpPr>
        <p:spPr>
          <a:xfrm>
            <a:off x="1188720" y="886968"/>
            <a:ext cx="4114800" cy="320040"/>
          </a:xfrm>
          <a:prstGeom prst="rect">
            <a:avLst/>
          </a:prstGeom>
          <a:noFill/>
          <a:ln/>
        </p:spPr>
        <p:txBody>
          <a:bodyPr wrap="square" lIns="0" tIns="0" rIns="0" bIns="0" rtlCol="0" anchor="ctr"/>
          <a:lstStyle/>
          <a:p>
            <a:pPr marL="0" indent="0">
              <a:buNone/>
            </a:pPr>
            <a:r>
              <a:rPr lang="en-US" sz="1300" b="1" dirty="0">
                <a:solidFill>
                  <a:srgbClr val="0D1B2A"/>
                </a:solidFill>
              </a:rPr>
              <a:t>Vấn đề được giải quyết</a:t>
            </a:r>
            <a:endParaRPr lang="en-US" sz="1300" dirty="0"/>
          </a:p>
        </p:txBody>
      </p:sp>
      <p:sp>
        <p:nvSpPr>
          <p:cNvPr id="11" name="Text 9"/>
          <p:cNvSpPr/>
          <p:nvPr/>
        </p:nvSpPr>
        <p:spPr>
          <a:xfrm>
            <a:off x="1188720" y="1188720"/>
            <a:ext cx="7223760" cy="256032"/>
          </a:xfrm>
          <a:prstGeom prst="rect">
            <a:avLst/>
          </a:prstGeom>
          <a:noFill/>
          <a:ln/>
        </p:spPr>
        <p:txBody>
          <a:bodyPr wrap="square" lIns="0" tIns="0" rIns="0" bIns="0" rtlCol="0" anchor="ctr"/>
          <a:lstStyle/>
          <a:p>
            <a:pPr marL="0" indent="0">
              <a:buNone/>
            </a:pPr>
            <a:r>
              <a:rPr lang="en-US" sz="1000" dirty="0">
                <a:solidFill>
                  <a:srgbClr val="64748B"/>
                </a:solidFill>
              </a:rPr>
              <a:t>EDoS attack, cloud autoscaling, thị trường đám mây</a:t>
            </a:r>
            <a:endParaRPr lang="en-US" sz="1000" dirty="0"/>
          </a:p>
        </p:txBody>
      </p:sp>
      <p:sp>
        <p:nvSpPr>
          <p:cNvPr id="12" name="Shape 10"/>
          <p:cNvSpPr/>
          <p:nvPr/>
        </p:nvSpPr>
        <p:spPr>
          <a:xfrm>
            <a:off x="411480" y="1591056"/>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3" name="Shape 11"/>
          <p:cNvSpPr/>
          <p:nvPr/>
        </p:nvSpPr>
        <p:spPr>
          <a:xfrm>
            <a:off x="411480" y="1591056"/>
            <a:ext cx="54864" cy="658368"/>
          </a:xfrm>
          <a:prstGeom prst="rect">
            <a:avLst/>
          </a:prstGeom>
          <a:solidFill>
            <a:srgbClr val="0096B7"/>
          </a:solidFill>
          <a:ln w="12700">
            <a:solidFill>
              <a:srgbClr val="0096B7"/>
            </a:solidFill>
            <a:prstDash val="solid"/>
          </a:ln>
        </p:spPr>
      </p:sp>
      <p:sp>
        <p:nvSpPr>
          <p:cNvPr id="14" name="Text 12"/>
          <p:cNvSpPr/>
          <p:nvPr/>
        </p:nvSpPr>
        <p:spPr>
          <a:xfrm>
            <a:off x="521208" y="1591056"/>
            <a:ext cx="594360" cy="658368"/>
          </a:xfrm>
          <a:prstGeom prst="rect">
            <a:avLst/>
          </a:prstGeom>
          <a:noFill/>
          <a:ln/>
        </p:spPr>
        <p:txBody>
          <a:bodyPr wrap="square" lIns="0" tIns="0" rIns="0" bIns="0" rtlCol="0" anchor="ctr"/>
          <a:lstStyle/>
          <a:p>
            <a:pPr marL="0" indent="0" algn="ctr">
              <a:buNone/>
            </a:pPr>
            <a:r>
              <a:rPr lang="en-US" sz="1800" b="1" dirty="0">
                <a:solidFill>
                  <a:srgbClr val="0096B7"/>
                </a:solidFill>
              </a:rPr>
              <a:t>02</a:t>
            </a:r>
            <a:endParaRPr lang="en-US" sz="1800" dirty="0"/>
          </a:p>
        </p:txBody>
      </p:sp>
      <p:sp>
        <p:nvSpPr>
          <p:cNvPr id="15" name="Text 13"/>
          <p:cNvSpPr/>
          <p:nvPr/>
        </p:nvSpPr>
        <p:spPr>
          <a:xfrm>
            <a:off x="1188720" y="1636776"/>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Kiến</a:t>
            </a:r>
            <a:r>
              <a:rPr lang="en-US" sz="1300" b="1" dirty="0" smtClean="0">
                <a:solidFill>
                  <a:srgbClr val="0D1B2A"/>
                </a:solidFill>
              </a:rPr>
              <a:t> </a:t>
            </a:r>
            <a:r>
              <a:rPr lang="en-US" sz="1300" b="1" dirty="0" err="1" smtClean="0">
                <a:solidFill>
                  <a:srgbClr val="0D1B2A"/>
                </a:solidFill>
              </a:rPr>
              <a:t>thức</a:t>
            </a:r>
            <a:r>
              <a:rPr lang="en-US" sz="1300" b="1" dirty="0" smtClean="0">
                <a:solidFill>
                  <a:srgbClr val="0D1B2A"/>
                </a:solidFill>
              </a:rPr>
              <a:t> </a:t>
            </a:r>
            <a:r>
              <a:rPr lang="en-US" sz="1300" b="1" dirty="0" err="1" smtClean="0">
                <a:solidFill>
                  <a:srgbClr val="0D1B2A"/>
                </a:solidFill>
              </a:rPr>
              <a:t>nền</a:t>
            </a:r>
            <a:r>
              <a:rPr lang="en-US" sz="1300" b="1" dirty="0" smtClean="0">
                <a:solidFill>
                  <a:srgbClr val="0D1B2A"/>
                </a:solidFill>
              </a:rPr>
              <a:t> </a:t>
            </a:r>
            <a:r>
              <a:rPr lang="en-US" sz="1300" b="1" dirty="0" err="1" smtClean="0">
                <a:solidFill>
                  <a:srgbClr val="0D1B2A"/>
                </a:solidFill>
              </a:rPr>
              <a:t>tảng</a:t>
            </a:r>
            <a:endParaRPr lang="en-US" sz="1300" dirty="0"/>
          </a:p>
        </p:txBody>
      </p:sp>
      <p:sp>
        <p:nvSpPr>
          <p:cNvPr id="16" name="Text 14"/>
          <p:cNvSpPr/>
          <p:nvPr/>
        </p:nvSpPr>
        <p:spPr>
          <a:xfrm>
            <a:off x="1188720" y="1938528"/>
            <a:ext cx="7223760" cy="256032"/>
          </a:xfrm>
          <a:prstGeom prst="rect">
            <a:avLst/>
          </a:prstGeom>
          <a:noFill/>
          <a:ln/>
        </p:spPr>
        <p:txBody>
          <a:bodyPr wrap="square" lIns="0" tIns="0" rIns="0" bIns="0" rtlCol="0" anchor="ctr"/>
          <a:lstStyle/>
          <a:p>
            <a:r>
              <a:rPr lang="en-US" sz="1000" dirty="0">
                <a:solidFill>
                  <a:srgbClr val="64748B"/>
                </a:solidFill>
              </a:rPr>
              <a:t>Kubernetes/HPA, MDP, Semi-MDP, </a:t>
            </a:r>
            <a:r>
              <a:rPr lang="en-US" sz="1000" dirty="0" err="1">
                <a:solidFill>
                  <a:srgbClr val="64748B"/>
                </a:solidFill>
              </a:rPr>
              <a:t>Stackelberg</a:t>
            </a:r>
            <a:r>
              <a:rPr lang="en-US" sz="1000" dirty="0">
                <a:solidFill>
                  <a:srgbClr val="64748B"/>
                </a:solidFill>
              </a:rPr>
              <a:t> </a:t>
            </a:r>
            <a:r>
              <a:rPr lang="en-US" sz="1000" dirty="0" smtClean="0">
                <a:solidFill>
                  <a:srgbClr val="64748B"/>
                </a:solidFill>
              </a:rPr>
              <a:t>Game</a:t>
            </a:r>
            <a:endParaRPr lang="en-US" sz="1000" dirty="0"/>
          </a:p>
        </p:txBody>
      </p:sp>
      <p:sp>
        <p:nvSpPr>
          <p:cNvPr id="17" name="Shape 15"/>
          <p:cNvSpPr/>
          <p:nvPr/>
        </p:nvSpPr>
        <p:spPr>
          <a:xfrm>
            <a:off x="411480" y="2340864"/>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8" name="Shape 16"/>
          <p:cNvSpPr/>
          <p:nvPr/>
        </p:nvSpPr>
        <p:spPr>
          <a:xfrm>
            <a:off x="411480" y="2340864"/>
            <a:ext cx="54864" cy="658368"/>
          </a:xfrm>
          <a:prstGeom prst="rect">
            <a:avLst/>
          </a:prstGeom>
          <a:solidFill>
            <a:srgbClr val="F47B20"/>
          </a:solidFill>
          <a:ln w="12700">
            <a:solidFill>
              <a:srgbClr val="F47B20"/>
            </a:solidFill>
            <a:prstDash val="solid"/>
          </a:ln>
        </p:spPr>
      </p:sp>
      <p:sp>
        <p:nvSpPr>
          <p:cNvPr id="19" name="Text 17"/>
          <p:cNvSpPr/>
          <p:nvPr/>
        </p:nvSpPr>
        <p:spPr>
          <a:xfrm>
            <a:off x="521208" y="2340864"/>
            <a:ext cx="594360" cy="658368"/>
          </a:xfrm>
          <a:prstGeom prst="rect">
            <a:avLst/>
          </a:prstGeom>
          <a:noFill/>
          <a:ln/>
        </p:spPr>
        <p:txBody>
          <a:bodyPr wrap="square" lIns="0" tIns="0" rIns="0" bIns="0" rtlCol="0" anchor="ctr"/>
          <a:lstStyle/>
          <a:p>
            <a:pPr marL="0" indent="0" algn="ctr">
              <a:buNone/>
            </a:pPr>
            <a:r>
              <a:rPr lang="en-US" sz="1800" b="1" dirty="0">
                <a:solidFill>
                  <a:srgbClr val="F47B20"/>
                </a:solidFill>
              </a:rPr>
              <a:t>03</a:t>
            </a:r>
            <a:endParaRPr lang="en-US" sz="1800" dirty="0"/>
          </a:p>
        </p:txBody>
      </p:sp>
      <p:sp>
        <p:nvSpPr>
          <p:cNvPr id="20" name="Text 18"/>
          <p:cNvSpPr/>
          <p:nvPr/>
        </p:nvSpPr>
        <p:spPr>
          <a:xfrm>
            <a:off x="1188720" y="2386584"/>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Giải</a:t>
            </a:r>
            <a:r>
              <a:rPr lang="en-US" sz="1300" b="1" dirty="0" smtClean="0">
                <a:solidFill>
                  <a:srgbClr val="0D1B2A"/>
                </a:solidFill>
              </a:rPr>
              <a:t> </a:t>
            </a:r>
            <a:r>
              <a:rPr lang="en-US" sz="1300" b="1" dirty="0" err="1" smtClean="0">
                <a:solidFill>
                  <a:srgbClr val="0D1B2A"/>
                </a:solidFill>
              </a:rPr>
              <a:t>pháp</a:t>
            </a:r>
            <a:r>
              <a:rPr lang="en-US" sz="1300" b="1" dirty="0" smtClean="0">
                <a:solidFill>
                  <a:srgbClr val="0D1B2A"/>
                </a:solidFill>
              </a:rPr>
              <a:t> </a:t>
            </a:r>
            <a:r>
              <a:rPr lang="en-US" sz="1300" b="1" dirty="0" err="1" smtClean="0">
                <a:solidFill>
                  <a:srgbClr val="0D1B2A"/>
                </a:solidFill>
              </a:rPr>
              <a:t>đề</a:t>
            </a:r>
            <a:r>
              <a:rPr lang="en-US" sz="1300" b="1" dirty="0" smtClean="0">
                <a:solidFill>
                  <a:srgbClr val="0D1B2A"/>
                </a:solidFill>
              </a:rPr>
              <a:t> </a:t>
            </a:r>
            <a:r>
              <a:rPr lang="en-US" sz="1300" b="1" dirty="0" err="1" smtClean="0">
                <a:solidFill>
                  <a:srgbClr val="0D1B2A"/>
                </a:solidFill>
              </a:rPr>
              <a:t>xuất</a:t>
            </a:r>
            <a:endParaRPr lang="en-US" sz="1300" dirty="0"/>
          </a:p>
        </p:txBody>
      </p:sp>
      <p:sp>
        <p:nvSpPr>
          <p:cNvPr id="21" name="Text 19"/>
          <p:cNvSpPr/>
          <p:nvPr/>
        </p:nvSpPr>
        <p:spPr>
          <a:xfrm>
            <a:off x="1188720" y="2688336"/>
            <a:ext cx="7223760" cy="256032"/>
          </a:xfrm>
          <a:prstGeom prst="rect">
            <a:avLst/>
          </a:prstGeom>
          <a:noFill/>
          <a:ln/>
        </p:spPr>
        <p:txBody>
          <a:bodyPr wrap="square" lIns="0" tIns="0" rIns="0" bIns="0" rtlCol="0" anchor="ctr"/>
          <a:lstStyle/>
          <a:p>
            <a:pPr marL="0" indent="0">
              <a:buNone/>
            </a:pPr>
            <a:r>
              <a:rPr lang="en-US" sz="1000" dirty="0" err="1" smtClean="0">
                <a:solidFill>
                  <a:srgbClr val="64748B"/>
                </a:solidFill>
              </a:rPr>
              <a:t>Mô</a:t>
            </a:r>
            <a:r>
              <a:rPr lang="en-US" sz="1000" dirty="0" smtClean="0">
                <a:solidFill>
                  <a:srgbClr val="64748B"/>
                </a:solidFill>
              </a:rPr>
              <a:t> </a:t>
            </a:r>
            <a:r>
              <a:rPr lang="en-US" sz="1000" dirty="0" err="1" smtClean="0">
                <a:solidFill>
                  <a:srgbClr val="64748B"/>
                </a:solidFill>
              </a:rPr>
              <a:t>hình</a:t>
            </a:r>
            <a:r>
              <a:rPr lang="en-US" sz="1000" dirty="0" smtClean="0">
                <a:solidFill>
                  <a:srgbClr val="64748B"/>
                </a:solidFill>
              </a:rPr>
              <a:t> </a:t>
            </a:r>
            <a:r>
              <a:rPr lang="en-US" sz="1000" dirty="0" err="1" smtClean="0">
                <a:solidFill>
                  <a:srgbClr val="64748B"/>
                </a:solidFill>
              </a:rPr>
              <a:t>stackelberg</a:t>
            </a:r>
            <a:r>
              <a:rPr lang="en-US" sz="1000" dirty="0" smtClean="0">
                <a:solidFill>
                  <a:srgbClr val="64748B"/>
                </a:solidFill>
              </a:rPr>
              <a:t> 2 </a:t>
            </a:r>
            <a:r>
              <a:rPr lang="en-US" sz="1000" dirty="0" err="1" smtClean="0">
                <a:solidFill>
                  <a:srgbClr val="64748B"/>
                </a:solidFill>
              </a:rPr>
              <a:t>giai</a:t>
            </a:r>
            <a:r>
              <a:rPr lang="en-US" sz="1000" dirty="0" smtClean="0">
                <a:solidFill>
                  <a:srgbClr val="64748B"/>
                </a:solidFill>
              </a:rPr>
              <a:t> </a:t>
            </a:r>
            <a:r>
              <a:rPr lang="en-US" sz="1000" dirty="0" err="1" smtClean="0">
                <a:solidFill>
                  <a:srgbClr val="64748B"/>
                </a:solidFill>
              </a:rPr>
              <a:t>đoạn</a:t>
            </a:r>
            <a:endParaRPr lang="en-US" sz="1000" dirty="0"/>
          </a:p>
        </p:txBody>
      </p:sp>
      <p:sp>
        <p:nvSpPr>
          <p:cNvPr id="22" name="Shape 20"/>
          <p:cNvSpPr/>
          <p:nvPr/>
        </p:nvSpPr>
        <p:spPr>
          <a:xfrm>
            <a:off x="411480" y="3090672"/>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3" name="Shape 21"/>
          <p:cNvSpPr/>
          <p:nvPr/>
        </p:nvSpPr>
        <p:spPr>
          <a:xfrm>
            <a:off x="411480" y="3090672"/>
            <a:ext cx="54864" cy="658368"/>
          </a:xfrm>
          <a:prstGeom prst="rect">
            <a:avLst/>
          </a:prstGeom>
          <a:solidFill>
            <a:srgbClr val="F47B20"/>
          </a:solidFill>
          <a:ln w="12700">
            <a:solidFill>
              <a:srgbClr val="F47B20"/>
            </a:solidFill>
            <a:prstDash val="solid"/>
          </a:ln>
        </p:spPr>
      </p:sp>
      <p:sp>
        <p:nvSpPr>
          <p:cNvPr id="24" name="Text 22"/>
          <p:cNvSpPr/>
          <p:nvPr/>
        </p:nvSpPr>
        <p:spPr>
          <a:xfrm>
            <a:off x="521208" y="3090672"/>
            <a:ext cx="594360" cy="658368"/>
          </a:xfrm>
          <a:prstGeom prst="rect">
            <a:avLst/>
          </a:prstGeom>
          <a:noFill/>
          <a:ln/>
        </p:spPr>
        <p:txBody>
          <a:bodyPr wrap="square" lIns="0" tIns="0" rIns="0" bIns="0" rtlCol="0" anchor="ctr"/>
          <a:lstStyle/>
          <a:p>
            <a:pPr marL="0" indent="0" algn="ctr">
              <a:buNone/>
            </a:pPr>
            <a:r>
              <a:rPr lang="en-US" sz="1800" b="1" dirty="0">
                <a:solidFill>
                  <a:srgbClr val="F47B20"/>
                </a:solidFill>
              </a:rPr>
              <a:t>04</a:t>
            </a:r>
            <a:endParaRPr lang="en-US" sz="1800" dirty="0"/>
          </a:p>
        </p:txBody>
      </p:sp>
      <p:sp>
        <p:nvSpPr>
          <p:cNvPr id="25" name="Text 23"/>
          <p:cNvSpPr/>
          <p:nvPr/>
        </p:nvSpPr>
        <p:spPr>
          <a:xfrm>
            <a:off x="1188720" y="3136392"/>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Triển</a:t>
            </a:r>
            <a:r>
              <a:rPr lang="en-US" sz="1300" b="1" dirty="0" smtClean="0">
                <a:solidFill>
                  <a:srgbClr val="0D1B2A"/>
                </a:solidFill>
              </a:rPr>
              <a:t> </a:t>
            </a:r>
            <a:r>
              <a:rPr lang="en-US" sz="1300" b="1" dirty="0" err="1" smtClean="0">
                <a:solidFill>
                  <a:srgbClr val="0D1B2A"/>
                </a:solidFill>
              </a:rPr>
              <a:t>khai</a:t>
            </a:r>
            <a:r>
              <a:rPr lang="en-US" sz="1300" b="1" dirty="0" smtClean="0">
                <a:solidFill>
                  <a:srgbClr val="0D1B2A"/>
                </a:solidFill>
              </a:rPr>
              <a:t> </a:t>
            </a:r>
            <a:r>
              <a:rPr lang="en-US" sz="1300" b="1" dirty="0" err="1" smtClean="0">
                <a:solidFill>
                  <a:srgbClr val="0D1B2A"/>
                </a:solidFill>
              </a:rPr>
              <a:t>đánh</a:t>
            </a:r>
            <a:r>
              <a:rPr lang="en-US" sz="1300" b="1" dirty="0" smtClean="0">
                <a:solidFill>
                  <a:srgbClr val="0D1B2A"/>
                </a:solidFill>
              </a:rPr>
              <a:t> </a:t>
            </a:r>
            <a:r>
              <a:rPr lang="en-US" sz="1300" b="1" dirty="0" err="1" smtClean="0">
                <a:solidFill>
                  <a:srgbClr val="0D1B2A"/>
                </a:solidFill>
              </a:rPr>
              <a:t>giá</a:t>
            </a:r>
            <a:r>
              <a:rPr lang="en-US" sz="1300" b="1" dirty="0" smtClean="0">
                <a:solidFill>
                  <a:srgbClr val="0D1B2A"/>
                </a:solidFill>
              </a:rPr>
              <a:t> </a:t>
            </a:r>
            <a:r>
              <a:rPr lang="en-US" sz="1300" b="1" dirty="0" err="1" smtClean="0">
                <a:solidFill>
                  <a:srgbClr val="0D1B2A"/>
                </a:solidFill>
              </a:rPr>
              <a:t>thực</a:t>
            </a:r>
            <a:r>
              <a:rPr lang="en-US" sz="1300" b="1" dirty="0" smtClean="0">
                <a:solidFill>
                  <a:srgbClr val="0D1B2A"/>
                </a:solidFill>
              </a:rPr>
              <a:t> </a:t>
            </a:r>
            <a:r>
              <a:rPr lang="en-US" sz="1300" b="1" dirty="0" err="1" smtClean="0">
                <a:solidFill>
                  <a:srgbClr val="0D1B2A"/>
                </a:solidFill>
              </a:rPr>
              <a:t>nghiệm</a:t>
            </a:r>
            <a:endParaRPr lang="en-US" sz="1300" dirty="0"/>
          </a:p>
        </p:txBody>
      </p:sp>
      <p:sp>
        <p:nvSpPr>
          <p:cNvPr id="26" name="Text 24"/>
          <p:cNvSpPr/>
          <p:nvPr/>
        </p:nvSpPr>
        <p:spPr>
          <a:xfrm>
            <a:off x="1188720" y="3438144"/>
            <a:ext cx="7223760" cy="256032"/>
          </a:xfrm>
          <a:prstGeom prst="rect">
            <a:avLst/>
          </a:prstGeom>
          <a:noFill/>
          <a:ln/>
        </p:spPr>
        <p:txBody>
          <a:bodyPr wrap="square" lIns="0" tIns="0" rIns="0" bIns="0" rtlCol="0" anchor="ctr"/>
          <a:lstStyle/>
          <a:p>
            <a:pPr marL="0" indent="0">
              <a:buNone/>
            </a:pPr>
            <a:r>
              <a:rPr lang="en-US" sz="1000" dirty="0" smtClean="0">
                <a:solidFill>
                  <a:srgbClr val="64748B"/>
                </a:solidFill>
              </a:rPr>
              <a:t>Demo </a:t>
            </a:r>
            <a:r>
              <a:rPr lang="en-US" sz="1000" dirty="0" err="1" smtClean="0">
                <a:solidFill>
                  <a:srgbClr val="64748B"/>
                </a:solidFill>
              </a:rPr>
              <a:t>thực</a:t>
            </a:r>
            <a:r>
              <a:rPr lang="en-US" sz="1000" dirty="0" smtClean="0">
                <a:solidFill>
                  <a:srgbClr val="64748B"/>
                </a:solidFill>
              </a:rPr>
              <a:t> </a:t>
            </a:r>
            <a:r>
              <a:rPr lang="en-US" sz="1000" dirty="0" err="1" smtClean="0">
                <a:solidFill>
                  <a:srgbClr val="64748B"/>
                </a:solidFill>
              </a:rPr>
              <a:t>nghiệm</a:t>
            </a:r>
            <a:r>
              <a:rPr lang="en-US" sz="1000" dirty="0" smtClean="0">
                <a:solidFill>
                  <a:srgbClr val="64748B"/>
                </a:solidFill>
              </a:rPr>
              <a:t> </a:t>
            </a:r>
            <a:r>
              <a:rPr lang="en-US" sz="1000" dirty="0" err="1" smtClean="0">
                <a:solidFill>
                  <a:srgbClr val="64748B"/>
                </a:solidFill>
              </a:rPr>
              <a:t>tấn</a:t>
            </a:r>
            <a:r>
              <a:rPr lang="en-US" sz="1000" dirty="0" smtClean="0">
                <a:solidFill>
                  <a:srgbClr val="64748B"/>
                </a:solidFill>
              </a:rPr>
              <a:t> </a:t>
            </a:r>
            <a:r>
              <a:rPr lang="en-US" sz="1000" dirty="0" err="1" smtClean="0">
                <a:solidFill>
                  <a:srgbClr val="64748B"/>
                </a:solidFill>
              </a:rPr>
              <a:t>công</a:t>
            </a:r>
            <a:r>
              <a:rPr lang="en-US" sz="1000" dirty="0" smtClean="0">
                <a:solidFill>
                  <a:srgbClr val="64748B"/>
                </a:solidFill>
              </a:rPr>
              <a:t> </a:t>
            </a:r>
            <a:r>
              <a:rPr lang="en-US" sz="1000" dirty="0" err="1" smtClean="0">
                <a:solidFill>
                  <a:srgbClr val="64748B"/>
                </a:solidFill>
              </a:rPr>
              <a:t>và</a:t>
            </a:r>
            <a:r>
              <a:rPr lang="en-US" sz="1000" dirty="0" smtClean="0">
                <a:solidFill>
                  <a:srgbClr val="64748B"/>
                </a:solidFill>
              </a:rPr>
              <a:t> </a:t>
            </a:r>
            <a:r>
              <a:rPr lang="en-US" sz="1000" dirty="0" err="1" smtClean="0">
                <a:solidFill>
                  <a:srgbClr val="64748B"/>
                </a:solidFill>
              </a:rPr>
              <a:t>phòng</a:t>
            </a:r>
            <a:r>
              <a:rPr lang="en-US" sz="1000" dirty="0" smtClean="0">
                <a:solidFill>
                  <a:srgbClr val="64748B"/>
                </a:solidFill>
              </a:rPr>
              <a:t> </a:t>
            </a:r>
            <a:r>
              <a:rPr lang="en-US" sz="1000" dirty="0" err="1" smtClean="0">
                <a:solidFill>
                  <a:srgbClr val="64748B"/>
                </a:solidFill>
              </a:rPr>
              <a:t>thủ</a:t>
            </a:r>
            <a:endParaRPr lang="en-US" sz="1000" dirty="0"/>
          </a:p>
        </p:txBody>
      </p:sp>
      <p:sp>
        <p:nvSpPr>
          <p:cNvPr id="27" name="Shape 25"/>
          <p:cNvSpPr/>
          <p:nvPr/>
        </p:nvSpPr>
        <p:spPr>
          <a:xfrm>
            <a:off x="411480" y="3840480"/>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8" name="Shape 26"/>
          <p:cNvSpPr/>
          <p:nvPr/>
        </p:nvSpPr>
        <p:spPr>
          <a:xfrm>
            <a:off x="411480" y="3840480"/>
            <a:ext cx="54864" cy="658368"/>
          </a:xfrm>
          <a:prstGeom prst="rect">
            <a:avLst/>
          </a:prstGeom>
          <a:solidFill>
            <a:srgbClr val="006A85"/>
          </a:solidFill>
          <a:ln w="12700">
            <a:solidFill>
              <a:srgbClr val="006A85"/>
            </a:solidFill>
            <a:prstDash val="solid"/>
          </a:ln>
        </p:spPr>
      </p:sp>
      <p:sp>
        <p:nvSpPr>
          <p:cNvPr id="29" name="Text 27"/>
          <p:cNvSpPr/>
          <p:nvPr/>
        </p:nvSpPr>
        <p:spPr>
          <a:xfrm>
            <a:off x="521208" y="3840480"/>
            <a:ext cx="594360" cy="658368"/>
          </a:xfrm>
          <a:prstGeom prst="rect">
            <a:avLst/>
          </a:prstGeom>
          <a:noFill/>
          <a:ln/>
        </p:spPr>
        <p:txBody>
          <a:bodyPr wrap="square" lIns="0" tIns="0" rIns="0" bIns="0" rtlCol="0" anchor="ctr"/>
          <a:lstStyle/>
          <a:p>
            <a:pPr marL="0" indent="0" algn="ctr">
              <a:buNone/>
            </a:pPr>
            <a:r>
              <a:rPr lang="en-US" sz="1800" b="1" dirty="0">
                <a:solidFill>
                  <a:srgbClr val="006A85"/>
                </a:solidFill>
              </a:rPr>
              <a:t>05</a:t>
            </a:r>
            <a:endParaRPr lang="en-US" sz="1800" dirty="0"/>
          </a:p>
        </p:txBody>
      </p:sp>
      <p:sp>
        <p:nvSpPr>
          <p:cNvPr id="30" name="Text 28"/>
          <p:cNvSpPr/>
          <p:nvPr/>
        </p:nvSpPr>
        <p:spPr>
          <a:xfrm>
            <a:off x="1188720" y="3886200"/>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Kết</a:t>
            </a:r>
            <a:r>
              <a:rPr lang="en-US" sz="1300" b="1" dirty="0" smtClean="0">
                <a:solidFill>
                  <a:srgbClr val="0D1B2A"/>
                </a:solidFill>
              </a:rPr>
              <a:t> </a:t>
            </a:r>
            <a:r>
              <a:rPr lang="en-US" sz="1300" b="1" dirty="0" err="1" smtClean="0">
                <a:solidFill>
                  <a:srgbClr val="0D1B2A"/>
                </a:solidFill>
              </a:rPr>
              <a:t>quả</a:t>
            </a:r>
            <a:r>
              <a:rPr lang="en-US" sz="1300" b="1" dirty="0" smtClean="0">
                <a:solidFill>
                  <a:srgbClr val="0D1B2A"/>
                </a:solidFill>
              </a:rPr>
              <a:t> </a:t>
            </a:r>
            <a:r>
              <a:rPr lang="en-US" sz="1300" b="1" dirty="0" err="1" smtClean="0">
                <a:solidFill>
                  <a:srgbClr val="0D1B2A"/>
                </a:solidFill>
              </a:rPr>
              <a:t>và</a:t>
            </a:r>
            <a:r>
              <a:rPr lang="en-US" sz="1300" b="1" dirty="0" smtClean="0">
                <a:solidFill>
                  <a:srgbClr val="0D1B2A"/>
                </a:solidFill>
              </a:rPr>
              <a:t> </a:t>
            </a:r>
            <a:r>
              <a:rPr lang="en-US" sz="1300" b="1" dirty="0" err="1" smtClean="0">
                <a:solidFill>
                  <a:srgbClr val="0D1B2A"/>
                </a:solidFill>
              </a:rPr>
              <a:t>thảo</a:t>
            </a:r>
            <a:r>
              <a:rPr lang="en-US" sz="1300" b="1" dirty="0" smtClean="0">
                <a:solidFill>
                  <a:srgbClr val="0D1B2A"/>
                </a:solidFill>
              </a:rPr>
              <a:t> </a:t>
            </a:r>
            <a:r>
              <a:rPr lang="en-US" sz="1300" b="1" dirty="0" err="1" smtClean="0">
                <a:solidFill>
                  <a:srgbClr val="0D1B2A"/>
                </a:solidFill>
              </a:rPr>
              <a:t>luận</a:t>
            </a:r>
            <a:endParaRPr lang="en-US" sz="1300" dirty="0"/>
          </a:p>
        </p:txBody>
      </p:sp>
      <p:sp>
        <p:nvSpPr>
          <p:cNvPr id="31" name="Text 29"/>
          <p:cNvSpPr/>
          <p:nvPr/>
        </p:nvSpPr>
        <p:spPr>
          <a:xfrm>
            <a:off x="1188720" y="4187952"/>
            <a:ext cx="7223760" cy="256032"/>
          </a:xfrm>
          <a:prstGeom prst="rect">
            <a:avLst/>
          </a:prstGeom>
          <a:noFill/>
          <a:ln/>
        </p:spPr>
        <p:txBody>
          <a:bodyPr wrap="square" lIns="0" tIns="0" rIns="0" bIns="0" rtlCol="0" anchor="ctr"/>
          <a:lstStyle/>
          <a:p>
            <a:pPr marL="0" indent="0">
              <a:buNone/>
            </a:pPr>
            <a:r>
              <a:rPr lang="en-US" sz="1000" dirty="0" err="1" smtClean="0">
                <a:solidFill>
                  <a:srgbClr val="64748B"/>
                </a:solidFill>
              </a:rPr>
              <a:t>Kết</a:t>
            </a:r>
            <a:r>
              <a:rPr lang="en-US" sz="1000" dirty="0" smtClean="0">
                <a:solidFill>
                  <a:srgbClr val="64748B"/>
                </a:solidFill>
              </a:rPr>
              <a:t> </a:t>
            </a:r>
            <a:r>
              <a:rPr lang="en-US" sz="1000" dirty="0" err="1" smtClean="0">
                <a:solidFill>
                  <a:srgbClr val="64748B"/>
                </a:solidFill>
              </a:rPr>
              <a:t>luận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01 · Vấn đề được giải quyết</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411480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31920"/>
          </a:xfrm>
          <a:prstGeom prst="rect">
            <a:avLst/>
          </a:prstGeom>
          <a:solidFill>
            <a:srgbClr val="0096B7"/>
          </a:solidFill>
          <a:ln w="12700">
            <a:solidFill>
              <a:srgbClr val="0096B7"/>
            </a:solidFill>
            <a:prstDash val="solid"/>
          </a:ln>
        </p:spPr>
      </p:sp>
      <p:sp>
        <p:nvSpPr>
          <p:cNvPr id="9" name="Text 7"/>
          <p:cNvSpPr/>
          <p:nvPr/>
        </p:nvSpPr>
        <p:spPr>
          <a:xfrm>
            <a:off x="457200" y="841248"/>
            <a:ext cx="3749040" cy="320040"/>
          </a:xfrm>
          <a:prstGeom prst="rect">
            <a:avLst/>
          </a:prstGeom>
          <a:noFill/>
          <a:ln/>
        </p:spPr>
        <p:txBody>
          <a:bodyPr wrap="square" lIns="0" tIns="0" rIns="0" bIns="0" rtlCol="0" anchor="ctr"/>
          <a:lstStyle/>
          <a:p>
            <a:pPr marL="0" indent="0">
              <a:buNone/>
            </a:pPr>
            <a:r>
              <a:rPr lang="en-US" sz="1300" b="1" dirty="0">
                <a:solidFill>
                  <a:srgbClr val="0D1B2A"/>
                </a:solidFill>
              </a:rPr>
              <a:t>Bối cảnh</a:t>
            </a:r>
            <a:endParaRPr lang="en-US" sz="1300" dirty="0"/>
          </a:p>
        </p:txBody>
      </p:sp>
      <p:sp>
        <p:nvSpPr>
          <p:cNvPr id="10" name="Text 8"/>
          <p:cNvSpPr/>
          <p:nvPr/>
        </p:nvSpPr>
        <p:spPr>
          <a:xfrm>
            <a:off x="457200" y="1216152"/>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Thị trường cloud công cộng dự kiến đạt 725 tỷ USD năm 2025 [2]</a:t>
            </a:r>
            <a:endParaRPr lang="en-US" sz="1100" dirty="0"/>
          </a:p>
        </p:txBody>
      </p:sp>
      <p:sp>
        <p:nvSpPr>
          <p:cNvPr id="11" name="Text 9"/>
          <p:cNvSpPr/>
          <p:nvPr/>
        </p:nvSpPr>
        <p:spPr>
          <a:xfrm>
            <a:off x="457200" y="1874520"/>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Kubernetes trở thành nền tảng orchestration container hàng đầu [3]</a:t>
            </a:r>
            <a:endParaRPr lang="en-US" sz="1100" dirty="0"/>
          </a:p>
        </p:txBody>
      </p:sp>
      <p:sp>
        <p:nvSpPr>
          <p:cNvPr id="12" name="Text 10"/>
          <p:cNvSpPr/>
          <p:nvPr/>
        </p:nvSpPr>
        <p:spPr>
          <a:xfrm>
            <a:off x="457200" y="2532888"/>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Autoscaling = lợi thế cạnh tranh nhưng cũng là điểm yếu mới</a:t>
            </a:r>
            <a:endParaRPr lang="en-US" sz="1100" dirty="0"/>
          </a:p>
        </p:txBody>
      </p:sp>
      <p:sp>
        <p:nvSpPr>
          <p:cNvPr id="13" name="Text 11"/>
          <p:cNvSpPr/>
          <p:nvPr/>
        </p:nvSpPr>
        <p:spPr>
          <a:xfrm>
            <a:off x="457200" y="3191256"/>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Tấn công DDoS truyền thống đã có phòng thủ → EDoS là mối đe dọa mới [1]</a:t>
            </a:r>
            <a:endParaRPr lang="en-US" sz="1100" dirty="0"/>
          </a:p>
        </p:txBody>
      </p:sp>
      <p:sp>
        <p:nvSpPr>
          <p:cNvPr id="14" name="Shape 12"/>
          <p:cNvSpPr/>
          <p:nvPr/>
        </p:nvSpPr>
        <p:spPr>
          <a:xfrm>
            <a:off x="4572000" y="804672"/>
            <a:ext cx="4251960" cy="3931920"/>
          </a:xfrm>
          <a:prstGeom prst="rect">
            <a:avLst/>
          </a:prstGeom>
          <a:solidFill>
            <a:srgbClr val="0D1B2A"/>
          </a:solidFill>
          <a:ln w="9525">
            <a:solidFill>
              <a:srgbClr val="D4E3EE"/>
            </a:solidFill>
            <a:prstDash val="solid"/>
          </a:ln>
          <a:effectLst>
            <a:outerShdw blurRad="63500" dist="25400" dir="8100000" algn="bl" rotWithShape="0">
              <a:srgbClr val="000000">
                <a:alpha val="7000"/>
              </a:srgbClr>
            </a:outerShdw>
          </a:effectLst>
        </p:spPr>
      </p:sp>
      <p:sp>
        <p:nvSpPr>
          <p:cNvPr id="15" name="Text 13"/>
          <p:cNvSpPr/>
          <p:nvPr/>
        </p:nvSpPr>
        <p:spPr>
          <a:xfrm>
            <a:off x="4736592" y="868680"/>
            <a:ext cx="3840480" cy="347472"/>
          </a:xfrm>
          <a:prstGeom prst="rect">
            <a:avLst/>
          </a:prstGeom>
          <a:noFill/>
          <a:ln/>
        </p:spPr>
        <p:txBody>
          <a:bodyPr wrap="square" lIns="0" tIns="0" rIns="0" bIns="0" rtlCol="0" anchor="ctr"/>
          <a:lstStyle/>
          <a:p>
            <a:pPr marL="0" indent="0">
              <a:buNone/>
            </a:pPr>
            <a:r>
              <a:rPr lang="en-US" sz="1300" b="1" dirty="0">
                <a:solidFill>
                  <a:srgbClr val="0096B7"/>
                </a:solidFill>
              </a:rPr>
              <a:t>EDoS là gì?</a:t>
            </a:r>
            <a:endParaRPr lang="en-US" sz="1300" dirty="0"/>
          </a:p>
        </p:txBody>
      </p:sp>
      <p:sp>
        <p:nvSpPr>
          <p:cNvPr id="16" name="Text 14"/>
          <p:cNvSpPr/>
          <p:nvPr/>
        </p:nvSpPr>
        <p:spPr>
          <a:xfrm>
            <a:off x="4736592" y="1261872"/>
            <a:ext cx="3840480" cy="777240"/>
          </a:xfrm>
          <a:prstGeom prst="rect">
            <a:avLst/>
          </a:prstGeom>
          <a:noFill/>
          <a:ln/>
        </p:spPr>
        <p:txBody>
          <a:bodyPr wrap="square" lIns="0" tIns="0" rIns="0" bIns="0" rtlCol="0" anchor="ctr"/>
          <a:lstStyle/>
          <a:p>
            <a:pPr marL="0" indent="0">
              <a:buNone/>
            </a:pPr>
            <a:r>
              <a:rPr lang="en-US" sz="1800" b="1" dirty="0">
                <a:solidFill>
                  <a:srgbClr val="FFFFFF"/>
                </a:solidFill>
              </a:rPr>
              <a:t>Economic Denial</a:t>
            </a:r>
            <a:endParaRPr lang="en-US" sz="1800" dirty="0"/>
          </a:p>
          <a:p>
            <a:pPr marL="0" indent="0">
              <a:buNone/>
            </a:pPr>
            <a:r>
              <a:rPr lang="en-US" sz="1800" b="1" dirty="0">
                <a:solidFill>
                  <a:srgbClr val="FFFFFF"/>
                </a:solidFill>
              </a:rPr>
              <a:t>of Sustainability</a:t>
            </a:r>
            <a:endParaRPr lang="en-US" sz="1800" dirty="0"/>
          </a:p>
        </p:txBody>
      </p:sp>
      <p:sp>
        <p:nvSpPr>
          <p:cNvPr id="17" name="Text 15"/>
          <p:cNvSpPr/>
          <p:nvPr/>
        </p:nvSpPr>
        <p:spPr>
          <a:xfrm>
            <a:off x="4736592" y="2084832"/>
            <a:ext cx="3840480" cy="822960"/>
          </a:xfrm>
          <a:prstGeom prst="rect">
            <a:avLst/>
          </a:prstGeom>
          <a:noFill/>
          <a:ln/>
        </p:spPr>
        <p:txBody>
          <a:bodyPr wrap="square" lIns="0" tIns="0" rIns="0" bIns="0" rtlCol="0" anchor="ctr"/>
          <a:lstStyle/>
          <a:p>
            <a:pPr marL="0" indent="0">
              <a:buNone/>
            </a:pPr>
            <a:r>
              <a:rPr lang="en-US" sz="1050" dirty="0">
                <a:solidFill>
                  <a:srgbClr val="B8D4E8"/>
                </a:solidFill>
              </a:rPr>
              <a:t>Tấn công không làm sập hệ thống ngay lập tức — mà ép nạn nhân cạn kiệt tài chính bằng cách khai thác autoscaling để phát sinh chi phí khổng lồ.</a:t>
            </a:r>
            <a:endParaRPr lang="en-US" sz="1050" dirty="0"/>
          </a:p>
        </p:txBody>
      </p:sp>
      <p:sp>
        <p:nvSpPr>
          <p:cNvPr id="18" name="Shape 16"/>
          <p:cNvSpPr/>
          <p:nvPr/>
        </p:nvSpPr>
        <p:spPr>
          <a:xfrm>
            <a:off x="4736592" y="2999232"/>
            <a:ext cx="1207008" cy="1536192"/>
          </a:xfrm>
          <a:prstGeom prst="rect">
            <a:avLst/>
          </a:prstGeom>
          <a:solidFill>
            <a:srgbClr val="162435"/>
          </a:solidFill>
          <a:ln w="12700">
            <a:solidFill>
              <a:srgbClr val="F47B20"/>
            </a:solidFill>
            <a:prstDash val="solid"/>
          </a:ln>
        </p:spPr>
      </p:sp>
      <p:sp>
        <p:nvSpPr>
          <p:cNvPr id="19" name="Text 17"/>
          <p:cNvSpPr/>
          <p:nvPr/>
        </p:nvSpPr>
        <p:spPr>
          <a:xfrm>
            <a:off x="4736592" y="3044952"/>
            <a:ext cx="1207008" cy="640080"/>
          </a:xfrm>
          <a:prstGeom prst="rect">
            <a:avLst/>
          </a:prstGeom>
          <a:noFill/>
          <a:ln/>
        </p:spPr>
        <p:txBody>
          <a:bodyPr wrap="square" lIns="0" tIns="0" rIns="0" bIns="0" rtlCol="0" anchor="ctr"/>
          <a:lstStyle/>
          <a:p>
            <a:pPr marL="0" indent="0" algn="ctr">
              <a:buNone/>
            </a:pPr>
            <a:r>
              <a:rPr lang="en-US" sz="1800" b="1" dirty="0">
                <a:solidFill>
                  <a:srgbClr val="F47B20"/>
                </a:solidFill>
              </a:rPr>
              <a:t>$$$</a:t>
            </a:r>
            <a:endParaRPr lang="en-US" sz="1800" dirty="0"/>
          </a:p>
        </p:txBody>
      </p:sp>
      <p:sp>
        <p:nvSpPr>
          <p:cNvPr id="20" name="Text 18"/>
          <p:cNvSpPr/>
          <p:nvPr/>
        </p:nvSpPr>
        <p:spPr>
          <a:xfrm>
            <a:off x="4736592" y="3703320"/>
            <a:ext cx="1207008" cy="713232"/>
          </a:xfrm>
          <a:prstGeom prst="rect">
            <a:avLst/>
          </a:prstGeom>
          <a:noFill/>
          <a:ln/>
        </p:spPr>
        <p:txBody>
          <a:bodyPr wrap="square" lIns="0" tIns="0" rIns="0" bIns="0" rtlCol="0" anchor="ctr"/>
          <a:lstStyle/>
          <a:p>
            <a:pPr marL="0" indent="0" algn="ctr">
              <a:buNone/>
            </a:pPr>
            <a:r>
              <a:rPr lang="en-US" sz="950" dirty="0">
                <a:solidFill>
                  <a:srgbClr val="FFFFFF"/>
                </a:solidFill>
              </a:rPr>
              <a:t>Tăng hóa đơn</a:t>
            </a:r>
            <a:endParaRPr lang="en-US" sz="950" dirty="0"/>
          </a:p>
        </p:txBody>
      </p:sp>
      <p:sp>
        <p:nvSpPr>
          <p:cNvPr id="21" name="Shape 19"/>
          <p:cNvSpPr/>
          <p:nvPr/>
        </p:nvSpPr>
        <p:spPr>
          <a:xfrm>
            <a:off x="6062472" y="2999232"/>
            <a:ext cx="1207008" cy="1536192"/>
          </a:xfrm>
          <a:prstGeom prst="rect">
            <a:avLst/>
          </a:prstGeom>
          <a:solidFill>
            <a:srgbClr val="162435"/>
          </a:solidFill>
          <a:ln w="12700">
            <a:solidFill>
              <a:srgbClr val="0096B7"/>
            </a:solidFill>
            <a:prstDash val="solid"/>
          </a:ln>
        </p:spPr>
      </p:sp>
      <p:sp>
        <p:nvSpPr>
          <p:cNvPr id="22" name="Text 20"/>
          <p:cNvSpPr/>
          <p:nvPr/>
        </p:nvSpPr>
        <p:spPr>
          <a:xfrm>
            <a:off x="6062472" y="3044952"/>
            <a:ext cx="1207008" cy="640080"/>
          </a:xfrm>
          <a:prstGeom prst="rect">
            <a:avLst/>
          </a:prstGeom>
          <a:noFill/>
          <a:ln/>
        </p:spPr>
        <p:txBody>
          <a:bodyPr wrap="square" lIns="0" tIns="0" rIns="0" bIns="0" rtlCol="0" anchor="ctr"/>
          <a:lstStyle/>
          <a:p>
            <a:pPr marL="0" indent="0" algn="ctr">
              <a:buNone/>
            </a:pPr>
            <a:r>
              <a:rPr lang="en-US" sz="1800" b="1" dirty="0">
                <a:solidFill>
                  <a:srgbClr val="0096B7"/>
                </a:solidFill>
              </a:rPr>
              <a:t>↺↺</a:t>
            </a:r>
            <a:endParaRPr lang="en-US" sz="1800" dirty="0"/>
          </a:p>
        </p:txBody>
      </p:sp>
      <p:sp>
        <p:nvSpPr>
          <p:cNvPr id="23" name="Text 21"/>
          <p:cNvSpPr/>
          <p:nvPr/>
        </p:nvSpPr>
        <p:spPr>
          <a:xfrm>
            <a:off x="6062472" y="3703320"/>
            <a:ext cx="1207008" cy="713232"/>
          </a:xfrm>
          <a:prstGeom prst="rect">
            <a:avLst/>
          </a:prstGeom>
          <a:noFill/>
          <a:ln/>
        </p:spPr>
        <p:txBody>
          <a:bodyPr wrap="square" lIns="0" tIns="0" rIns="0" bIns="0" rtlCol="0" anchor="ctr"/>
          <a:lstStyle/>
          <a:p>
            <a:pPr marL="0" indent="0" algn="ctr">
              <a:buNone/>
            </a:pPr>
            <a:r>
              <a:rPr lang="en-US" sz="950" dirty="0">
                <a:solidFill>
                  <a:srgbClr val="FFFFFF"/>
                </a:solidFill>
              </a:rPr>
              <a:t>Kích autoscale</a:t>
            </a:r>
            <a:endParaRPr lang="en-US" sz="950" dirty="0"/>
          </a:p>
        </p:txBody>
      </p:sp>
      <p:sp>
        <p:nvSpPr>
          <p:cNvPr id="24" name="Shape 22"/>
          <p:cNvSpPr/>
          <p:nvPr/>
        </p:nvSpPr>
        <p:spPr>
          <a:xfrm>
            <a:off x="7388352" y="2999232"/>
            <a:ext cx="1207008" cy="1536192"/>
          </a:xfrm>
          <a:prstGeom prst="rect">
            <a:avLst/>
          </a:prstGeom>
          <a:solidFill>
            <a:srgbClr val="162435"/>
          </a:solidFill>
          <a:ln w="12700">
            <a:solidFill>
              <a:srgbClr val="D62828"/>
            </a:solidFill>
            <a:prstDash val="solid"/>
          </a:ln>
        </p:spPr>
      </p:sp>
      <p:sp>
        <p:nvSpPr>
          <p:cNvPr id="25" name="Text 23"/>
          <p:cNvSpPr/>
          <p:nvPr/>
        </p:nvSpPr>
        <p:spPr>
          <a:xfrm>
            <a:off x="7388352" y="3044952"/>
            <a:ext cx="1207008" cy="640080"/>
          </a:xfrm>
          <a:prstGeom prst="rect">
            <a:avLst/>
          </a:prstGeom>
          <a:noFill/>
          <a:ln/>
        </p:spPr>
        <p:txBody>
          <a:bodyPr wrap="square" lIns="0" tIns="0" rIns="0" bIns="0" rtlCol="0" anchor="ctr"/>
          <a:lstStyle/>
          <a:p>
            <a:pPr marL="0" indent="0" algn="ctr">
              <a:buNone/>
            </a:pPr>
            <a:r>
              <a:rPr lang="en-US" sz="1800" b="1" dirty="0">
                <a:solidFill>
                  <a:srgbClr val="D62828"/>
                </a:solidFill>
              </a:rPr>
              <a:t>✕✕</a:t>
            </a:r>
            <a:endParaRPr lang="en-US" sz="1800" dirty="0"/>
          </a:p>
        </p:txBody>
      </p:sp>
      <p:sp>
        <p:nvSpPr>
          <p:cNvPr id="26" name="Text 24"/>
          <p:cNvSpPr/>
          <p:nvPr/>
        </p:nvSpPr>
        <p:spPr>
          <a:xfrm>
            <a:off x="7388352" y="3703320"/>
            <a:ext cx="1207008" cy="713232"/>
          </a:xfrm>
          <a:prstGeom prst="rect">
            <a:avLst/>
          </a:prstGeom>
          <a:noFill/>
          <a:ln/>
        </p:spPr>
        <p:txBody>
          <a:bodyPr wrap="square" lIns="0" tIns="0" rIns="0" bIns="0" rtlCol="0" anchor="ctr"/>
          <a:lstStyle/>
          <a:p>
            <a:pPr marL="0" indent="0" algn="ctr">
              <a:buNone/>
            </a:pPr>
            <a:r>
              <a:rPr lang="en-US" sz="950" dirty="0">
                <a:solidFill>
                  <a:srgbClr val="FFFFFF"/>
                </a:solidFill>
              </a:rPr>
              <a:t>Phá sản nạn nhân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02 </a:t>
            </a:r>
            <a:r>
              <a:rPr lang="en-US" sz="2200" b="1" dirty="0">
                <a:solidFill>
                  <a:srgbClr val="FFFFFF"/>
                </a:solidFill>
              </a:rPr>
              <a:t>· Kiến thức nền tảng — Kubernetes &amp; Autoscaling</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22960"/>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Text 6"/>
          <p:cNvSpPr/>
          <p:nvPr/>
        </p:nvSpPr>
        <p:spPr>
          <a:xfrm>
            <a:off x="411480" y="896112"/>
            <a:ext cx="3840480" cy="320040"/>
          </a:xfrm>
          <a:prstGeom prst="rect">
            <a:avLst/>
          </a:prstGeom>
          <a:noFill/>
          <a:ln/>
        </p:spPr>
        <p:txBody>
          <a:bodyPr wrap="square" lIns="0" tIns="0" rIns="0" bIns="0" rtlCol="0" anchor="ctr"/>
          <a:lstStyle/>
          <a:p>
            <a:pPr marL="0" indent="0">
              <a:buNone/>
            </a:pPr>
            <a:r>
              <a:rPr lang="en-US" sz="1200" b="1" dirty="0">
                <a:solidFill>
                  <a:srgbClr val="0D1B2A"/>
                </a:solidFill>
              </a:rPr>
              <a:t>Kiến trúc Kubernetes</a:t>
            </a:r>
            <a:endParaRPr lang="en-US" sz="1200" dirty="0"/>
          </a:p>
        </p:txBody>
      </p:sp>
      <p:sp>
        <p:nvSpPr>
          <p:cNvPr id="9" name="Shape 7"/>
          <p:cNvSpPr/>
          <p:nvPr/>
        </p:nvSpPr>
        <p:spPr>
          <a:xfrm>
            <a:off x="502920" y="1298448"/>
            <a:ext cx="3657600" cy="502920"/>
          </a:xfrm>
          <a:prstGeom prst="rect">
            <a:avLst/>
          </a:prstGeom>
          <a:solidFill>
            <a:srgbClr val="0096B7">
              <a:alpha val="85000"/>
            </a:srgbClr>
          </a:solidFill>
          <a:ln w="12700">
            <a:solidFill>
              <a:srgbClr val="0096B7"/>
            </a:solidFill>
            <a:prstDash val="solid"/>
          </a:ln>
        </p:spPr>
      </p:sp>
      <p:sp>
        <p:nvSpPr>
          <p:cNvPr id="10" name="Text 8"/>
          <p:cNvSpPr/>
          <p:nvPr/>
        </p:nvSpPr>
        <p:spPr>
          <a:xfrm>
            <a:off x="502920" y="129844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Cluster Autoscaler [5]</a:t>
            </a:r>
            <a:endParaRPr lang="en-US" sz="1100" dirty="0"/>
          </a:p>
        </p:txBody>
      </p:sp>
      <p:sp>
        <p:nvSpPr>
          <p:cNvPr id="11" name="Shape 9"/>
          <p:cNvSpPr/>
          <p:nvPr/>
        </p:nvSpPr>
        <p:spPr>
          <a:xfrm>
            <a:off x="502920" y="1938528"/>
            <a:ext cx="3657600" cy="502920"/>
          </a:xfrm>
          <a:prstGeom prst="rect">
            <a:avLst/>
          </a:prstGeom>
          <a:solidFill>
            <a:srgbClr val="F47B20">
              <a:alpha val="85000"/>
            </a:srgbClr>
          </a:solidFill>
          <a:ln w="12700">
            <a:solidFill>
              <a:srgbClr val="F47B20"/>
            </a:solidFill>
            <a:prstDash val="solid"/>
          </a:ln>
        </p:spPr>
      </p:sp>
      <p:sp>
        <p:nvSpPr>
          <p:cNvPr id="12" name="Text 10"/>
          <p:cNvSpPr/>
          <p:nvPr/>
        </p:nvSpPr>
        <p:spPr>
          <a:xfrm>
            <a:off x="502920" y="193852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HPA – Horizontal Pod Autoscaler [4]</a:t>
            </a:r>
            <a:endParaRPr lang="en-US" sz="1100" dirty="0"/>
          </a:p>
        </p:txBody>
      </p:sp>
      <p:sp>
        <p:nvSpPr>
          <p:cNvPr id="13" name="Shape 11"/>
          <p:cNvSpPr/>
          <p:nvPr/>
        </p:nvSpPr>
        <p:spPr>
          <a:xfrm>
            <a:off x="502920" y="2578608"/>
            <a:ext cx="3657600" cy="502920"/>
          </a:xfrm>
          <a:prstGeom prst="rect">
            <a:avLst/>
          </a:prstGeom>
          <a:solidFill>
            <a:srgbClr val="4A90D9">
              <a:alpha val="85000"/>
            </a:srgbClr>
          </a:solidFill>
          <a:ln w="12700">
            <a:solidFill>
              <a:srgbClr val="4A90D9"/>
            </a:solidFill>
            <a:prstDash val="solid"/>
          </a:ln>
        </p:spPr>
      </p:sp>
      <p:sp>
        <p:nvSpPr>
          <p:cNvPr id="14" name="Text 12"/>
          <p:cNvSpPr/>
          <p:nvPr/>
        </p:nvSpPr>
        <p:spPr>
          <a:xfrm>
            <a:off x="502920" y="257860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Pods / Service Units (SUs)</a:t>
            </a:r>
            <a:endParaRPr lang="en-US" sz="1100" dirty="0"/>
          </a:p>
        </p:txBody>
      </p:sp>
      <p:sp>
        <p:nvSpPr>
          <p:cNvPr id="15" name="Shape 13"/>
          <p:cNvSpPr/>
          <p:nvPr/>
        </p:nvSpPr>
        <p:spPr>
          <a:xfrm>
            <a:off x="502920" y="3218688"/>
            <a:ext cx="3657600" cy="502920"/>
          </a:xfrm>
          <a:prstGeom prst="rect">
            <a:avLst/>
          </a:prstGeom>
          <a:solidFill>
            <a:srgbClr val="64748B">
              <a:alpha val="85000"/>
            </a:srgbClr>
          </a:solidFill>
          <a:ln w="12700">
            <a:solidFill>
              <a:srgbClr val="64748B"/>
            </a:solidFill>
            <a:prstDash val="solid"/>
          </a:ln>
        </p:spPr>
      </p:sp>
      <p:sp>
        <p:nvSpPr>
          <p:cNvPr id="16" name="Text 14"/>
          <p:cNvSpPr/>
          <p:nvPr/>
        </p:nvSpPr>
        <p:spPr>
          <a:xfrm>
            <a:off x="502920" y="321868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Node (VM) / Worker</a:t>
            </a:r>
            <a:endParaRPr lang="en-US" sz="1100" dirty="0"/>
          </a:p>
        </p:txBody>
      </p:sp>
      <p:sp>
        <p:nvSpPr>
          <p:cNvPr id="17" name="Shape 15"/>
          <p:cNvSpPr/>
          <p:nvPr/>
        </p:nvSpPr>
        <p:spPr>
          <a:xfrm>
            <a:off x="2194560" y="1801368"/>
            <a:ext cx="9144" cy="137160"/>
          </a:xfrm>
          <a:prstGeom prst="line">
            <a:avLst/>
          </a:prstGeom>
          <a:noFill/>
          <a:ln w="19050">
            <a:solidFill>
              <a:srgbClr val="64748B"/>
            </a:solidFill>
            <a:prstDash val="solid"/>
          </a:ln>
        </p:spPr>
      </p:sp>
      <p:sp>
        <p:nvSpPr>
          <p:cNvPr id="18" name="Shape 16"/>
          <p:cNvSpPr/>
          <p:nvPr/>
        </p:nvSpPr>
        <p:spPr>
          <a:xfrm>
            <a:off x="2194560" y="2441448"/>
            <a:ext cx="9144" cy="137160"/>
          </a:xfrm>
          <a:prstGeom prst="line">
            <a:avLst/>
          </a:prstGeom>
          <a:noFill/>
          <a:ln w="19050">
            <a:solidFill>
              <a:srgbClr val="64748B"/>
            </a:solidFill>
            <a:prstDash val="solid"/>
          </a:ln>
        </p:spPr>
      </p:sp>
      <p:sp>
        <p:nvSpPr>
          <p:cNvPr id="19" name="Shape 17"/>
          <p:cNvSpPr/>
          <p:nvPr/>
        </p:nvSpPr>
        <p:spPr>
          <a:xfrm>
            <a:off x="2194560" y="3081528"/>
            <a:ext cx="9144" cy="137160"/>
          </a:xfrm>
          <a:prstGeom prst="line">
            <a:avLst/>
          </a:prstGeom>
          <a:noFill/>
          <a:ln w="19050">
            <a:solidFill>
              <a:srgbClr val="64748B"/>
            </a:solidFill>
            <a:prstDash val="solid"/>
          </a:ln>
        </p:spPr>
      </p:sp>
      <p:sp>
        <p:nvSpPr>
          <p:cNvPr id="20" name="Text 18"/>
          <p:cNvSpPr/>
          <p:nvPr/>
        </p:nvSpPr>
        <p:spPr>
          <a:xfrm>
            <a:off x="411480" y="3977640"/>
            <a:ext cx="3840480" cy="658368"/>
          </a:xfrm>
          <a:prstGeom prst="rect">
            <a:avLst/>
          </a:prstGeom>
          <a:noFill/>
          <a:ln/>
        </p:spPr>
        <p:txBody>
          <a:bodyPr wrap="square" lIns="0" tIns="0" rIns="0" bIns="0" rtlCol="0" anchor="ctr"/>
          <a:lstStyle/>
          <a:p>
            <a:pPr marL="0" indent="0">
              <a:buNone/>
            </a:pPr>
            <a:r>
              <a:rPr lang="en-US" sz="1000" dirty="0">
                <a:solidFill>
                  <a:srgbClr val="64748B"/>
                </a:solidFill>
              </a:rPr>
              <a:t>HPA điều chỉnh số Pod dựa trên CPU/RAM;</a:t>
            </a:r>
            <a:endParaRPr lang="en-US" sz="1000" dirty="0"/>
          </a:p>
          <a:p>
            <a:pPr marL="0" indent="0">
              <a:buNone/>
            </a:pPr>
            <a:r>
              <a:rPr lang="en-US" sz="1000" dirty="0">
                <a:solidFill>
                  <a:srgbClr val="64748B"/>
                </a:solidFill>
              </a:rPr>
              <a:t>Cluster Autoscaler thêm/xóa Node.</a:t>
            </a:r>
            <a:endParaRPr lang="en-US" sz="1000" dirty="0"/>
          </a:p>
        </p:txBody>
      </p:sp>
      <p:sp>
        <p:nvSpPr>
          <p:cNvPr id="21" name="Shape 19"/>
          <p:cNvSpPr/>
          <p:nvPr/>
        </p:nvSpPr>
        <p:spPr>
          <a:xfrm>
            <a:off x="4658868" y="786384"/>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txBody>
          <a:bodyPr/>
          <a:lstStyle/>
          <a:p>
            <a:endParaRPr lang="en-US"/>
          </a:p>
        </p:txBody>
      </p:sp>
      <p:sp>
        <p:nvSpPr>
          <p:cNvPr id="22" name="Shape 20"/>
          <p:cNvSpPr/>
          <p:nvPr/>
        </p:nvSpPr>
        <p:spPr>
          <a:xfrm>
            <a:off x="4663440" y="822960"/>
            <a:ext cx="54864" cy="3931920"/>
          </a:xfrm>
          <a:prstGeom prst="rect">
            <a:avLst/>
          </a:prstGeom>
          <a:solidFill>
            <a:srgbClr val="F47B20"/>
          </a:solidFill>
          <a:ln w="12700">
            <a:solidFill>
              <a:srgbClr val="F47B20"/>
            </a:solidFill>
            <a:prstDash val="solid"/>
          </a:ln>
        </p:spPr>
      </p:sp>
      <p:sp>
        <p:nvSpPr>
          <p:cNvPr id="23" name="Text 21"/>
          <p:cNvSpPr/>
          <p:nvPr/>
        </p:nvSpPr>
        <p:spPr>
          <a:xfrm>
            <a:off x="4828032" y="896112"/>
            <a:ext cx="3749040" cy="320040"/>
          </a:xfrm>
          <a:prstGeom prst="rect">
            <a:avLst/>
          </a:prstGeom>
          <a:noFill/>
          <a:ln/>
        </p:spPr>
        <p:txBody>
          <a:bodyPr wrap="square" lIns="0" tIns="0" rIns="0" bIns="0" rtlCol="0" anchor="ctr"/>
          <a:lstStyle/>
          <a:p>
            <a:pPr marL="0" indent="0">
              <a:buNone/>
            </a:pPr>
            <a:r>
              <a:rPr lang="en-US" sz="1200" b="1" dirty="0" err="1" smtClean="0">
                <a:solidFill>
                  <a:srgbClr val="0D1B2A"/>
                </a:solidFill>
              </a:rPr>
              <a:t>Cơ</a:t>
            </a:r>
            <a:r>
              <a:rPr lang="en-US" sz="1200" b="1" dirty="0" smtClean="0">
                <a:solidFill>
                  <a:srgbClr val="0D1B2A"/>
                </a:solidFill>
              </a:rPr>
              <a:t> </a:t>
            </a:r>
            <a:r>
              <a:rPr lang="en-US" sz="1200" b="1" dirty="0" err="1" smtClean="0">
                <a:solidFill>
                  <a:srgbClr val="0D1B2A"/>
                </a:solidFill>
              </a:rPr>
              <a:t>chế</a:t>
            </a:r>
            <a:r>
              <a:rPr lang="en-US" sz="1200" b="1" dirty="0" smtClean="0">
                <a:solidFill>
                  <a:srgbClr val="0D1B2A"/>
                </a:solidFill>
              </a:rPr>
              <a:t> </a:t>
            </a:r>
            <a:r>
              <a:rPr lang="en-US" sz="1200" b="1" dirty="0" err="1" smtClean="0">
                <a:solidFill>
                  <a:srgbClr val="0D1B2A"/>
                </a:solidFill>
              </a:rPr>
              <a:t>vận</a:t>
            </a:r>
            <a:r>
              <a:rPr lang="en-US" sz="1200" b="1" dirty="0" smtClean="0">
                <a:solidFill>
                  <a:srgbClr val="0D1B2A"/>
                </a:solidFill>
              </a:rPr>
              <a:t> </a:t>
            </a:r>
            <a:r>
              <a:rPr lang="en-US" sz="1200" b="1" dirty="0" err="1" smtClean="0">
                <a:solidFill>
                  <a:srgbClr val="0D1B2A"/>
                </a:solidFill>
              </a:rPr>
              <a:t>hành</a:t>
            </a:r>
            <a:endParaRPr lang="en-US" sz="1200" dirty="0"/>
          </a:p>
        </p:txBody>
      </p:sp>
      <p:sp>
        <p:nvSpPr>
          <p:cNvPr id="25" name="Text 23"/>
          <p:cNvSpPr/>
          <p:nvPr/>
        </p:nvSpPr>
        <p:spPr>
          <a:xfrm>
            <a:off x="4828032" y="1344168"/>
            <a:ext cx="3730752" cy="756006"/>
          </a:xfrm>
          <a:prstGeom prst="rect">
            <a:avLst/>
          </a:prstGeom>
          <a:noFill/>
          <a:ln/>
        </p:spPr>
        <p:txBody>
          <a:bodyPr wrap="square" lIns="0" tIns="0" rIns="0" bIns="0" rtlCol="0" anchor="ctr"/>
          <a:lstStyle/>
          <a:p>
            <a:r>
              <a:rPr lang="vi-VN" sz="1000" dirty="0" smtClean="0"/>
              <a:t>Horizontal </a:t>
            </a:r>
            <a:r>
              <a:rPr lang="vi-VN" sz="1000" dirty="0"/>
              <a:t>Pod Autoscaler (HPA</a:t>
            </a:r>
            <a:r>
              <a:rPr lang="vi-VN" sz="1000" dirty="0" smtClean="0"/>
              <a:t>) </a:t>
            </a:r>
            <a:r>
              <a:rPr lang="vi-VN" sz="1000" dirty="0"/>
              <a:t>là thành phần của Kubernetes chịu trách nhiệm điều chỉnh số lượng </a:t>
            </a:r>
            <a:r>
              <a:rPr lang="vi-VN" sz="1000" dirty="0" smtClean="0"/>
              <a:t>pod </a:t>
            </a:r>
            <a:r>
              <a:rPr lang="vi-VN" sz="1000" dirty="0"/>
              <a:t>của một dịch vụ theo thời gian thực, dựa trên các chỉ số mục tiêu như mức sử dụng CPU hoặc </a:t>
            </a:r>
            <a:r>
              <a:rPr lang="vi-VN" sz="1000" dirty="0" smtClean="0"/>
              <a:t>RAM</a:t>
            </a:r>
            <a:endParaRPr lang="en-US" sz="1000" dirty="0"/>
          </a:p>
        </p:txBody>
      </p:sp>
      <p:sp>
        <p:nvSpPr>
          <p:cNvPr id="28" name="Text 26"/>
          <p:cNvSpPr/>
          <p:nvPr/>
        </p:nvSpPr>
        <p:spPr>
          <a:xfrm>
            <a:off x="4919472" y="1682496"/>
            <a:ext cx="3547872" cy="512064"/>
          </a:xfrm>
          <a:prstGeom prst="rect">
            <a:avLst/>
          </a:prstGeom>
          <a:noFill/>
          <a:ln/>
        </p:spPr>
        <p:txBody>
          <a:bodyPr wrap="square" lIns="0" tIns="0" rIns="0" bIns="0" rtlCol="0" anchor="ctr"/>
          <a:lstStyle/>
          <a:p>
            <a:pPr marL="0" indent="0">
              <a:buNone/>
            </a:pPr>
            <a:endParaRPr lang="en-US" sz="950" dirty="0"/>
          </a:p>
        </p:txBody>
      </p:sp>
      <p:sp>
        <p:nvSpPr>
          <p:cNvPr id="26" name="Text 23"/>
          <p:cNvSpPr/>
          <p:nvPr/>
        </p:nvSpPr>
        <p:spPr>
          <a:xfrm>
            <a:off x="4828032" y="2200781"/>
            <a:ext cx="3730752" cy="1136549"/>
          </a:xfrm>
          <a:prstGeom prst="rect">
            <a:avLst/>
          </a:prstGeom>
          <a:noFill/>
          <a:ln/>
        </p:spPr>
        <p:txBody>
          <a:bodyPr wrap="square" lIns="0" tIns="0" rIns="0" bIns="0" rtlCol="0" anchor="ctr"/>
          <a:lstStyle/>
          <a:p>
            <a:r>
              <a:rPr lang="vi-VN" sz="1000" dirty="0" smtClean="0">
                <a:latin typeface="Arial (Body)"/>
              </a:rPr>
              <a:t>HPA </a:t>
            </a:r>
            <a:r>
              <a:rPr lang="vi-VN" sz="1000" dirty="0">
                <a:latin typeface="Arial (Body)"/>
              </a:rPr>
              <a:t>lấy mẫu chỉ số định kỳ </a:t>
            </a:r>
            <a:r>
              <a:rPr lang="vi-VN" sz="1000" dirty="0" smtClean="0">
                <a:latin typeface="Arial (Body)"/>
              </a:rPr>
              <a:t>so </a:t>
            </a:r>
            <a:r>
              <a:rPr lang="vi-VN" sz="1000" dirty="0">
                <a:latin typeface="Arial (Body)"/>
              </a:rPr>
              <a:t>sánh với một ngưỡng mục tiêu do người vận hành cấu hình (ví dụ: duy trì CPU trung bình quanh 50%), rồi tính toán số replica cần thiết theo tỷ lệ giữa mức sử dụng hiện tại và ngưỡng mục tiêu đó. Khi chỉ số vượt ngưỡng, HPA tạo thêm </a:t>
            </a:r>
            <a:r>
              <a:rPr lang="vi-VN" sz="1000" dirty="0" smtClean="0">
                <a:latin typeface="Arial (Body)"/>
              </a:rPr>
              <a:t>pod</a:t>
            </a:r>
            <a:r>
              <a:rPr lang="en-US" sz="1000" dirty="0" smtClean="0">
                <a:latin typeface="Arial (Body)"/>
              </a:rPr>
              <a:t>, </a:t>
            </a:r>
            <a:r>
              <a:rPr lang="vi-VN" sz="1000" dirty="0" smtClean="0">
                <a:latin typeface="Arial (Body)"/>
              </a:rPr>
              <a:t>khi </a:t>
            </a:r>
            <a:r>
              <a:rPr lang="vi-VN" sz="1000" dirty="0">
                <a:latin typeface="Arial (Body)"/>
              </a:rPr>
              <a:t>chỉ số giảm xuống dưới ngưỡng trong một khoảng thời gian đủ </a:t>
            </a:r>
            <a:r>
              <a:rPr lang="vi-VN" sz="1000" dirty="0" smtClean="0">
                <a:latin typeface="Arial (Body)"/>
              </a:rPr>
              <a:t>dài, </a:t>
            </a:r>
            <a:r>
              <a:rPr lang="vi-VN" sz="1000" dirty="0">
                <a:latin typeface="Arial (Body)"/>
              </a:rPr>
              <a:t>HPA mới thu hồi bớt </a:t>
            </a:r>
            <a:r>
              <a:rPr lang="vi-VN" sz="1000" dirty="0" smtClean="0">
                <a:latin typeface="Arial (Body)"/>
              </a:rPr>
              <a:t>po</a:t>
            </a:r>
            <a:r>
              <a:rPr lang="en-US" sz="1000" dirty="0" smtClean="0">
                <a:latin typeface="Arial (Body)"/>
              </a:rPr>
              <a:t>d </a:t>
            </a:r>
            <a:r>
              <a:rPr lang="en-US" sz="1000" dirty="0" err="1" smtClean="0">
                <a:latin typeface="Arial (Body)"/>
              </a:rPr>
              <a:t>để</a:t>
            </a:r>
            <a:r>
              <a:rPr lang="en-US" sz="1000" dirty="0" smtClean="0">
                <a:latin typeface="Arial (Body)"/>
              </a:rPr>
              <a:t> </a:t>
            </a:r>
            <a:r>
              <a:rPr lang="en-US" sz="1000" dirty="0" err="1" smtClean="0">
                <a:latin typeface="Arial (Body)"/>
              </a:rPr>
              <a:t>giải</a:t>
            </a:r>
            <a:r>
              <a:rPr lang="en-US" sz="1000" dirty="0" smtClean="0">
                <a:latin typeface="Arial (Body)"/>
              </a:rPr>
              <a:t> </a:t>
            </a:r>
            <a:r>
              <a:rPr lang="en-US" sz="1000" dirty="0" err="1" smtClean="0">
                <a:latin typeface="Arial (Body)"/>
              </a:rPr>
              <a:t>phóng</a:t>
            </a:r>
            <a:r>
              <a:rPr lang="en-US" sz="1000" dirty="0" smtClean="0">
                <a:latin typeface="Arial (Body)"/>
              </a:rPr>
              <a:t> </a:t>
            </a:r>
            <a:r>
              <a:rPr lang="en-US" sz="1000" dirty="0" err="1" smtClean="0">
                <a:latin typeface="Arial (Body)"/>
              </a:rPr>
              <a:t>tài</a:t>
            </a:r>
            <a:r>
              <a:rPr lang="en-US" sz="1000" dirty="0" smtClean="0">
                <a:latin typeface="Arial (Body)"/>
              </a:rPr>
              <a:t> </a:t>
            </a:r>
            <a:r>
              <a:rPr lang="en-US" sz="1000" dirty="0" err="1" smtClean="0">
                <a:latin typeface="Arial (Body)"/>
              </a:rPr>
              <a:t>nguyên</a:t>
            </a:r>
            <a:endParaRPr lang="en-US" sz="1000" dirty="0">
              <a:latin typeface="Arial (Body)"/>
            </a:endParaRPr>
          </a:p>
        </p:txBody>
      </p:sp>
      <p:sp>
        <p:nvSpPr>
          <p:cNvPr id="27" name="Text 23"/>
          <p:cNvSpPr/>
          <p:nvPr/>
        </p:nvSpPr>
        <p:spPr>
          <a:xfrm>
            <a:off x="4846320" y="3550104"/>
            <a:ext cx="3730752" cy="756006"/>
          </a:xfrm>
          <a:prstGeom prst="rect">
            <a:avLst/>
          </a:prstGeom>
          <a:noFill/>
          <a:ln/>
        </p:spPr>
        <p:txBody>
          <a:bodyPr wrap="square" lIns="0" tIns="0" rIns="0" bIns="0" rtlCol="0" anchor="ctr"/>
          <a:lstStyle/>
          <a:p>
            <a:r>
              <a:rPr lang="en-US" sz="1000" dirty="0" smtClean="0">
                <a:latin typeface="Arial (Body)"/>
              </a:rPr>
              <a:t>=&gt; HPA </a:t>
            </a:r>
            <a:r>
              <a:rPr lang="en-US" sz="1000" dirty="0" err="1" smtClean="0">
                <a:latin typeface="Arial (Body)"/>
              </a:rPr>
              <a:t>là</a:t>
            </a:r>
            <a:r>
              <a:rPr lang="en-US" sz="1000" dirty="0" smtClean="0">
                <a:latin typeface="Arial (Body)"/>
              </a:rPr>
              <a:t> </a:t>
            </a:r>
            <a:r>
              <a:rPr lang="en-US" sz="1000" dirty="0" err="1" smtClean="0">
                <a:latin typeface="Arial (Body)"/>
              </a:rPr>
              <a:t>bài</a:t>
            </a:r>
            <a:r>
              <a:rPr lang="en-US" sz="1000" dirty="0" smtClean="0">
                <a:latin typeface="Arial (Body)"/>
              </a:rPr>
              <a:t> </a:t>
            </a:r>
            <a:r>
              <a:rPr lang="en-US" sz="1000" dirty="0" err="1" smtClean="0">
                <a:latin typeface="Arial (Body)"/>
              </a:rPr>
              <a:t>toán</a:t>
            </a:r>
            <a:r>
              <a:rPr lang="en-US" sz="1000" dirty="0" smtClean="0">
                <a:latin typeface="Arial (Body)"/>
              </a:rPr>
              <a:t> </a:t>
            </a:r>
            <a:r>
              <a:rPr lang="en-US" sz="1000" dirty="0" err="1" smtClean="0">
                <a:latin typeface="Arial (Body)"/>
              </a:rPr>
              <a:t>đánh</a:t>
            </a:r>
            <a:r>
              <a:rPr lang="en-US" sz="1000" dirty="0" smtClean="0">
                <a:latin typeface="Arial (Body)"/>
              </a:rPr>
              <a:t> </a:t>
            </a:r>
            <a:r>
              <a:rPr lang="en-US" sz="1000" dirty="0" err="1" smtClean="0">
                <a:latin typeface="Arial (Body)"/>
              </a:rPr>
              <a:t>đổi</a:t>
            </a:r>
            <a:r>
              <a:rPr lang="en-US" sz="1000" dirty="0" smtClean="0">
                <a:latin typeface="Arial (Body)"/>
              </a:rPr>
              <a:t>, </a:t>
            </a:r>
            <a:r>
              <a:rPr lang="en-US" sz="1000" dirty="0" err="1" smtClean="0">
                <a:latin typeface="Arial (Body)"/>
              </a:rPr>
              <a:t>vừa</a:t>
            </a:r>
            <a:r>
              <a:rPr lang="en-US" sz="1000" dirty="0" smtClean="0">
                <a:latin typeface="Arial (Body)"/>
              </a:rPr>
              <a:t> </a:t>
            </a:r>
            <a:r>
              <a:rPr lang="en-US" sz="1000" dirty="0" err="1" smtClean="0">
                <a:latin typeface="Arial (Body)"/>
              </a:rPr>
              <a:t>phải</a:t>
            </a:r>
            <a:r>
              <a:rPr lang="en-US" sz="1000" dirty="0" smtClean="0">
                <a:latin typeface="Arial (Body)"/>
              </a:rPr>
              <a:t> </a:t>
            </a:r>
            <a:r>
              <a:rPr lang="en-US" sz="1000" dirty="0">
                <a:latin typeface="Arial (Body)"/>
              </a:rPr>
              <a:t>c</a:t>
            </a:r>
            <a:r>
              <a:rPr lang="vi-VN" sz="1000" dirty="0" smtClean="0">
                <a:latin typeface="Arial (Body)"/>
              </a:rPr>
              <a:t>ấp </a:t>
            </a:r>
            <a:r>
              <a:rPr lang="vi-VN" sz="1000" dirty="0">
                <a:latin typeface="Arial (Body)"/>
              </a:rPr>
              <a:t>đủ tài nguyên một cách nhanh chóng để không vi phạm các cam kết chất lượng dịch vụ (SLA) khi tải hệ thống tăng </a:t>
            </a:r>
            <a:r>
              <a:rPr lang="vi-VN" sz="1000" dirty="0" smtClean="0">
                <a:latin typeface="Arial (Body)"/>
              </a:rPr>
              <a:t>cao</a:t>
            </a:r>
            <a:r>
              <a:rPr lang="en-US" sz="1000" dirty="0" smtClean="0">
                <a:latin typeface="Arial (Body)"/>
              </a:rPr>
              <a:t>, </a:t>
            </a:r>
            <a:r>
              <a:rPr lang="en-US" sz="1000" dirty="0" err="1" smtClean="0">
                <a:latin typeface="Arial (Body)"/>
              </a:rPr>
              <a:t>vừa</a:t>
            </a:r>
            <a:r>
              <a:rPr lang="en-US" sz="1000" dirty="0" smtClean="0">
                <a:latin typeface="Arial (Body)"/>
              </a:rPr>
              <a:t> </a:t>
            </a:r>
            <a:r>
              <a:rPr lang="en-US" sz="1000" dirty="0" err="1" smtClean="0">
                <a:latin typeface="Arial (Body)"/>
              </a:rPr>
              <a:t>phải</a:t>
            </a:r>
            <a:r>
              <a:rPr lang="en-US" sz="1000" dirty="0" smtClean="0">
                <a:latin typeface="Arial (Body)"/>
              </a:rPr>
              <a:t> </a:t>
            </a:r>
            <a:r>
              <a:rPr lang="en-US" sz="1000" dirty="0">
                <a:latin typeface="Arial (Body)"/>
              </a:rPr>
              <a:t>h</a:t>
            </a:r>
            <a:r>
              <a:rPr lang="vi-VN" sz="1000" dirty="0" smtClean="0">
                <a:latin typeface="Arial (Body)"/>
              </a:rPr>
              <a:t>ạn </a:t>
            </a:r>
            <a:r>
              <a:rPr lang="vi-VN" sz="1000" dirty="0">
                <a:latin typeface="Arial (Body)"/>
              </a:rPr>
              <a:t>chế tối đa việc cấp dư thừa tài nguyên nhằm tránh lãng phí ngân sách và tối ưu hóa chi phí vận hành.</a:t>
            </a:r>
            <a:endParaRPr lang="en-US" sz="1000" dirty="0">
              <a:latin typeface="Arial (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1270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02 </a:t>
            </a:r>
            <a:r>
              <a:rPr lang="en-US" sz="2200" b="1" dirty="0">
                <a:solidFill>
                  <a:srgbClr val="FFFFFF"/>
                </a:solidFill>
              </a:rPr>
              <a:t>· Kiến thức nền tảng — </a:t>
            </a:r>
            <a:r>
              <a:rPr lang="en-US" sz="2200" b="1" dirty="0" err="1" smtClean="0">
                <a:solidFill>
                  <a:srgbClr val="FFFFFF"/>
                </a:solidFill>
              </a:rPr>
              <a:t>Bản</a:t>
            </a:r>
            <a:r>
              <a:rPr lang="en-US" sz="2200" b="1" dirty="0" smtClean="0">
                <a:solidFill>
                  <a:srgbClr val="FFFFFF"/>
                </a:solidFill>
              </a:rPr>
              <a:t> </a:t>
            </a:r>
            <a:r>
              <a:rPr lang="en-US" sz="2200" b="1" dirty="0" err="1" smtClean="0">
                <a:solidFill>
                  <a:srgbClr val="FFFFFF"/>
                </a:solidFill>
              </a:rPr>
              <a:t>chất</a:t>
            </a:r>
            <a:r>
              <a:rPr lang="en-US" sz="2200" b="1" dirty="0" smtClean="0">
                <a:solidFill>
                  <a:srgbClr val="FFFFFF"/>
                </a:solidFill>
              </a:rPr>
              <a:t> </a:t>
            </a:r>
            <a:r>
              <a:rPr lang="en-US" sz="2200" b="1" dirty="0" err="1" smtClean="0">
                <a:solidFill>
                  <a:srgbClr val="FFFFFF"/>
                </a:solidFill>
              </a:rPr>
              <a:t>của</a:t>
            </a:r>
            <a:r>
              <a:rPr lang="en-US" sz="2200" b="1" dirty="0" smtClean="0">
                <a:solidFill>
                  <a:srgbClr val="FFFFFF"/>
                </a:solidFill>
              </a:rPr>
              <a:t> </a:t>
            </a:r>
            <a:r>
              <a:rPr lang="en-US" sz="2200" b="1" dirty="0" err="1" smtClean="0">
                <a:solidFill>
                  <a:srgbClr val="FFFFFF"/>
                </a:solidFill>
              </a:rPr>
              <a:t>tấn</a:t>
            </a:r>
            <a:r>
              <a:rPr lang="en-US" sz="2200" b="1" dirty="0" smtClean="0">
                <a:solidFill>
                  <a:srgbClr val="FFFFFF"/>
                </a:solidFill>
              </a:rPr>
              <a:t> </a:t>
            </a:r>
            <a:r>
              <a:rPr lang="en-US" sz="2200" b="1" dirty="0" err="1" smtClean="0">
                <a:solidFill>
                  <a:srgbClr val="FFFFFF"/>
                </a:solidFill>
              </a:rPr>
              <a:t>công</a:t>
            </a:r>
            <a:r>
              <a:rPr lang="en-US" sz="2200" b="1" dirty="0" smtClean="0">
                <a:solidFill>
                  <a:srgbClr val="FFFFFF"/>
                </a:solidFill>
              </a:rPr>
              <a:t> EDOS</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784352"/>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txBody>
          <a:bodyPr/>
          <a:lstStyle/>
          <a:p>
            <a:endParaRPr lang="en-US"/>
          </a:p>
        </p:txBody>
      </p:sp>
      <p:sp>
        <p:nvSpPr>
          <p:cNvPr id="8" name="Text 6"/>
          <p:cNvSpPr/>
          <p:nvPr/>
        </p:nvSpPr>
        <p:spPr>
          <a:xfrm>
            <a:off x="411480" y="896112"/>
            <a:ext cx="3840480" cy="659638"/>
          </a:xfrm>
          <a:prstGeom prst="rect">
            <a:avLst/>
          </a:prstGeom>
          <a:noFill/>
          <a:ln/>
        </p:spPr>
        <p:txBody>
          <a:bodyPr wrap="square" lIns="0" tIns="0" rIns="0" bIns="0" rtlCol="0" anchor="ctr"/>
          <a:lstStyle/>
          <a:p>
            <a:pPr marL="0" indent="0">
              <a:buNone/>
            </a:pPr>
            <a:r>
              <a:rPr lang="en-US" sz="1200" b="1" dirty="0" err="1" smtClean="0">
                <a:solidFill>
                  <a:srgbClr val="0D1B2A"/>
                </a:solidFill>
              </a:rPr>
              <a:t>Bản</a:t>
            </a:r>
            <a:r>
              <a:rPr lang="en-US" sz="1200" b="1" dirty="0" smtClean="0">
                <a:solidFill>
                  <a:srgbClr val="0D1B2A"/>
                </a:solidFill>
              </a:rPr>
              <a:t> </a:t>
            </a:r>
            <a:r>
              <a:rPr lang="en-US" sz="1200" b="1" dirty="0" err="1" smtClean="0">
                <a:solidFill>
                  <a:srgbClr val="0D1B2A"/>
                </a:solidFill>
              </a:rPr>
              <a:t>chất</a:t>
            </a:r>
            <a:r>
              <a:rPr lang="en-US" sz="1200" b="1" dirty="0" smtClean="0">
                <a:solidFill>
                  <a:srgbClr val="0D1B2A"/>
                </a:solidFill>
              </a:rPr>
              <a:t> </a:t>
            </a:r>
            <a:r>
              <a:rPr lang="en-US" sz="1200" b="1" dirty="0" err="1" smtClean="0">
                <a:solidFill>
                  <a:srgbClr val="0D1B2A"/>
                </a:solidFill>
              </a:rPr>
              <a:t>của</a:t>
            </a:r>
            <a:r>
              <a:rPr lang="en-US" sz="1200" b="1" dirty="0" smtClean="0">
                <a:solidFill>
                  <a:srgbClr val="0D1B2A"/>
                </a:solidFill>
              </a:rPr>
              <a:t> EDOS</a:t>
            </a:r>
          </a:p>
          <a:p>
            <a:pPr marL="0" indent="0">
              <a:buNone/>
            </a:pPr>
            <a:endParaRPr lang="en-US" sz="1200" b="1" dirty="0" smtClean="0">
              <a:solidFill>
                <a:srgbClr val="0D1B2A"/>
              </a:solidFill>
            </a:endParaRPr>
          </a:p>
          <a:p>
            <a:r>
              <a:rPr lang="vi-VN" sz="1000" dirty="0"/>
              <a:t>Là dạng con của DDoS, nhưng nhắm vào tính bền vững kinh tế thay vì tính sẵn sàng của hệ thống.</a:t>
            </a:r>
            <a:endParaRPr lang="en-US" sz="1000" dirty="0"/>
          </a:p>
        </p:txBody>
      </p:sp>
      <p:sp>
        <p:nvSpPr>
          <p:cNvPr id="14" name="Text 12"/>
          <p:cNvSpPr/>
          <p:nvPr/>
        </p:nvSpPr>
        <p:spPr>
          <a:xfrm>
            <a:off x="502920" y="257860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Pods / Service Units (SUs)</a:t>
            </a:r>
            <a:endParaRPr lang="en-US" sz="1100" dirty="0"/>
          </a:p>
        </p:txBody>
      </p:sp>
      <p:sp>
        <p:nvSpPr>
          <p:cNvPr id="16" name="Text 14"/>
          <p:cNvSpPr/>
          <p:nvPr/>
        </p:nvSpPr>
        <p:spPr>
          <a:xfrm>
            <a:off x="502920" y="321868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Node (VM) / Worker</a:t>
            </a:r>
            <a:endParaRPr lang="en-US" sz="1100" dirty="0"/>
          </a:p>
        </p:txBody>
      </p:sp>
      <p:sp>
        <p:nvSpPr>
          <p:cNvPr id="21" name="Shape 19"/>
          <p:cNvSpPr/>
          <p:nvPr/>
        </p:nvSpPr>
        <p:spPr>
          <a:xfrm>
            <a:off x="4658868" y="786384"/>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txBody>
          <a:bodyPr/>
          <a:lstStyle/>
          <a:p>
            <a:endParaRPr lang="en-US"/>
          </a:p>
        </p:txBody>
      </p:sp>
      <p:sp>
        <p:nvSpPr>
          <p:cNvPr id="22" name="Shape 20"/>
          <p:cNvSpPr/>
          <p:nvPr/>
        </p:nvSpPr>
        <p:spPr>
          <a:xfrm>
            <a:off x="4663440" y="822960"/>
            <a:ext cx="54864" cy="3931920"/>
          </a:xfrm>
          <a:prstGeom prst="rect">
            <a:avLst/>
          </a:prstGeom>
          <a:solidFill>
            <a:srgbClr val="F47B20"/>
          </a:solidFill>
          <a:ln w="12700">
            <a:solidFill>
              <a:srgbClr val="F47B20"/>
            </a:solidFill>
            <a:prstDash val="solid"/>
          </a:ln>
        </p:spPr>
      </p:sp>
      <p:sp>
        <p:nvSpPr>
          <p:cNvPr id="23" name="Text 21"/>
          <p:cNvSpPr/>
          <p:nvPr/>
        </p:nvSpPr>
        <p:spPr>
          <a:xfrm>
            <a:off x="4828032" y="896112"/>
            <a:ext cx="3749040" cy="711200"/>
          </a:xfrm>
          <a:prstGeom prst="rect">
            <a:avLst/>
          </a:prstGeom>
          <a:noFill/>
          <a:ln/>
        </p:spPr>
        <p:txBody>
          <a:bodyPr wrap="square" lIns="0" tIns="0" rIns="0" bIns="0" rtlCol="0" anchor="ctr"/>
          <a:lstStyle/>
          <a:p>
            <a:pPr marL="0" indent="0">
              <a:buNone/>
            </a:pPr>
            <a:r>
              <a:rPr lang="en-US" sz="1200" b="1" dirty="0" err="1" smtClean="0">
                <a:solidFill>
                  <a:srgbClr val="0D1B2A"/>
                </a:solidFill>
              </a:rPr>
              <a:t>Kẻ</a:t>
            </a:r>
            <a:r>
              <a:rPr lang="en-US" sz="1200" b="1" dirty="0" smtClean="0">
                <a:solidFill>
                  <a:srgbClr val="0D1B2A"/>
                </a:solidFill>
              </a:rPr>
              <a:t> </a:t>
            </a:r>
            <a:r>
              <a:rPr lang="en-US" sz="1200" b="1" dirty="0" err="1" smtClean="0">
                <a:solidFill>
                  <a:srgbClr val="0D1B2A"/>
                </a:solidFill>
              </a:rPr>
              <a:t>tấn</a:t>
            </a:r>
            <a:r>
              <a:rPr lang="en-US" sz="1200" b="1" dirty="0" smtClean="0">
                <a:solidFill>
                  <a:srgbClr val="0D1B2A"/>
                </a:solidFill>
              </a:rPr>
              <a:t> </a:t>
            </a:r>
            <a:r>
              <a:rPr lang="en-US" sz="1200" b="1" dirty="0" err="1" smtClean="0">
                <a:solidFill>
                  <a:srgbClr val="0D1B2A"/>
                </a:solidFill>
              </a:rPr>
              <a:t>công</a:t>
            </a:r>
            <a:r>
              <a:rPr lang="en-US" sz="1200" b="1" dirty="0" smtClean="0">
                <a:solidFill>
                  <a:srgbClr val="0D1B2A"/>
                </a:solidFill>
              </a:rPr>
              <a:t> </a:t>
            </a:r>
            <a:r>
              <a:rPr lang="en-US" sz="1200" b="1" dirty="0" err="1" smtClean="0">
                <a:solidFill>
                  <a:srgbClr val="0D1B2A"/>
                </a:solidFill>
              </a:rPr>
              <a:t>biết</a:t>
            </a:r>
            <a:r>
              <a:rPr lang="en-US" sz="1200" b="1" dirty="0" smtClean="0">
                <a:solidFill>
                  <a:srgbClr val="0D1B2A"/>
                </a:solidFill>
              </a:rPr>
              <a:t> </a:t>
            </a:r>
            <a:r>
              <a:rPr lang="en-US" sz="1200" b="1" dirty="0" err="1" smtClean="0">
                <a:solidFill>
                  <a:srgbClr val="0D1B2A"/>
                </a:solidFill>
              </a:rPr>
              <a:t>gì</a:t>
            </a:r>
            <a:r>
              <a:rPr lang="en-US" sz="1200" b="1" dirty="0" smtClean="0">
                <a:solidFill>
                  <a:srgbClr val="0D1B2A"/>
                </a:solidFill>
              </a:rPr>
              <a:t>?</a:t>
            </a:r>
          </a:p>
          <a:p>
            <a:pPr marL="0" indent="0">
              <a:buNone/>
            </a:pPr>
            <a:endParaRPr lang="en-US" sz="1200" dirty="0" smtClean="0"/>
          </a:p>
          <a:p>
            <a:r>
              <a:rPr lang="vi-VN" sz="1000" dirty="0"/>
              <a:t>Không phải toàn bộ trạng thái nội bộ (chỉ đội vận hành có), mà mức nhận thức đạt được từ bên ngoài qua quan sát gián tiếp.</a:t>
            </a:r>
            <a:endParaRPr lang="en-US" sz="1000" dirty="0"/>
          </a:p>
        </p:txBody>
      </p:sp>
      <p:sp>
        <p:nvSpPr>
          <p:cNvPr id="28" name="Text 26"/>
          <p:cNvSpPr/>
          <p:nvPr/>
        </p:nvSpPr>
        <p:spPr>
          <a:xfrm>
            <a:off x="4919472" y="1682496"/>
            <a:ext cx="3547872" cy="512064"/>
          </a:xfrm>
          <a:prstGeom prst="rect">
            <a:avLst/>
          </a:prstGeom>
          <a:noFill/>
          <a:ln/>
        </p:spPr>
        <p:txBody>
          <a:bodyPr wrap="square" lIns="0" tIns="0" rIns="0" bIns="0" rtlCol="0" anchor="ctr"/>
          <a:lstStyle/>
          <a:p>
            <a:pPr marL="0" indent="0">
              <a:buNone/>
            </a:pPr>
            <a:endParaRPr lang="en-US" sz="950" dirty="0"/>
          </a:p>
        </p:txBody>
      </p:sp>
      <p:sp>
        <p:nvSpPr>
          <p:cNvPr id="29" name="Text 6"/>
          <p:cNvSpPr/>
          <p:nvPr/>
        </p:nvSpPr>
        <p:spPr>
          <a:xfrm>
            <a:off x="411480" y="1607312"/>
            <a:ext cx="3840480" cy="1216914"/>
          </a:xfrm>
          <a:prstGeom prst="rect">
            <a:avLst/>
          </a:prstGeom>
          <a:noFill/>
          <a:ln/>
        </p:spPr>
        <p:txBody>
          <a:bodyPr wrap="square" lIns="0" tIns="0" rIns="0" bIns="0" rtlCol="0" anchor="ctr"/>
          <a:lstStyle/>
          <a:p>
            <a:pPr marL="0" indent="0">
              <a:buNone/>
            </a:pPr>
            <a:r>
              <a:rPr lang="en-US" sz="1200" b="1" dirty="0" err="1" smtClean="0">
                <a:solidFill>
                  <a:srgbClr val="0D1B2A"/>
                </a:solidFill>
              </a:rPr>
              <a:t>Tính</a:t>
            </a:r>
            <a:r>
              <a:rPr lang="en-US" sz="1200" b="1" dirty="0" smtClean="0">
                <a:solidFill>
                  <a:srgbClr val="0D1B2A"/>
                </a:solidFill>
              </a:rPr>
              <a:t> </a:t>
            </a:r>
            <a:r>
              <a:rPr lang="en-US" sz="1200" b="1" dirty="0" err="1" smtClean="0">
                <a:solidFill>
                  <a:srgbClr val="0D1B2A"/>
                </a:solidFill>
              </a:rPr>
              <a:t>tinh</a:t>
            </a:r>
            <a:r>
              <a:rPr lang="en-US" sz="1200" b="1" dirty="0" smtClean="0">
                <a:solidFill>
                  <a:srgbClr val="0D1B2A"/>
                </a:solidFill>
              </a:rPr>
              <a:t> vi </a:t>
            </a:r>
            <a:r>
              <a:rPr lang="en-US" sz="1200" b="1" dirty="0" err="1" smtClean="0">
                <a:solidFill>
                  <a:srgbClr val="0D1B2A"/>
                </a:solidFill>
              </a:rPr>
              <a:t>của</a:t>
            </a:r>
            <a:r>
              <a:rPr lang="en-US" sz="1200" b="1" dirty="0" smtClean="0">
                <a:solidFill>
                  <a:srgbClr val="0D1B2A"/>
                </a:solidFill>
              </a:rPr>
              <a:t> </a:t>
            </a:r>
            <a:r>
              <a:rPr lang="en-US" sz="1200" b="1" dirty="0" err="1" smtClean="0">
                <a:solidFill>
                  <a:srgbClr val="0D1B2A"/>
                </a:solidFill>
              </a:rPr>
              <a:t>việc</a:t>
            </a:r>
            <a:r>
              <a:rPr lang="en-US" sz="1200" b="1" dirty="0" smtClean="0">
                <a:solidFill>
                  <a:srgbClr val="0D1B2A"/>
                </a:solidFill>
              </a:rPr>
              <a:t> </a:t>
            </a:r>
            <a:r>
              <a:rPr lang="en-US" sz="1200" b="1" dirty="0" err="1" smtClean="0">
                <a:solidFill>
                  <a:srgbClr val="0D1B2A"/>
                </a:solidFill>
              </a:rPr>
              <a:t>tấn</a:t>
            </a:r>
            <a:r>
              <a:rPr lang="en-US" sz="1200" b="1" dirty="0" smtClean="0">
                <a:solidFill>
                  <a:srgbClr val="0D1B2A"/>
                </a:solidFill>
              </a:rPr>
              <a:t> </a:t>
            </a:r>
            <a:r>
              <a:rPr lang="en-US" sz="1200" b="1" dirty="0" err="1" smtClean="0">
                <a:solidFill>
                  <a:srgbClr val="0D1B2A"/>
                </a:solidFill>
              </a:rPr>
              <a:t>công</a:t>
            </a:r>
            <a:endParaRPr lang="en-US" sz="1200" b="1" dirty="0" smtClean="0">
              <a:solidFill>
                <a:srgbClr val="0D1B2A"/>
              </a:solidFill>
            </a:endParaRPr>
          </a:p>
          <a:p>
            <a:pPr marL="0" indent="0">
              <a:buNone/>
            </a:pPr>
            <a:endParaRPr lang="en-US" sz="1200" b="1" dirty="0" smtClean="0">
              <a:solidFill>
                <a:srgbClr val="0D1B2A"/>
              </a:solidFill>
            </a:endParaRPr>
          </a:p>
          <a:p>
            <a:r>
              <a:rPr lang="vi-VN" sz="1000" dirty="0"/>
              <a:t>Không tạo đợt tăng tải đột ngột dễ nhận biết, mà tăng tải dần dần (giả lập tăng trưởng tự nhiên) hoặc dùng các đợt bùng phát rất </a:t>
            </a:r>
            <a:r>
              <a:rPr lang="vi-VN" sz="1000" dirty="0" smtClean="0"/>
              <a:t>ngắn</a:t>
            </a:r>
            <a:endParaRPr lang="en-US" sz="1000" dirty="0" smtClean="0"/>
          </a:p>
          <a:p>
            <a:endParaRPr lang="en-US" sz="1000" dirty="0"/>
          </a:p>
          <a:p>
            <a:r>
              <a:rPr lang="vi-VN" sz="1000" dirty="0"/>
              <a:t>Tấn công được tung ra đúng lúc lưu lượng hợp lệ vốn đã </a:t>
            </a:r>
            <a:r>
              <a:rPr lang="vi-VN" sz="1000" dirty="0" smtClean="0"/>
              <a:t>cao</a:t>
            </a:r>
            <a:r>
              <a:rPr lang="en-US" sz="1000" dirty="0" smtClean="0"/>
              <a:t> </a:t>
            </a:r>
            <a:r>
              <a:rPr lang="en-US" sz="1000" dirty="0"/>
              <a:t>-</a:t>
            </a:r>
            <a:r>
              <a:rPr lang="vi-VN" sz="1000" dirty="0" smtClean="0"/>
              <a:t> </a:t>
            </a:r>
            <a:r>
              <a:rPr lang="vi-VN" sz="1000" dirty="0"/>
              <a:t>tín hiệu giả bị che khuất trong tín hiệu tăng tải thật.</a:t>
            </a:r>
            <a:endParaRPr lang="en-US" sz="1000" dirty="0"/>
          </a:p>
        </p:txBody>
      </p:sp>
      <p:sp>
        <p:nvSpPr>
          <p:cNvPr id="30" name="Text 6"/>
          <p:cNvSpPr/>
          <p:nvPr/>
        </p:nvSpPr>
        <p:spPr>
          <a:xfrm>
            <a:off x="411480" y="2901696"/>
            <a:ext cx="3840480" cy="640080"/>
          </a:xfrm>
          <a:prstGeom prst="rect">
            <a:avLst/>
          </a:prstGeom>
          <a:noFill/>
          <a:ln/>
        </p:spPr>
        <p:txBody>
          <a:bodyPr wrap="square" lIns="0" tIns="0" rIns="0" bIns="0" rtlCol="0" anchor="ctr"/>
          <a:lstStyle/>
          <a:p>
            <a:r>
              <a:rPr lang="en-US" sz="1200" b="1" dirty="0" err="1" smtClean="0">
                <a:solidFill>
                  <a:srgbClr val="0D1B2A"/>
                </a:solidFill>
              </a:rPr>
              <a:t>Hệ</a:t>
            </a:r>
            <a:r>
              <a:rPr lang="en-US" sz="1200" b="1" dirty="0" smtClean="0">
                <a:solidFill>
                  <a:srgbClr val="0D1B2A"/>
                </a:solidFill>
              </a:rPr>
              <a:t> </a:t>
            </a:r>
            <a:r>
              <a:rPr lang="en-US" sz="1200" b="1" dirty="0" err="1">
                <a:solidFill>
                  <a:srgbClr val="0D1B2A"/>
                </a:solidFill>
              </a:rPr>
              <a:t>quả</a:t>
            </a:r>
            <a:r>
              <a:rPr lang="en-US" sz="1200" b="1" dirty="0">
                <a:solidFill>
                  <a:srgbClr val="0D1B2A"/>
                </a:solidFill>
              </a:rPr>
              <a:t> </a:t>
            </a:r>
            <a:r>
              <a:rPr lang="en-US" sz="1200" b="1" dirty="0" err="1">
                <a:solidFill>
                  <a:srgbClr val="0D1B2A"/>
                </a:solidFill>
              </a:rPr>
              <a:t>với</a:t>
            </a:r>
            <a:r>
              <a:rPr lang="en-US" sz="1200" b="1" dirty="0">
                <a:solidFill>
                  <a:srgbClr val="0D1B2A"/>
                </a:solidFill>
              </a:rPr>
              <a:t> </a:t>
            </a:r>
            <a:r>
              <a:rPr lang="en-US" sz="1200" b="1" dirty="0" err="1">
                <a:solidFill>
                  <a:srgbClr val="0D1B2A"/>
                </a:solidFill>
              </a:rPr>
              <a:t>mô</a:t>
            </a:r>
            <a:r>
              <a:rPr lang="en-US" sz="1200" b="1" dirty="0">
                <a:solidFill>
                  <a:srgbClr val="0D1B2A"/>
                </a:solidFill>
              </a:rPr>
              <a:t> </a:t>
            </a:r>
            <a:r>
              <a:rPr lang="en-US" sz="1200" b="1" dirty="0" err="1">
                <a:solidFill>
                  <a:srgbClr val="0D1B2A"/>
                </a:solidFill>
              </a:rPr>
              <a:t>hình</a:t>
            </a:r>
            <a:r>
              <a:rPr lang="en-US" sz="1200" b="1" dirty="0">
                <a:solidFill>
                  <a:srgbClr val="0D1B2A"/>
                </a:solidFill>
              </a:rPr>
              <a:t> </a:t>
            </a:r>
            <a:r>
              <a:rPr lang="en-US" sz="1200" b="1" dirty="0" smtClean="0">
                <a:solidFill>
                  <a:srgbClr val="0D1B2A"/>
                </a:solidFill>
              </a:rPr>
              <a:t>pay-as-you-go</a:t>
            </a:r>
          </a:p>
          <a:p>
            <a:r>
              <a:rPr lang="vi-VN" sz="1000" dirty="0"/>
              <a:t>Với dịch vụ dùng hạ tầng bên thứ ba, thiệt hại thường chỉ lộ ra trên hóa đơn, không lộ ra trên dashboard giám sát uptime.</a:t>
            </a:r>
            <a:endParaRPr lang="en-US" sz="1000" dirty="0"/>
          </a:p>
        </p:txBody>
      </p:sp>
      <p:sp>
        <p:nvSpPr>
          <p:cNvPr id="31" name="Text 6"/>
          <p:cNvSpPr/>
          <p:nvPr/>
        </p:nvSpPr>
        <p:spPr>
          <a:xfrm>
            <a:off x="434340" y="3561588"/>
            <a:ext cx="3840480" cy="744522"/>
          </a:xfrm>
          <a:prstGeom prst="rect">
            <a:avLst/>
          </a:prstGeom>
          <a:noFill/>
          <a:ln/>
        </p:spPr>
        <p:txBody>
          <a:bodyPr wrap="square" lIns="0" tIns="0" rIns="0" bIns="0" rtlCol="0" anchor="ctr"/>
          <a:lstStyle/>
          <a:p>
            <a:r>
              <a:rPr lang="en-US" sz="1200" b="1" dirty="0" smtClean="0">
                <a:solidFill>
                  <a:srgbClr val="0D1B2A"/>
                </a:solidFill>
              </a:rPr>
              <a:t>=&gt; </a:t>
            </a:r>
            <a:r>
              <a:rPr lang="en-US" sz="1200" dirty="0" err="1" smtClean="0"/>
              <a:t>EDoS</a:t>
            </a:r>
            <a:r>
              <a:rPr lang="en-US" sz="1200" dirty="0" smtClean="0"/>
              <a:t> </a:t>
            </a:r>
            <a:r>
              <a:rPr lang="en-US" sz="1200" dirty="0" err="1"/>
              <a:t>mô</a:t>
            </a:r>
            <a:r>
              <a:rPr lang="en-US" sz="1200" dirty="0"/>
              <a:t> </a:t>
            </a:r>
            <a:r>
              <a:rPr lang="en-US" sz="1200" dirty="0" err="1"/>
              <a:t>phỏng</a:t>
            </a:r>
            <a:r>
              <a:rPr lang="en-US" sz="1200" dirty="0"/>
              <a:t> </a:t>
            </a:r>
            <a:r>
              <a:rPr lang="en-US" sz="1200" dirty="0" err="1"/>
              <a:t>đúng</a:t>
            </a:r>
            <a:r>
              <a:rPr lang="en-US" sz="1200" dirty="0"/>
              <a:t> </a:t>
            </a:r>
            <a:r>
              <a:rPr lang="en-US" sz="1200" dirty="0" err="1"/>
              <a:t>cái</a:t>
            </a:r>
            <a:r>
              <a:rPr lang="en-US" sz="1200" dirty="0"/>
              <a:t> </a:t>
            </a:r>
            <a:r>
              <a:rPr lang="en-US" sz="1200" dirty="0" err="1"/>
              <a:t>hệ</a:t>
            </a:r>
            <a:r>
              <a:rPr lang="en-US" sz="1200" dirty="0"/>
              <a:t> </a:t>
            </a:r>
            <a:r>
              <a:rPr lang="en-US" sz="1200" dirty="0" err="1"/>
              <a:t>thống</a:t>
            </a:r>
            <a:r>
              <a:rPr lang="en-US" sz="1200" dirty="0"/>
              <a:t> tin </a:t>
            </a:r>
            <a:r>
              <a:rPr lang="en-US" sz="1200" dirty="0" err="1"/>
              <a:t>là</a:t>
            </a:r>
            <a:r>
              <a:rPr lang="en-US" sz="1200" dirty="0"/>
              <a:t> </a:t>
            </a:r>
            <a:r>
              <a:rPr lang="en-US" sz="1200" dirty="0" err="1"/>
              <a:t>hợp</a:t>
            </a:r>
            <a:r>
              <a:rPr lang="en-US" sz="1200" dirty="0"/>
              <a:t> </a:t>
            </a:r>
            <a:r>
              <a:rPr lang="en-US" sz="1200" dirty="0" err="1" smtClean="0"/>
              <a:t>lệ</a:t>
            </a:r>
            <a:r>
              <a:rPr lang="en-US" sz="1200" dirty="0" smtClean="0"/>
              <a:t> </a:t>
            </a:r>
            <a:r>
              <a:rPr lang="en-US" sz="1200" dirty="0" err="1" smtClean="0"/>
              <a:t>nên</a:t>
            </a:r>
            <a:r>
              <a:rPr lang="en-US" sz="1200" dirty="0" smtClean="0"/>
              <a:t> </a:t>
            </a:r>
            <a:r>
              <a:rPr lang="en-US" sz="1200" dirty="0" err="1"/>
              <a:t>không</a:t>
            </a:r>
            <a:r>
              <a:rPr lang="en-US" sz="1200" dirty="0"/>
              <a:t> </a:t>
            </a:r>
            <a:r>
              <a:rPr lang="en-US" sz="1200" dirty="0" err="1"/>
              <a:t>thể</a:t>
            </a:r>
            <a:r>
              <a:rPr lang="en-US" sz="1200" dirty="0"/>
              <a:t> </a:t>
            </a:r>
            <a:r>
              <a:rPr lang="en-US" sz="1200" dirty="0" err="1"/>
              <a:t>dừng</a:t>
            </a:r>
            <a:r>
              <a:rPr lang="en-US" sz="1200" dirty="0"/>
              <a:t> ở "</a:t>
            </a:r>
            <a:r>
              <a:rPr lang="en-US" sz="1200" dirty="0" err="1"/>
              <a:t>nhận</a:t>
            </a:r>
            <a:r>
              <a:rPr lang="en-US" sz="1200" dirty="0"/>
              <a:t> </a:t>
            </a:r>
            <a:r>
              <a:rPr lang="en-US" sz="1200" dirty="0" err="1"/>
              <a:t>diện</a:t>
            </a:r>
            <a:r>
              <a:rPr lang="en-US" sz="1200" dirty="0"/>
              <a:t> </a:t>
            </a:r>
            <a:r>
              <a:rPr lang="en-US" sz="1200" dirty="0" err="1"/>
              <a:t>tấn</a:t>
            </a:r>
            <a:r>
              <a:rPr lang="en-US" sz="1200" dirty="0"/>
              <a:t> </a:t>
            </a:r>
            <a:r>
              <a:rPr lang="en-US" sz="1200" dirty="0" err="1"/>
              <a:t>công</a:t>
            </a:r>
            <a:r>
              <a:rPr lang="en-US" sz="1200" dirty="0"/>
              <a:t>" → </a:t>
            </a:r>
            <a:r>
              <a:rPr lang="en-US" sz="1200" dirty="0" err="1"/>
              <a:t>cần</a:t>
            </a:r>
            <a:r>
              <a:rPr lang="en-US" sz="1200" dirty="0"/>
              <a:t> </a:t>
            </a:r>
            <a:r>
              <a:rPr lang="en-US" sz="1200" dirty="0" err="1"/>
              <a:t>làm</a:t>
            </a:r>
            <a:r>
              <a:rPr lang="en-US" sz="1200" dirty="0"/>
              <a:t> </a:t>
            </a:r>
            <a:r>
              <a:rPr lang="en-US" sz="1200" dirty="0" err="1"/>
              <a:t>rõ</a:t>
            </a:r>
            <a:r>
              <a:rPr lang="en-US" sz="1200" dirty="0"/>
              <a:t> </a:t>
            </a:r>
            <a:r>
              <a:rPr lang="en-US" sz="1200" dirty="0" err="1"/>
              <a:t>cấu</a:t>
            </a:r>
            <a:r>
              <a:rPr lang="en-US" sz="1200" dirty="0"/>
              <a:t> </a:t>
            </a:r>
            <a:r>
              <a:rPr lang="en-US" sz="1200" dirty="0" err="1"/>
              <a:t>trúc</a:t>
            </a:r>
            <a:r>
              <a:rPr lang="en-US" sz="1200" dirty="0"/>
              <a:t> </a:t>
            </a:r>
            <a:r>
              <a:rPr lang="en-US" sz="1200" dirty="0" err="1"/>
              <a:t>kinh</a:t>
            </a:r>
            <a:r>
              <a:rPr lang="en-US" sz="1200" dirty="0"/>
              <a:t> </a:t>
            </a:r>
            <a:r>
              <a:rPr lang="en-US" sz="1200" dirty="0" err="1"/>
              <a:t>tế</a:t>
            </a:r>
            <a:r>
              <a:rPr lang="en-US" sz="1200" dirty="0"/>
              <a:t> </a:t>
            </a:r>
            <a:r>
              <a:rPr lang="en-US" sz="1200" dirty="0" err="1"/>
              <a:t>của</a:t>
            </a:r>
            <a:r>
              <a:rPr lang="en-US" sz="1200" dirty="0"/>
              <a:t> </a:t>
            </a:r>
            <a:r>
              <a:rPr lang="en-US" sz="1200" dirty="0" err="1"/>
              <a:t>hệ</a:t>
            </a:r>
            <a:r>
              <a:rPr lang="en-US" sz="1200" dirty="0"/>
              <a:t> </a:t>
            </a:r>
            <a:r>
              <a:rPr lang="en-US" sz="1200" dirty="0" err="1"/>
              <a:t>thống</a:t>
            </a:r>
            <a:r>
              <a:rPr lang="en-US" sz="1200" dirty="0"/>
              <a:t> </a:t>
            </a:r>
            <a:r>
              <a:rPr lang="en-US" sz="1200" dirty="0" err="1" smtClean="0"/>
              <a:t>và</a:t>
            </a:r>
            <a:r>
              <a:rPr lang="en-US" sz="1200" dirty="0" smtClean="0"/>
              <a:t> </a:t>
            </a:r>
            <a:r>
              <a:rPr lang="en-US" sz="1200" dirty="0" err="1"/>
              <a:t>những</a:t>
            </a:r>
            <a:r>
              <a:rPr lang="en-US" sz="1200" dirty="0"/>
              <a:t> </a:t>
            </a:r>
            <a:r>
              <a:rPr lang="en-US" sz="1200" dirty="0" err="1"/>
              <a:t>gì</a:t>
            </a:r>
            <a:r>
              <a:rPr lang="en-US" sz="1200" dirty="0"/>
              <a:t> </a:t>
            </a:r>
            <a:r>
              <a:rPr lang="en-US" sz="1200" dirty="0" err="1"/>
              <a:t>kẻ</a:t>
            </a:r>
            <a:r>
              <a:rPr lang="en-US" sz="1200" dirty="0"/>
              <a:t> </a:t>
            </a:r>
            <a:r>
              <a:rPr lang="en-US" sz="1200" dirty="0" err="1"/>
              <a:t>tấn</a:t>
            </a:r>
            <a:r>
              <a:rPr lang="en-US" sz="1200" dirty="0"/>
              <a:t> </a:t>
            </a:r>
            <a:r>
              <a:rPr lang="en-US" sz="1200" dirty="0" err="1"/>
              <a:t>công</a:t>
            </a:r>
            <a:r>
              <a:rPr lang="en-US" sz="1200" dirty="0"/>
              <a:t> </a:t>
            </a:r>
            <a:r>
              <a:rPr lang="en-US" sz="1200" dirty="0" err="1"/>
              <a:t>có</a:t>
            </a:r>
            <a:r>
              <a:rPr lang="en-US" sz="1200" dirty="0"/>
              <a:t> </a:t>
            </a:r>
            <a:r>
              <a:rPr lang="en-US" sz="1200" dirty="0" err="1"/>
              <a:t>thể</a:t>
            </a:r>
            <a:r>
              <a:rPr lang="en-US" sz="1200" dirty="0"/>
              <a:t> </a:t>
            </a:r>
            <a:r>
              <a:rPr lang="en-US" sz="1200" dirty="0" err="1"/>
              <a:t>biết</a:t>
            </a:r>
            <a:r>
              <a:rPr lang="en-US" sz="1200" dirty="0"/>
              <a:t> </a:t>
            </a:r>
            <a:r>
              <a:rPr lang="en-US" sz="1200" dirty="0" err="1"/>
              <a:t>về</a:t>
            </a:r>
            <a:r>
              <a:rPr lang="en-US" sz="1200" dirty="0"/>
              <a:t> </a:t>
            </a:r>
            <a:r>
              <a:rPr lang="en-US" sz="1200" dirty="0" err="1" smtClean="0"/>
              <a:t>nó</a:t>
            </a:r>
            <a:r>
              <a:rPr lang="en-US" sz="1200" dirty="0" smtClean="0"/>
              <a:t>.</a:t>
            </a:r>
            <a:endParaRPr lang="en-US" sz="1200" dirty="0"/>
          </a:p>
        </p:txBody>
      </p:sp>
      <p:sp>
        <p:nvSpPr>
          <p:cNvPr id="33" name="Text 21"/>
          <p:cNvSpPr/>
          <p:nvPr/>
        </p:nvSpPr>
        <p:spPr>
          <a:xfrm>
            <a:off x="4818888" y="1716024"/>
            <a:ext cx="3749040" cy="1279144"/>
          </a:xfrm>
          <a:prstGeom prst="rect">
            <a:avLst/>
          </a:prstGeom>
          <a:noFill/>
          <a:ln/>
        </p:spPr>
        <p:txBody>
          <a:bodyPr wrap="square" lIns="0" tIns="0" rIns="0" bIns="0" rtlCol="0" anchor="ctr"/>
          <a:lstStyle/>
          <a:p>
            <a:pPr marL="0" indent="0">
              <a:buNone/>
            </a:pPr>
            <a:r>
              <a:rPr lang="en-US" sz="1200" b="1" dirty="0" err="1" smtClean="0">
                <a:solidFill>
                  <a:srgbClr val="0D1B2A"/>
                </a:solidFill>
              </a:rPr>
              <a:t>Một</a:t>
            </a:r>
            <a:r>
              <a:rPr lang="en-US" sz="1200" b="1" dirty="0" smtClean="0">
                <a:solidFill>
                  <a:srgbClr val="0D1B2A"/>
                </a:solidFill>
              </a:rPr>
              <a:t> </a:t>
            </a:r>
            <a:r>
              <a:rPr lang="en-US" sz="1200" b="1" dirty="0" err="1" smtClean="0">
                <a:solidFill>
                  <a:srgbClr val="0D1B2A"/>
                </a:solidFill>
              </a:rPr>
              <a:t>số</a:t>
            </a:r>
            <a:r>
              <a:rPr lang="en-US" sz="1200" b="1" dirty="0" smtClean="0">
                <a:solidFill>
                  <a:srgbClr val="0D1B2A"/>
                </a:solidFill>
              </a:rPr>
              <a:t> </a:t>
            </a:r>
            <a:r>
              <a:rPr lang="en-US" sz="1200" b="1" dirty="0" err="1" smtClean="0">
                <a:solidFill>
                  <a:srgbClr val="0D1B2A"/>
                </a:solidFill>
              </a:rPr>
              <a:t>kênh</a:t>
            </a:r>
            <a:r>
              <a:rPr lang="en-US" sz="1200" b="1" dirty="0" smtClean="0">
                <a:solidFill>
                  <a:srgbClr val="0D1B2A"/>
                </a:solidFill>
              </a:rPr>
              <a:t> </a:t>
            </a:r>
            <a:r>
              <a:rPr lang="en-US" sz="1200" b="1" dirty="0" err="1" smtClean="0">
                <a:solidFill>
                  <a:srgbClr val="0D1B2A"/>
                </a:solidFill>
              </a:rPr>
              <a:t>quan</a:t>
            </a:r>
            <a:r>
              <a:rPr lang="en-US" sz="1200" b="1" dirty="0" smtClean="0">
                <a:solidFill>
                  <a:srgbClr val="0D1B2A"/>
                </a:solidFill>
              </a:rPr>
              <a:t> </a:t>
            </a:r>
            <a:r>
              <a:rPr lang="en-US" sz="1200" b="1" dirty="0" err="1" smtClean="0">
                <a:solidFill>
                  <a:srgbClr val="0D1B2A"/>
                </a:solidFill>
              </a:rPr>
              <a:t>sát</a:t>
            </a:r>
            <a:r>
              <a:rPr lang="en-US" sz="1200" b="1" dirty="0" smtClean="0">
                <a:solidFill>
                  <a:srgbClr val="0D1B2A"/>
                </a:solidFill>
              </a:rPr>
              <a:t> </a:t>
            </a:r>
            <a:r>
              <a:rPr lang="en-US" sz="1200" b="1" dirty="0" err="1" smtClean="0">
                <a:solidFill>
                  <a:srgbClr val="0D1B2A"/>
                </a:solidFill>
              </a:rPr>
              <a:t>điển</a:t>
            </a:r>
            <a:r>
              <a:rPr lang="en-US" sz="1200" b="1" dirty="0" smtClean="0">
                <a:solidFill>
                  <a:srgbClr val="0D1B2A"/>
                </a:solidFill>
              </a:rPr>
              <a:t> </a:t>
            </a:r>
            <a:r>
              <a:rPr lang="en-US" sz="1200" b="1" dirty="0" err="1" smtClean="0">
                <a:solidFill>
                  <a:srgbClr val="0D1B2A"/>
                </a:solidFill>
              </a:rPr>
              <a:t>hình</a:t>
            </a:r>
            <a:endParaRPr lang="en-US" sz="1200" b="1" dirty="0" smtClean="0">
              <a:solidFill>
                <a:srgbClr val="0D1B2A"/>
              </a:solidFill>
            </a:endParaRPr>
          </a:p>
          <a:p>
            <a:pPr marL="0" indent="0">
              <a:buNone/>
            </a:pPr>
            <a:endParaRPr lang="en-US" sz="1200" b="1" dirty="0" smtClean="0">
              <a:solidFill>
                <a:srgbClr val="0D1B2A"/>
              </a:solidFill>
            </a:endParaRPr>
          </a:p>
          <a:p>
            <a:r>
              <a:rPr lang="en-US" sz="1000" dirty="0" smtClean="0"/>
              <a:t>       - </a:t>
            </a:r>
            <a:r>
              <a:rPr lang="vi-VN" sz="1000" dirty="0" smtClean="0"/>
              <a:t>Rà </a:t>
            </a:r>
            <a:r>
              <a:rPr lang="vi-VN" sz="1000" dirty="0"/>
              <a:t>quét dịch vụ (kiểu ZMap) → xác định endpoint hoạt động, suy ra thay đổi số lượng instance</a:t>
            </a:r>
          </a:p>
          <a:p>
            <a:r>
              <a:rPr lang="en-US" sz="1000" dirty="0" smtClean="0"/>
              <a:t>       - </a:t>
            </a:r>
            <a:r>
              <a:rPr lang="vi-VN" sz="1000" dirty="0" smtClean="0"/>
              <a:t>Đo </a:t>
            </a:r>
            <a:r>
              <a:rPr lang="vi-VN" sz="1000" dirty="0"/>
              <a:t>biến động thời gian phản hồi → hàng đợi dài hơn ⇒ hệ thống gần ngưỡng mở </a:t>
            </a:r>
            <a:r>
              <a:rPr lang="vi-VN" sz="1000" dirty="0" smtClean="0"/>
              <a:t>rộng</a:t>
            </a:r>
          </a:p>
          <a:p>
            <a:r>
              <a:rPr lang="en-US" sz="1000" dirty="0" smtClean="0"/>
              <a:t>       - P</a:t>
            </a:r>
            <a:r>
              <a:rPr lang="vi-VN" sz="1000" dirty="0" smtClean="0"/>
              <a:t>hiên </a:t>
            </a:r>
            <a:r>
              <a:rPr lang="vi-VN" sz="1000" dirty="0"/>
              <a:t>bản phần mềm, cấu trúc phản hồi </a:t>
            </a:r>
            <a:r>
              <a:rPr lang="vi-VN" sz="1000" dirty="0" smtClean="0"/>
              <a:t>HTTP </a:t>
            </a:r>
            <a:r>
              <a:rPr lang="vi-VN" sz="1000" dirty="0"/>
              <a:t>→ lộ quy mô và cách cấu hình autoscaling</a:t>
            </a:r>
            <a:endParaRPr lang="en-US" sz="1000" dirty="0" smtClean="0"/>
          </a:p>
        </p:txBody>
      </p:sp>
      <p:sp>
        <p:nvSpPr>
          <p:cNvPr id="35" name="Text 21"/>
          <p:cNvSpPr/>
          <p:nvPr/>
        </p:nvSpPr>
        <p:spPr>
          <a:xfrm>
            <a:off x="4864608" y="3145536"/>
            <a:ext cx="3749040" cy="962914"/>
          </a:xfrm>
          <a:prstGeom prst="rect">
            <a:avLst/>
          </a:prstGeom>
          <a:noFill/>
          <a:ln/>
        </p:spPr>
        <p:txBody>
          <a:bodyPr wrap="square" lIns="0" tIns="0" rIns="0" bIns="0" rtlCol="0" anchor="ctr"/>
          <a:lstStyle/>
          <a:p>
            <a:pPr marL="0" indent="0">
              <a:buNone/>
            </a:pPr>
            <a:r>
              <a:rPr lang="en-US" sz="1200" b="1" dirty="0" err="1" smtClean="0">
                <a:solidFill>
                  <a:srgbClr val="0D1B2A"/>
                </a:solidFill>
              </a:rPr>
              <a:t>Bất</a:t>
            </a:r>
            <a:r>
              <a:rPr lang="en-US" sz="1200" b="1" dirty="0" smtClean="0">
                <a:solidFill>
                  <a:srgbClr val="0D1B2A"/>
                </a:solidFill>
              </a:rPr>
              <a:t> </a:t>
            </a:r>
            <a:r>
              <a:rPr lang="en-US" sz="1200" b="1" dirty="0" err="1" smtClean="0">
                <a:solidFill>
                  <a:srgbClr val="0D1B2A"/>
                </a:solidFill>
              </a:rPr>
              <a:t>đối</a:t>
            </a:r>
            <a:r>
              <a:rPr lang="en-US" sz="1200" b="1" dirty="0" smtClean="0">
                <a:solidFill>
                  <a:srgbClr val="0D1B2A"/>
                </a:solidFill>
              </a:rPr>
              <a:t> </a:t>
            </a:r>
            <a:r>
              <a:rPr lang="en-US" sz="1200" b="1" dirty="0" err="1" smtClean="0">
                <a:solidFill>
                  <a:srgbClr val="0D1B2A"/>
                </a:solidFill>
              </a:rPr>
              <a:t>xứng</a:t>
            </a:r>
            <a:r>
              <a:rPr lang="en-US" sz="1200" b="1" dirty="0" smtClean="0">
                <a:solidFill>
                  <a:srgbClr val="0D1B2A"/>
                </a:solidFill>
              </a:rPr>
              <a:t> </a:t>
            </a:r>
            <a:r>
              <a:rPr lang="en-US" sz="1200" b="1" dirty="0" err="1" smtClean="0">
                <a:solidFill>
                  <a:srgbClr val="0D1B2A"/>
                </a:solidFill>
              </a:rPr>
              <a:t>thông</a:t>
            </a:r>
            <a:r>
              <a:rPr lang="en-US" sz="1200" b="1" dirty="0" smtClean="0">
                <a:solidFill>
                  <a:srgbClr val="0D1B2A"/>
                </a:solidFill>
              </a:rPr>
              <a:t> tin</a:t>
            </a:r>
          </a:p>
          <a:p>
            <a:pPr marL="0" indent="0">
              <a:buNone/>
            </a:pPr>
            <a:endParaRPr lang="en-US" sz="1200" b="1" dirty="0" smtClean="0">
              <a:solidFill>
                <a:srgbClr val="0D1B2A"/>
              </a:solidFill>
            </a:endParaRPr>
          </a:p>
          <a:p>
            <a:r>
              <a:rPr lang="vi-VN" sz="1000" dirty="0"/>
              <a:t>Người phòng thủ đi trước mà không biết mình bị nhắm tới; kẻ tấn công đi sau nhưng quan sát và thích nghi được. Chính điều kiện này biện minh cho khung Trò chơi </a:t>
            </a:r>
            <a:r>
              <a:rPr lang="vi-VN" sz="1000" dirty="0" smtClean="0"/>
              <a:t>Stackelberg</a:t>
            </a:r>
            <a:r>
              <a:rPr lang="en-US" sz="1000" dirty="0" smtClean="0"/>
              <a:t> </a:t>
            </a:r>
            <a:r>
              <a:rPr lang="vi-VN" sz="1000" dirty="0" smtClean="0"/>
              <a:t>thay </a:t>
            </a:r>
            <a:r>
              <a:rPr lang="vi-VN" sz="1000" dirty="0"/>
              <a:t>vì mô hình giả định hai bên có cùng lượng thông tin.</a:t>
            </a:r>
            <a:endParaRPr lang="en-US" sz="1000" dirty="0" smtClean="0"/>
          </a:p>
        </p:txBody>
      </p:sp>
    </p:spTree>
    <p:extLst>
      <p:ext uri="{BB962C8B-B14F-4D97-AF65-F5344CB8AC3E}">
        <p14:creationId xmlns:p14="http://schemas.microsoft.com/office/powerpoint/2010/main" val="2766885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514350" y="788670"/>
            <a:ext cx="4526280" cy="240030"/>
          </a:xfrm>
          <a:prstGeom prst="rect">
            <a:avLst/>
          </a:prstGeom>
          <a:noFill/>
          <a:ln/>
        </p:spPr>
        <p:txBody>
          <a:bodyPr wrap="square" lIns="0" tIns="0" rIns="0" bIns="0" rtlCol="0" anchor="ctr"/>
          <a:lstStyle/>
          <a:p>
            <a:pPr defTabSz="685800"/>
            <a:r>
              <a:rPr lang="en-US" sz="1050" b="1" kern="0" spc="225" dirty="0">
                <a:solidFill>
                  <a:srgbClr val="2A9D8F"/>
                </a:solidFill>
                <a:latin typeface="Calibri" pitchFamily="34" charset="0"/>
                <a:ea typeface="Calibri" pitchFamily="34" charset="-122"/>
                <a:cs typeface="Calibri" pitchFamily="34" charset="-120"/>
              </a:rPr>
              <a:t>KIẾN THỨC NỀN TẢNG</a:t>
            </a:r>
            <a:endParaRPr lang="en-US" sz="1050" dirty="0">
              <a:solidFill>
                <a:prstClr val="black"/>
              </a:solidFill>
              <a:latin typeface="Calibri" panose="020F0502020204030204"/>
            </a:endParaRPr>
          </a:p>
        </p:txBody>
      </p:sp>
      <p:sp>
        <p:nvSpPr>
          <p:cNvPr id="3" name="Text 1"/>
          <p:cNvSpPr/>
          <p:nvPr/>
        </p:nvSpPr>
        <p:spPr>
          <a:xfrm>
            <a:off x="514350" y="1097280"/>
            <a:ext cx="4732020" cy="1028700"/>
          </a:xfrm>
          <a:prstGeom prst="rect">
            <a:avLst/>
          </a:prstGeom>
          <a:noFill/>
          <a:ln/>
        </p:spPr>
        <p:txBody>
          <a:bodyPr wrap="square" lIns="0" tIns="0" rIns="0" bIns="0" rtlCol="0" anchor="ctr"/>
          <a:lstStyle/>
          <a:p>
            <a:pPr defTabSz="685800">
              <a:lnSpc>
                <a:spcPts val="3450"/>
              </a:lnSpc>
            </a:pPr>
            <a:r>
              <a:rPr lang="en-US" sz="3150" b="1" dirty="0">
                <a:solidFill>
                  <a:srgbClr val="FFFFFF"/>
                </a:solidFill>
                <a:latin typeface="Cambria" pitchFamily="34" charset="0"/>
                <a:ea typeface="Cambria" pitchFamily="34" charset="-122"/>
                <a:cs typeface="Cambria" pitchFamily="34" charset="-120"/>
              </a:rPr>
              <a:t>MDP &amp; Stackelberg Game</a:t>
            </a:r>
            <a:endParaRPr lang="en-US" sz="3150" dirty="0">
              <a:solidFill>
                <a:prstClr val="black"/>
              </a:solidFill>
              <a:latin typeface="Calibri" panose="020F0502020204030204"/>
            </a:endParaRPr>
          </a:p>
        </p:txBody>
      </p:sp>
      <p:sp>
        <p:nvSpPr>
          <p:cNvPr id="4" name="Text 2"/>
          <p:cNvSpPr/>
          <p:nvPr/>
        </p:nvSpPr>
        <p:spPr>
          <a:xfrm>
            <a:off x="514350" y="2160270"/>
            <a:ext cx="4526280" cy="617220"/>
          </a:xfrm>
          <a:prstGeom prst="rect">
            <a:avLst/>
          </a:prstGeom>
          <a:noFill/>
          <a:ln/>
        </p:spPr>
        <p:txBody>
          <a:bodyPr wrap="square" lIns="0" tIns="0" rIns="0" bIns="0" rtlCol="0" anchor="ctr"/>
          <a:lstStyle/>
          <a:p>
            <a:pPr defTabSz="685800">
              <a:lnSpc>
                <a:spcPts val="1800"/>
              </a:lnSpc>
            </a:pPr>
            <a:r>
              <a:rPr lang="en-US" sz="1200" dirty="0">
                <a:solidFill>
                  <a:srgbClr val="CFE3F0"/>
                </a:solidFill>
                <a:latin typeface="Calibri" pitchFamily="34" charset="0"/>
                <a:ea typeface="Calibri" pitchFamily="34" charset="-122"/>
                <a:cs typeface="Calibri" pitchFamily="34" charset="-120"/>
              </a:rPr>
              <a:t>Hai nền tảng lý thuyết cho cơ chế phòng chống tấn công EDoS trên Kubernetes</a:t>
            </a:r>
            <a:endParaRPr lang="en-US" sz="1200" dirty="0">
              <a:solidFill>
                <a:prstClr val="black"/>
              </a:solidFill>
              <a:latin typeface="Calibri" panose="020F0502020204030204"/>
            </a:endParaRPr>
          </a:p>
        </p:txBody>
      </p:sp>
      <p:sp>
        <p:nvSpPr>
          <p:cNvPr id="5" name="Text 3"/>
          <p:cNvSpPr/>
          <p:nvPr/>
        </p:nvSpPr>
        <p:spPr>
          <a:xfrm>
            <a:off x="514350" y="2983230"/>
            <a:ext cx="4526280" cy="617220"/>
          </a:xfrm>
          <a:prstGeom prst="rect">
            <a:avLst/>
          </a:prstGeom>
          <a:noFill/>
          <a:ln/>
        </p:spPr>
        <p:txBody>
          <a:bodyPr wrap="square" lIns="0" tIns="0" rIns="0" bIns="0" rtlCol="0" anchor="ctr"/>
          <a:lstStyle/>
          <a:p>
            <a:pPr defTabSz="685800">
              <a:lnSpc>
                <a:spcPts val="1500"/>
              </a:lnSpc>
            </a:pPr>
            <a:r>
              <a:rPr lang="en-US" sz="1013" i="1" dirty="0">
                <a:solidFill>
                  <a:srgbClr val="8FA6BC"/>
                </a:solidFill>
                <a:latin typeface="Calibri" pitchFamily="34" charset="0"/>
                <a:ea typeface="Calibri" pitchFamily="34" charset="-122"/>
                <a:cs typeface="Calibri" pitchFamily="34" charset="-120"/>
              </a:rPr>
              <a:t>Câu hỏi chung: Ra quyết định tối ưu thế nào khi kết quả không hoàn toàn nằm trong tay mình?</a:t>
            </a:r>
            <a:endParaRPr lang="en-US" sz="1013" dirty="0">
              <a:solidFill>
                <a:prstClr val="black"/>
              </a:solidFill>
              <a:latin typeface="Calibri" panose="020F0502020204030204"/>
            </a:endParaRPr>
          </a:p>
        </p:txBody>
      </p:sp>
      <p:sp>
        <p:nvSpPr>
          <p:cNvPr id="6" name="Shape 4"/>
          <p:cNvSpPr/>
          <p:nvPr/>
        </p:nvSpPr>
        <p:spPr>
          <a:xfrm>
            <a:off x="5589270" y="1200150"/>
            <a:ext cx="3017520" cy="1200150"/>
          </a:xfrm>
          <a:prstGeom prst="roundRect">
            <a:avLst>
              <a:gd name="adj" fmla="val 6857"/>
            </a:avLst>
          </a:prstGeom>
          <a:solidFill>
            <a:srgbClr val="1E3050"/>
          </a:solidFill>
          <a:ln w="12700">
            <a:solidFill>
              <a:srgbClr val="2C4568"/>
            </a:solidFill>
            <a:prstDash val="solid"/>
          </a:ln>
        </p:spPr>
      </p:sp>
      <p:sp>
        <p:nvSpPr>
          <p:cNvPr id="7" name="Shape 5"/>
          <p:cNvSpPr/>
          <p:nvPr/>
        </p:nvSpPr>
        <p:spPr>
          <a:xfrm>
            <a:off x="5795010" y="1378458"/>
            <a:ext cx="1200150" cy="246888"/>
          </a:xfrm>
          <a:prstGeom prst="roundRect">
            <a:avLst>
              <a:gd name="adj" fmla="val 22222"/>
            </a:avLst>
          </a:prstGeom>
          <a:solidFill>
            <a:srgbClr val="2A9D8F"/>
          </a:solidFill>
          <a:ln/>
        </p:spPr>
      </p:sp>
      <p:sp>
        <p:nvSpPr>
          <p:cNvPr id="8" name="Text 6"/>
          <p:cNvSpPr/>
          <p:nvPr/>
        </p:nvSpPr>
        <p:spPr>
          <a:xfrm>
            <a:off x="5795010" y="1378458"/>
            <a:ext cx="1200150" cy="246888"/>
          </a:xfrm>
          <a:prstGeom prst="rect">
            <a:avLst/>
          </a:prstGeom>
          <a:noFill/>
          <a:ln/>
        </p:spPr>
        <p:txBody>
          <a:bodyPr wrap="square" lIns="0" tIns="0" rIns="0" bIns="0" rtlCol="0" anchor="ctr"/>
          <a:lstStyle/>
          <a:p>
            <a:pPr algn="ctr" defTabSz="685800"/>
            <a:r>
              <a:rPr lang="en-US" sz="863" b="1" kern="0" spc="75" dirty="0">
                <a:solidFill>
                  <a:srgbClr val="FFFFFF"/>
                </a:solidFill>
                <a:latin typeface="Calibri" pitchFamily="34" charset="0"/>
                <a:ea typeface="Calibri" pitchFamily="34" charset="-122"/>
                <a:cs typeface="Calibri" pitchFamily="34" charset="-120"/>
              </a:rPr>
              <a:t>MDP</a:t>
            </a:r>
            <a:endParaRPr lang="en-US" sz="863" dirty="0">
              <a:solidFill>
                <a:prstClr val="black"/>
              </a:solidFill>
              <a:latin typeface="Calibri" panose="020F0502020204030204"/>
            </a:endParaRPr>
          </a:p>
        </p:txBody>
      </p:sp>
      <p:sp>
        <p:nvSpPr>
          <p:cNvPr id="9" name="Text 7"/>
          <p:cNvSpPr/>
          <p:nvPr/>
        </p:nvSpPr>
        <p:spPr>
          <a:xfrm>
            <a:off x="5795010" y="1693926"/>
            <a:ext cx="2640330" cy="219456"/>
          </a:xfrm>
          <a:prstGeom prst="rect">
            <a:avLst/>
          </a:prstGeom>
          <a:noFill/>
          <a:ln/>
        </p:spPr>
        <p:txBody>
          <a:bodyPr wrap="square" lIns="0" tIns="0" rIns="0" bIns="0" rtlCol="0" anchor="ctr"/>
          <a:lstStyle/>
          <a:p>
            <a:pPr defTabSz="685800"/>
            <a:r>
              <a:rPr lang="en-US" sz="1125" b="1" dirty="0">
                <a:solidFill>
                  <a:srgbClr val="FFFFFF"/>
                </a:solidFill>
                <a:latin typeface="Calibri" pitchFamily="34" charset="0"/>
                <a:ea typeface="Calibri" pitchFamily="34" charset="-122"/>
                <a:cs typeface="Calibri" pitchFamily="34" charset="-120"/>
              </a:rPr>
              <a:t>Bất định do NGẪU NHIÊN</a:t>
            </a:r>
            <a:endParaRPr lang="en-US" sz="1125" dirty="0">
              <a:solidFill>
                <a:prstClr val="black"/>
              </a:solidFill>
              <a:latin typeface="Calibri" panose="020F0502020204030204"/>
            </a:endParaRPr>
          </a:p>
        </p:txBody>
      </p:sp>
      <p:sp>
        <p:nvSpPr>
          <p:cNvPr id="10" name="Text 8"/>
          <p:cNvSpPr/>
          <p:nvPr/>
        </p:nvSpPr>
        <p:spPr>
          <a:xfrm>
            <a:off x="5795010" y="1927098"/>
            <a:ext cx="2640330" cy="377190"/>
          </a:xfrm>
          <a:prstGeom prst="rect">
            <a:avLst/>
          </a:prstGeom>
          <a:noFill/>
          <a:ln/>
        </p:spPr>
        <p:txBody>
          <a:bodyPr wrap="square" lIns="0" tIns="0" rIns="0" bIns="0" rtlCol="0" anchor="ctr"/>
          <a:lstStyle/>
          <a:p>
            <a:pPr defTabSz="685800">
              <a:lnSpc>
                <a:spcPts val="1200"/>
              </a:lnSpc>
            </a:pPr>
            <a:r>
              <a:rPr lang="en-US" sz="900" dirty="0">
                <a:solidFill>
                  <a:srgbClr val="9FB4C9"/>
                </a:solidFill>
                <a:latin typeface="Calibri" pitchFamily="34" charset="0"/>
                <a:ea typeface="Calibri" pitchFamily="34" charset="-122"/>
                <a:cs typeface="Calibri" pitchFamily="34" charset="-120"/>
              </a:rPr>
              <a:t>Một tác nhân quyết định tuần tự trước môi trường biến động</a:t>
            </a:r>
            <a:endParaRPr lang="en-US" sz="900" dirty="0">
              <a:solidFill>
                <a:prstClr val="black"/>
              </a:solidFill>
              <a:latin typeface="Calibri" panose="020F0502020204030204"/>
            </a:endParaRPr>
          </a:p>
        </p:txBody>
      </p:sp>
      <p:sp>
        <p:nvSpPr>
          <p:cNvPr id="11" name="Shape 9"/>
          <p:cNvSpPr/>
          <p:nvPr/>
        </p:nvSpPr>
        <p:spPr>
          <a:xfrm>
            <a:off x="5589270" y="2571750"/>
            <a:ext cx="3017520" cy="1200150"/>
          </a:xfrm>
          <a:prstGeom prst="roundRect">
            <a:avLst>
              <a:gd name="adj" fmla="val 6857"/>
            </a:avLst>
          </a:prstGeom>
          <a:solidFill>
            <a:srgbClr val="1E3050"/>
          </a:solidFill>
          <a:ln w="12700">
            <a:solidFill>
              <a:srgbClr val="2C4568"/>
            </a:solidFill>
            <a:prstDash val="solid"/>
          </a:ln>
        </p:spPr>
      </p:sp>
      <p:sp>
        <p:nvSpPr>
          <p:cNvPr id="12" name="Shape 10"/>
          <p:cNvSpPr/>
          <p:nvPr/>
        </p:nvSpPr>
        <p:spPr>
          <a:xfrm>
            <a:off x="5795010" y="2750058"/>
            <a:ext cx="1200150" cy="246888"/>
          </a:xfrm>
          <a:prstGeom prst="roundRect">
            <a:avLst>
              <a:gd name="adj" fmla="val 22222"/>
            </a:avLst>
          </a:prstGeom>
          <a:solidFill>
            <a:srgbClr val="E76F51"/>
          </a:solidFill>
          <a:ln/>
        </p:spPr>
      </p:sp>
      <p:sp>
        <p:nvSpPr>
          <p:cNvPr id="13" name="Text 11"/>
          <p:cNvSpPr/>
          <p:nvPr/>
        </p:nvSpPr>
        <p:spPr>
          <a:xfrm>
            <a:off x="5795010" y="2750058"/>
            <a:ext cx="1200150" cy="246888"/>
          </a:xfrm>
          <a:prstGeom prst="rect">
            <a:avLst/>
          </a:prstGeom>
          <a:noFill/>
          <a:ln/>
        </p:spPr>
        <p:txBody>
          <a:bodyPr wrap="square" lIns="0" tIns="0" rIns="0" bIns="0" rtlCol="0" anchor="ctr"/>
          <a:lstStyle/>
          <a:p>
            <a:pPr algn="ctr" defTabSz="685800"/>
            <a:r>
              <a:rPr lang="en-US" sz="863" b="1" kern="0" spc="75" dirty="0">
                <a:solidFill>
                  <a:srgbClr val="FFFFFF"/>
                </a:solidFill>
                <a:latin typeface="Calibri" pitchFamily="34" charset="0"/>
                <a:ea typeface="Calibri" pitchFamily="34" charset="-122"/>
                <a:cs typeface="Calibri" pitchFamily="34" charset="-120"/>
              </a:rPr>
              <a:t>STACKELBERG</a:t>
            </a:r>
            <a:endParaRPr lang="en-US" sz="863" dirty="0">
              <a:solidFill>
                <a:prstClr val="black"/>
              </a:solidFill>
              <a:latin typeface="Calibri" panose="020F0502020204030204"/>
            </a:endParaRPr>
          </a:p>
        </p:txBody>
      </p:sp>
      <p:sp>
        <p:nvSpPr>
          <p:cNvPr id="14" name="Text 12"/>
          <p:cNvSpPr/>
          <p:nvPr/>
        </p:nvSpPr>
        <p:spPr>
          <a:xfrm>
            <a:off x="5795010" y="3065526"/>
            <a:ext cx="2640330" cy="219456"/>
          </a:xfrm>
          <a:prstGeom prst="rect">
            <a:avLst/>
          </a:prstGeom>
          <a:noFill/>
          <a:ln/>
        </p:spPr>
        <p:txBody>
          <a:bodyPr wrap="square" lIns="0" tIns="0" rIns="0" bIns="0" rtlCol="0" anchor="ctr"/>
          <a:lstStyle/>
          <a:p>
            <a:pPr defTabSz="685800"/>
            <a:r>
              <a:rPr lang="en-US" sz="1125" b="1" dirty="0">
                <a:solidFill>
                  <a:srgbClr val="FFFFFF"/>
                </a:solidFill>
                <a:latin typeface="Calibri" pitchFamily="34" charset="0"/>
                <a:ea typeface="Calibri" pitchFamily="34" charset="-122"/>
                <a:cs typeface="Calibri" pitchFamily="34" charset="-120"/>
              </a:rPr>
              <a:t>Bất định do ĐỐI THỦ</a:t>
            </a:r>
            <a:endParaRPr lang="en-US" sz="1125" dirty="0">
              <a:solidFill>
                <a:prstClr val="black"/>
              </a:solidFill>
              <a:latin typeface="Calibri" panose="020F0502020204030204"/>
            </a:endParaRPr>
          </a:p>
        </p:txBody>
      </p:sp>
      <p:sp>
        <p:nvSpPr>
          <p:cNvPr id="15" name="Text 13"/>
          <p:cNvSpPr/>
          <p:nvPr/>
        </p:nvSpPr>
        <p:spPr>
          <a:xfrm>
            <a:off x="5795010" y="3298698"/>
            <a:ext cx="2640330" cy="377190"/>
          </a:xfrm>
          <a:prstGeom prst="rect">
            <a:avLst/>
          </a:prstGeom>
          <a:noFill/>
          <a:ln/>
        </p:spPr>
        <p:txBody>
          <a:bodyPr wrap="square" lIns="0" tIns="0" rIns="0" bIns="0" rtlCol="0" anchor="ctr"/>
          <a:lstStyle/>
          <a:p>
            <a:pPr defTabSz="685800">
              <a:lnSpc>
                <a:spcPts val="1200"/>
              </a:lnSpc>
            </a:pPr>
            <a:r>
              <a:rPr lang="en-US" sz="900" dirty="0">
                <a:solidFill>
                  <a:srgbClr val="9FB4C9"/>
                </a:solidFill>
                <a:latin typeface="Calibri" pitchFamily="34" charset="0"/>
                <a:ea typeface="Calibri" pitchFamily="34" charset="-122"/>
                <a:cs typeface="Calibri" pitchFamily="34" charset="-120"/>
              </a:rPr>
              <a:t>Hai bên tương tác, đối thủ quan sát và thích nghi có chủ đích</a:t>
            </a:r>
            <a:endParaRPr lang="en-US" sz="900" dirty="0">
              <a:solidFill>
                <a:prstClr val="black"/>
              </a:solidFill>
              <a:latin typeface="Calibri" panose="020F0502020204030204"/>
            </a:endParaRPr>
          </a:p>
        </p:txBody>
      </p:sp>
      <p:sp>
        <p:nvSpPr>
          <p:cNvPr id="16"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17"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02 </a:t>
            </a:r>
            <a:r>
              <a:rPr lang="en-US" sz="2200" b="1" dirty="0">
                <a:solidFill>
                  <a:srgbClr val="FFFFFF"/>
                </a:solidFill>
              </a:rPr>
              <a:t>· Kiến thức nền tảng — MDP &amp; Stackelberg Game</a:t>
            </a:r>
            <a:endParaRPr lang="en-US" sz="2200" dirty="0"/>
          </a:p>
        </p:txBody>
      </p:sp>
      <p:sp>
        <p:nvSpPr>
          <p:cNvPr id="18" name="Shape 1"/>
          <p:cNvSpPr/>
          <p:nvPr/>
        </p:nvSpPr>
        <p:spPr>
          <a:xfrm>
            <a:off x="0" y="0"/>
            <a:ext cx="109728" cy="658368"/>
          </a:xfrm>
          <a:prstGeom prst="rect">
            <a:avLst/>
          </a:prstGeom>
          <a:solidFill>
            <a:srgbClr val="0096B7"/>
          </a:solidFill>
          <a:ln w="12700">
            <a:solidFill>
              <a:srgbClr val="0096B7"/>
            </a:solidFill>
            <a:prstDash val="solid"/>
          </a:ln>
        </p:spPr>
        <p:txBody>
          <a:bodyPr/>
          <a:lstStyle/>
          <a:p>
            <a:endParaRPr lang="en-US"/>
          </a:p>
        </p:txBody>
      </p:sp>
    </p:spTree>
    <p:extLst>
      <p:ext uri="{BB962C8B-B14F-4D97-AF65-F5344CB8AC3E}">
        <p14:creationId xmlns:p14="http://schemas.microsoft.com/office/powerpoint/2010/main" val="4138842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060" y="308610"/>
            <a:ext cx="6309360" cy="411480"/>
          </a:xfrm>
          <a:prstGeom prst="rect">
            <a:avLst/>
          </a:prstGeom>
          <a:noFill/>
          <a:ln/>
        </p:spPr>
        <p:txBody>
          <a:bodyPr wrap="square" lIns="0" tIns="0" rIns="0" bIns="0" rtlCol="0" anchor="ctr"/>
          <a:lstStyle/>
          <a:p>
            <a:pPr defTabSz="685800"/>
            <a:r>
              <a:rPr lang="en-US" sz="2400" b="1" dirty="0">
                <a:solidFill>
                  <a:srgbClr val="1A2233"/>
                </a:solidFill>
                <a:latin typeface="Cambria" pitchFamily="34" charset="0"/>
                <a:ea typeface="Cambria" pitchFamily="34" charset="-122"/>
                <a:cs typeface="Cambria" pitchFamily="34" charset="-120"/>
              </a:rPr>
              <a:t>MDP — Ra quyết định tuần tự dưới bất định</a:t>
            </a:r>
            <a:endParaRPr lang="en-US" sz="2400" dirty="0">
              <a:solidFill>
                <a:prstClr val="black"/>
              </a:solidFill>
              <a:latin typeface="Calibri" panose="020F0502020204030204"/>
            </a:endParaRPr>
          </a:p>
        </p:txBody>
      </p:sp>
      <p:sp>
        <p:nvSpPr>
          <p:cNvPr id="3" name="Shape 1"/>
          <p:cNvSpPr/>
          <p:nvPr/>
        </p:nvSpPr>
        <p:spPr>
          <a:xfrm>
            <a:off x="6926580" y="342900"/>
            <a:ext cx="1714500" cy="356616"/>
          </a:xfrm>
          <a:prstGeom prst="roundRect">
            <a:avLst>
              <a:gd name="adj" fmla="val 19231"/>
            </a:avLst>
          </a:prstGeom>
          <a:solidFill>
            <a:srgbClr val="1C7293"/>
          </a:solidFill>
          <a:ln/>
        </p:spPr>
      </p:sp>
      <p:sp>
        <p:nvSpPr>
          <p:cNvPr id="4" name="Text 2"/>
          <p:cNvSpPr/>
          <p:nvPr/>
        </p:nvSpPr>
        <p:spPr>
          <a:xfrm>
            <a:off x="6926580" y="342900"/>
            <a:ext cx="1714500" cy="356616"/>
          </a:xfrm>
          <a:prstGeom prst="rect">
            <a:avLst/>
          </a:prstGeom>
          <a:noFill/>
          <a:ln/>
        </p:spPr>
        <p:txBody>
          <a:bodyPr wrap="square" lIns="0" tIns="0" rIns="0" bIns="0" rtlCol="0" anchor="ctr"/>
          <a:lstStyle/>
          <a:p>
            <a:pPr algn="ctr" defTabSz="685800"/>
            <a:r>
              <a:rPr lang="en-US" sz="1125" b="1" dirty="0">
                <a:solidFill>
                  <a:srgbClr val="FFFFFF"/>
                </a:solidFill>
                <a:latin typeface="Calibri" pitchFamily="34" charset="0"/>
                <a:ea typeface="Calibri" pitchFamily="34" charset="-122"/>
                <a:cs typeface="Calibri" pitchFamily="34" charset="-120"/>
              </a:rPr>
              <a:t>( S, A, P, R, γ )</a:t>
            </a:r>
            <a:endParaRPr lang="en-US" sz="1125" dirty="0">
              <a:solidFill>
                <a:prstClr val="black"/>
              </a:solidFill>
              <a:latin typeface="Calibri" panose="020F0502020204030204"/>
            </a:endParaRPr>
          </a:p>
        </p:txBody>
      </p:sp>
      <p:sp>
        <p:nvSpPr>
          <p:cNvPr id="5" name="Shape 3"/>
          <p:cNvSpPr/>
          <p:nvPr/>
        </p:nvSpPr>
        <p:spPr>
          <a:xfrm>
            <a:off x="493776" y="1035558"/>
            <a:ext cx="315468" cy="315468"/>
          </a:xfrm>
          <a:prstGeom prst="ellipse">
            <a:avLst/>
          </a:prstGeom>
          <a:solidFill>
            <a:srgbClr val="2A9D8F"/>
          </a:solidFill>
          <a:ln/>
        </p:spPr>
      </p:sp>
      <p:sp>
        <p:nvSpPr>
          <p:cNvPr id="6" name="Text 4"/>
          <p:cNvSpPr/>
          <p:nvPr/>
        </p:nvSpPr>
        <p:spPr>
          <a:xfrm>
            <a:off x="493776" y="103555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S</a:t>
            </a:r>
            <a:endParaRPr lang="en-US" sz="1200" dirty="0">
              <a:solidFill>
                <a:prstClr val="black"/>
              </a:solidFill>
              <a:latin typeface="Calibri" panose="020F0502020204030204"/>
            </a:endParaRPr>
          </a:p>
        </p:txBody>
      </p:sp>
      <p:sp>
        <p:nvSpPr>
          <p:cNvPr id="7" name="Text 5"/>
          <p:cNvSpPr/>
          <p:nvPr/>
        </p:nvSpPr>
        <p:spPr>
          <a:xfrm>
            <a:off x="946404" y="99441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Trạng thái (State)</a:t>
            </a:r>
            <a:endParaRPr lang="en-US" sz="1125" dirty="0">
              <a:solidFill>
                <a:prstClr val="black"/>
              </a:solidFill>
              <a:latin typeface="Calibri" panose="020F0502020204030204"/>
            </a:endParaRPr>
          </a:p>
        </p:txBody>
      </p:sp>
      <p:sp>
        <p:nvSpPr>
          <p:cNvPr id="8" name="Text 6"/>
          <p:cNvSpPr/>
          <p:nvPr/>
        </p:nvSpPr>
        <p:spPr>
          <a:xfrm>
            <a:off x="946404" y="120700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CPU/memory, số replica, request rate, p95 latency, chi phí lũy kế</a:t>
            </a:r>
            <a:endParaRPr lang="en-US" sz="938" dirty="0">
              <a:solidFill>
                <a:prstClr val="black"/>
              </a:solidFill>
              <a:latin typeface="Calibri" panose="020F0502020204030204"/>
            </a:endParaRPr>
          </a:p>
        </p:txBody>
      </p:sp>
      <p:sp>
        <p:nvSpPr>
          <p:cNvPr id="9" name="Shape 7"/>
          <p:cNvSpPr/>
          <p:nvPr/>
        </p:nvSpPr>
        <p:spPr>
          <a:xfrm>
            <a:off x="493776" y="1687068"/>
            <a:ext cx="315468" cy="315468"/>
          </a:xfrm>
          <a:prstGeom prst="ellipse">
            <a:avLst/>
          </a:prstGeom>
          <a:solidFill>
            <a:srgbClr val="2A9D8F"/>
          </a:solidFill>
          <a:ln/>
        </p:spPr>
      </p:sp>
      <p:sp>
        <p:nvSpPr>
          <p:cNvPr id="10" name="Text 8"/>
          <p:cNvSpPr/>
          <p:nvPr/>
        </p:nvSpPr>
        <p:spPr>
          <a:xfrm>
            <a:off x="493776" y="168706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A</a:t>
            </a:r>
            <a:endParaRPr lang="en-US" sz="1200" dirty="0">
              <a:solidFill>
                <a:prstClr val="black"/>
              </a:solidFill>
              <a:latin typeface="Calibri" panose="020F0502020204030204"/>
            </a:endParaRPr>
          </a:p>
        </p:txBody>
      </p:sp>
      <p:sp>
        <p:nvSpPr>
          <p:cNvPr id="11" name="Text 9"/>
          <p:cNvSpPr/>
          <p:nvPr/>
        </p:nvSpPr>
        <p:spPr>
          <a:xfrm>
            <a:off x="946404" y="164592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Hành động (Action)</a:t>
            </a:r>
            <a:endParaRPr lang="en-US" sz="1125" dirty="0">
              <a:solidFill>
                <a:prstClr val="black"/>
              </a:solidFill>
              <a:latin typeface="Calibri" panose="020F0502020204030204"/>
            </a:endParaRPr>
          </a:p>
        </p:txBody>
      </p:sp>
      <p:sp>
        <p:nvSpPr>
          <p:cNvPr id="12" name="Text 10"/>
          <p:cNvSpPr/>
          <p:nvPr/>
        </p:nvSpPr>
        <p:spPr>
          <a:xfrm>
            <a:off x="946404" y="185851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Chỉnh ngưỡng HPA · rate limit · CAPTCHA/challenge · degrade endpoint · no-op</a:t>
            </a:r>
            <a:endParaRPr lang="en-US" sz="938" dirty="0">
              <a:solidFill>
                <a:prstClr val="black"/>
              </a:solidFill>
              <a:latin typeface="Calibri" panose="020F0502020204030204"/>
            </a:endParaRPr>
          </a:p>
        </p:txBody>
      </p:sp>
      <p:sp>
        <p:nvSpPr>
          <p:cNvPr id="13" name="Shape 11"/>
          <p:cNvSpPr/>
          <p:nvPr/>
        </p:nvSpPr>
        <p:spPr>
          <a:xfrm>
            <a:off x="493776" y="2338578"/>
            <a:ext cx="315468" cy="315468"/>
          </a:xfrm>
          <a:prstGeom prst="ellipse">
            <a:avLst/>
          </a:prstGeom>
          <a:solidFill>
            <a:srgbClr val="2A9D8F"/>
          </a:solidFill>
          <a:ln/>
        </p:spPr>
      </p:sp>
      <p:sp>
        <p:nvSpPr>
          <p:cNvPr id="14" name="Text 12"/>
          <p:cNvSpPr/>
          <p:nvPr/>
        </p:nvSpPr>
        <p:spPr>
          <a:xfrm>
            <a:off x="493776" y="233857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P</a:t>
            </a:r>
            <a:endParaRPr lang="en-US" sz="1200" dirty="0">
              <a:solidFill>
                <a:prstClr val="black"/>
              </a:solidFill>
              <a:latin typeface="Calibri" panose="020F0502020204030204"/>
            </a:endParaRPr>
          </a:p>
        </p:txBody>
      </p:sp>
      <p:sp>
        <p:nvSpPr>
          <p:cNvPr id="15" name="Text 13"/>
          <p:cNvSpPr/>
          <p:nvPr/>
        </p:nvSpPr>
        <p:spPr>
          <a:xfrm>
            <a:off x="946404" y="229743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Xác suất chuyển trạng thái</a:t>
            </a:r>
            <a:endParaRPr lang="en-US" sz="1125" dirty="0">
              <a:solidFill>
                <a:prstClr val="black"/>
              </a:solidFill>
              <a:latin typeface="Calibri" panose="020F0502020204030204"/>
            </a:endParaRPr>
          </a:p>
        </p:txBody>
      </p:sp>
      <p:sp>
        <p:nvSpPr>
          <p:cNvPr id="16" name="Text 14"/>
          <p:cNvSpPr/>
          <p:nvPr/>
        </p:nvSpPr>
        <p:spPr>
          <a:xfrm>
            <a:off x="946404" y="251002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P(s′ | s, a) — tính Markov: tương lai chỉ phụ thuộc trạng thái hiện tại</a:t>
            </a:r>
            <a:endParaRPr lang="en-US" sz="938" dirty="0">
              <a:solidFill>
                <a:prstClr val="black"/>
              </a:solidFill>
              <a:latin typeface="Calibri" panose="020F0502020204030204"/>
            </a:endParaRPr>
          </a:p>
        </p:txBody>
      </p:sp>
      <p:sp>
        <p:nvSpPr>
          <p:cNvPr id="17" name="Shape 15"/>
          <p:cNvSpPr/>
          <p:nvPr/>
        </p:nvSpPr>
        <p:spPr>
          <a:xfrm>
            <a:off x="493776" y="2990088"/>
            <a:ext cx="315468" cy="315468"/>
          </a:xfrm>
          <a:prstGeom prst="ellipse">
            <a:avLst/>
          </a:prstGeom>
          <a:solidFill>
            <a:srgbClr val="2A9D8F"/>
          </a:solidFill>
          <a:ln/>
        </p:spPr>
      </p:sp>
      <p:sp>
        <p:nvSpPr>
          <p:cNvPr id="18" name="Text 16"/>
          <p:cNvSpPr/>
          <p:nvPr/>
        </p:nvSpPr>
        <p:spPr>
          <a:xfrm>
            <a:off x="493776" y="299008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R</a:t>
            </a:r>
            <a:endParaRPr lang="en-US" sz="1200" dirty="0">
              <a:solidFill>
                <a:prstClr val="black"/>
              </a:solidFill>
              <a:latin typeface="Calibri" panose="020F0502020204030204"/>
            </a:endParaRPr>
          </a:p>
        </p:txBody>
      </p:sp>
      <p:sp>
        <p:nvSpPr>
          <p:cNvPr id="19" name="Text 17"/>
          <p:cNvSpPr/>
          <p:nvPr/>
        </p:nvSpPr>
        <p:spPr>
          <a:xfrm>
            <a:off x="946404" y="294894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Hàm thưởng (Reward)</a:t>
            </a:r>
            <a:endParaRPr lang="en-US" sz="1125" dirty="0">
              <a:solidFill>
                <a:prstClr val="black"/>
              </a:solidFill>
              <a:latin typeface="Calibri" panose="020F0502020204030204"/>
            </a:endParaRPr>
          </a:p>
        </p:txBody>
      </p:sp>
      <p:sp>
        <p:nvSpPr>
          <p:cNvPr id="20" name="Text 18"/>
          <p:cNvSpPr/>
          <p:nvPr/>
        </p:nvSpPr>
        <p:spPr>
          <a:xfrm>
            <a:off x="946404" y="316153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R = −( α·Cost + β·SLA_penalty + γ·FalsePositive ) — mã hóa trade-off nghiệp vụ</a:t>
            </a:r>
            <a:endParaRPr lang="en-US" sz="938" dirty="0">
              <a:solidFill>
                <a:prstClr val="black"/>
              </a:solidFill>
              <a:latin typeface="Calibri" panose="020F0502020204030204"/>
            </a:endParaRPr>
          </a:p>
        </p:txBody>
      </p:sp>
      <p:sp>
        <p:nvSpPr>
          <p:cNvPr id="21" name="Shape 19"/>
          <p:cNvSpPr/>
          <p:nvPr/>
        </p:nvSpPr>
        <p:spPr>
          <a:xfrm>
            <a:off x="493776" y="3641598"/>
            <a:ext cx="315468" cy="315468"/>
          </a:xfrm>
          <a:prstGeom prst="ellipse">
            <a:avLst/>
          </a:prstGeom>
          <a:solidFill>
            <a:srgbClr val="2A9D8F"/>
          </a:solidFill>
          <a:ln/>
        </p:spPr>
      </p:sp>
      <p:sp>
        <p:nvSpPr>
          <p:cNvPr id="22" name="Text 20"/>
          <p:cNvSpPr/>
          <p:nvPr/>
        </p:nvSpPr>
        <p:spPr>
          <a:xfrm>
            <a:off x="493776" y="364159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γ</a:t>
            </a:r>
            <a:endParaRPr lang="en-US" sz="1200" dirty="0">
              <a:solidFill>
                <a:prstClr val="black"/>
              </a:solidFill>
              <a:latin typeface="Calibri" panose="020F0502020204030204"/>
            </a:endParaRPr>
          </a:p>
        </p:txBody>
      </p:sp>
      <p:sp>
        <p:nvSpPr>
          <p:cNvPr id="23" name="Text 21"/>
          <p:cNvSpPr/>
          <p:nvPr/>
        </p:nvSpPr>
        <p:spPr>
          <a:xfrm>
            <a:off x="946404" y="360045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Hệ số chiết khấu</a:t>
            </a:r>
            <a:endParaRPr lang="en-US" sz="1125" dirty="0">
              <a:solidFill>
                <a:prstClr val="black"/>
              </a:solidFill>
              <a:latin typeface="Calibri" panose="020F0502020204030204"/>
            </a:endParaRPr>
          </a:p>
        </p:txBody>
      </p:sp>
      <p:sp>
        <p:nvSpPr>
          <p:cNvPr id="24" name="Text 22"/>
          <p:cNvSpPr/>
          <p:nvPr/>
        </p:nvSpPr>
        <p:spPr>
          <a:xfrm>
            <a:off x="946404" y="381304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Cân bằng giữa lợi ích tức thời và chi phí tích lũy dài hạn</a:t>
            </a:r>
            <a:endParaRPr lang="en-US" sz="938" dirty="0">
              <a:solidFill>
                <a:prstClr val="black"/>
              </a:solidFill>
              <a:latin typeface="Calibri" panose="020F0502020204030204"/>
            </a:endParaRPr>
          </a:p>
        </p:txBody>
      </p:sp>
      <p:sp>
        <p:nvSpPr>
          <p:cNvPr id="25" name="Shape 23"/>
          <p:cNvSpPr/>
          <p:nvPr/>
        </p:nvSpPr>
        <p:spPr>
          <a:xfrm>
            <a:off x="5795010" y="960120"/>
            <a:ext cx="2846070" cy="1200150"/>
          </a:xfrm>
          <a:prstGeom prst="roundRect">
            <a:avLst>
              <a:gd name="adj" fmla="val 6857"/>
            </a:avLst>
          </a:prstGeom>
          <a:solidFill>
            <a:srgbClr val="F1F5F9"/>
          </a:solidFill>
          <a:ln w="12700">
            <a:solidFill>
              <a:srgbClr val="D6E0EA"/>
            </a:solidFill>
            <a:prstDash val="solid"/>
          </a:ln>
        </p:spPr>
      </p:sp>
      <p:sp>
        <p:nvSpPr>
          <p:cNvPr id="26" name="Text 24"/>
          <p:cNvSpPr/>
          <p:nvPr/>
        </p:nvSpPr>
        <p:spPr>
          <a:xfrm>
            <a:off x="6000750" y="1110996"/>
            <a:ext cx="2434590" cy="192024"/>
          </a:xfrm>
          <a:prstGeom prst="rect">
            <a:avLst/>
          </a:prstGeom>
          <a:noFill/>
          <a:ln/>
        </p:spPr>
        <p:txBody>
          <a:bodyPr wrap="square" lIns="0" tIns="0" rIns="0" bIns="0" rtlCol="0" anchor="ctr"/>
          <a:lstStyle/>
          <a:p>
            <a:pPr defTabSz="685800"/>
            <a:r>
              <a:rPr lang="en-US" sz="863" b="1" kern="0" spc="150" dirty="0">
                <a:solidFill>
                  <a:srgbClr val="1C7293"/>
                </a:solidFill>
                <a:latin typeface="Calibri" pitchFamily="34" charset="0"/>
                <a:ea typeface="Calibri" pitchFamily="34" charset="-122"/>
                <a:cs typeface="Calibri" pitchFamily="34" charset="-120"/>
              </a:rPr>
              <a:t>MỤC TIÊU</a:t>
            </a:r>
            <a:endParaRPr lang="en-US" sz="863" dirty="0">
              <a:solidFill>
                <a:prstClr val="black"/>
              </a:solidFill>
              <a:latin typeface="Calibri" panose="020F0502020204030204"/>
            </a:endParaRPr>
          </a:p>
        </p:txBody>
      </p:sp>
      <p:sp>
        <p:nvSpPr>
          <p:cNvPr id="27" name="Text 25"/>
          <p:cNvSpPr/>
          <p:nvPr/>
        </p:nvSpPr>
        <p:spPr>
          <a:xfrm>
            <a:off x="6000750" y="1330452"/>
            <a:ext cx="2434590" cy="219456"/>
          </a:xfrm>
          <a:prstGeom prst="rect">
            <a:avLst/>
          </a:prstGeom>
          <a:noFill/>
          <a:ln/>
        </p:spPr>
        <p:txBody>
          <a:bodyPr wrap="square" lIns="0" tIns="0" rIns="0" bIns="0" rtlCol="0" anchor="ctr"/>
          <a:lstStyle/>
          <a:p>
            <a:pPr defTabSz="685800"/>
            <a:r>
              <a:rPr lang="en-US" sz="1200" b="1" dirty="0">
                <a:solidFill>
                  <a:srgbClr val="1A2233"/>
                </a:solidFill>
                <a:latin typeface="Calibri" pitchFamily="34" charset="0"/>
                <a:ea typeface="Calibri" pitchFamily="34" charset="-122"/>
                <a:cs typeface="Calibri" pitchFamily="34" charset="-120"/>
              </a:rPr>
              <a:t>Tìm policy  π* : S → A</a:t>
            </a:r>
            <a:endParaRPr lang="en-US" sz="1200" dirty="0">
              <a:solidFill>
                <a:prstClr val="black"/>
              </a:solidFill>
              <a:latin typeface="Calibri" panose="020F0502020204030204"/>
            </a:endParaRPr>
          </a:p>
        </p:txBody>
      </p:sp>
      <p:sp>
        <p:nvSpPr>
          <p:cNvPr id="28" name="Text 26"/>
          <p:cNvSpPr/>
          <p:nvPr/>
        </p:nvSpPr>
        <p:spPr>
          <a:xfrm>
            <a:off x="6000750" y="1577340"/>
            <a:ext cx="2434590" cy="480060"/>
          </a:xfrm>
          <a:prstGeom prst="rect">
            <a:avLst/>
          </a:prstGeom>
          <a:noFill/>
          <a:ln/>
        </p:spPr>
        <p:txBody>
          <a:bodyPr wrap="square" lIns="0" tIns="0" rIns="0" bIns="0" rtlCol="0" anchor="ctr"/>
          <a:lstStyle/>
          <a:p>
            <a:pPr defTabSz="685800">
              <a:lnSpc>
                <a:spcPts val="1275"/>
              </a:lnSpc>
            </a:pPr>
            <a:r>
              <a:rPr lang="en-US" sz="938" dirty="0">
                <a:solidFill>
                  <a:srgbClr val="5A6779"/>
                </a:solidFill>
                <a:latin typeface="Calibri" pitchFamily="34" charset="0"/>
                <a:ea typeface="Calibri" pitchFamily="34" charset="-122"/>
                <a:cs typeface="Calibri" pitchFamily="34" charset="-120"/>
              </a:rPr>
              <a:t>tối đa hóa tổng phần thưởng kỳ vọng có chiết khấu qua toàn bộ chuỗi quyết định.</a:t>
            </a:r>
            <a:endParaRPr lang="en-US" sz="938" dirty="0">
              <a:solidFill>
                <a:prstClr val="black"/>
              </a:solidFill>
              <a:latin typeface="Calibri" panose="020F0502020204030204"/>
            </a:endParaRPr>
          </a:p>
        </p:txBody>
      </p:sp>
      <p:sp>
        <p:nvSpPr>
          <p:cNvPr id="29" name="Shape 27"/>
          <p:cNvSpPr/>
          <p:nvPr/>
        </p:nvSpPr>
        <p:spPr>
          <a:xfrm>
            <a:off x="5795010" y="2366010"/>
            <a:ext cx="2846070" cy="1714500"/>
          </a:xfrm>
          <a:prstGeom prst="roundRect">
            <a:avLst>
              <a:gd name="adj" fmla="val 4800"/>
            </a:avLst>
          </a:prstGeom>
          <a:solidFill>
            <a:srgbClr val="FDF1EC"/>
          </a:solidFill>
          <a:ln w="12700">
            <a:solidFill>
              <a:srgbClr val="F3CBBB"/>
            </a:solidFill>
            <a:prstDash val="solid"/>
          </a:ln>
        </p:spPr>
      </p:sp>
      <p:sp>
        <p:nvSpPr>
          <p:cNvPr id="30" name="Text 28"/>
          <p:cNvSpPr/>
          <p:nvPr/>
        </p:nvSpPr>
        <p:spPr>
          <a:xfrm>
            <a:off x="6000750" y="2523744"/>
            <a:ext cx="2434590" cy="192024"/>
          </a:xfrm>
          <a:prstGeom prst="rect">
            <a:avLst/>
          </a:prstGeom>
          <a:noFill/>
          <a:ln/>
        </p:spPr>
        <p:txBody>
          <a:bodyPr wrap="square" lIns="0" tIns="0" rIns="0" bIns="0" rtlCol="0" anchor="ctr"/>
          <a:lstStyle/>
          <a:p>
            <a:pPr defTabSz="685800"/>
            <a:r>
              <a:rPr lang="en-US" sz="863" b="1" kern="0" spc="150" dirty="0">
                <a:solidFill>
                  <a:srgbClr val="E76F51"/>
                </a:solidFill>
                <a:latin typeface="Calibri" pitchFamily="34" charset="0"/>
                <a:ea typeface="Calibri" pitchFamily="34" charset="-122"/>
                <a:cs typeface="Calibri" pitchFamily="34" charset="-120"/>
              </a:rPr>
              <a:t>LƯU Ý QUAN TRỌNG</a:t>
            </a:r>
            <a:endParaRPr lang="en-US" sz="863" dirty="0">
              <a:solidFill>
                <a:prstClr val="black"/>
              </a:solidFill>
              <a:latin typeface="Calibri" panose="020F0502020204030204"/>
            </a:endParaRPr>
          </a:p>
        </p:txBody>
      </p:sp>
      <p:sp>
        <p:nvSpPr>
          <p:cNvPr id="31" name="Text 29"/>
          <p:cNvSpPr/>
          <p:nvPr/>
        </p:nvSpPr>
        <p:spPr>
          <a:xfrm>
            <a:off x="6000750" y="2743200"/>
            <a:ext cx="2434590" cy="219456"/>
          </a:xfrm>
          <a:prstGeom prst="rect">
            <a:avLst/>
          </a:prstGeom>
          <a:noFill/>
          <a:ln/>
        </p:spPr>
        <p:txBody>
          <a:bodyPr wrap="square" lIns="0" tIns="0" rIns="0" bIns="0" rtlCol="0" anchor="ctr"/>
          <a:lstStyle/>
          <a:p>
            <a:pPr defTabSz="685800"/>
            <a:r>
              <a:rPr lang="en-US" sz="1200" b="1" dirty="0">
                <a:solidFill>
                  <a:srgbClr val="1A2233"/>
                </a:solidFill>
                <a:latin typeface="Calibri" pitchFamily="34" charset="0"/>
                <a:ea typeface="Calibri" pitchFamily="34" charset="-122"/>
                <a:cs typeface="Calibri" pitchFamily="34" charset="-120"/>
              </a:rPr>
              <a:t>Thực chất là POMDP</a:t>
            </a:r>
            <a:endParaRPr lang="en-US" sz="1200" dirty="0">
              <a:solidFill>
                <a:prstClr val="black"/>
              </a:solidFill>
              <a:latin typeface="Calibri" panose="020F0502020204030204"/>
            </a:endParaRPr>
          </a:p>
        </p:txBody>
      </p:sp>
      <p:sp>
        <p:nvSpPr>
          <p:cNvPr id="32" name="Text 30"/>
          <p:cNvSpPr/>
          <p:nvPr/>
        </p:nvSpPr>
        <p:spPr>
          <a:xfrm>
            <a:off x="6000750" y="2990088"/>
            <a:ext cx="2434590" cy="960120"/>
          </a:xfrm>
          <a:prstGeom prst="rect">
            <a:avLst/>
          </a:prstGeom>
          <a:noFill/>
          <a:ln/>
        </p:spPr>
        <p:txBody>
          <a:bodyPr wrap="square" lIns="0" tIns="0" rIns="0" bIns="0" rtlCol="0" anchor="ctr"/>
          <a:lstStyle/>
          <a:p>
            <a:pPr defTabSz="685800">
              <a:lnSpc>
                <a:spcPts val="1275"/>
              </a:lnSpc>
              <a:spcAft>
                <a:spcPts val="450"/>
              </a:spcAft>
            </a:pPr>
            <a:r>
              <a:rPr lang="en-US" sz="938" dirty="0">
                <a:solidFill>
                  <a:srgbClr val="5A6779"/>
                </a:solidFill>
                <a:latin typeface="Calibri" pitchFamily="34" charset="0"/>
                <a:ea typeface="Calibri" pitchFamily="34" charset="-122"/>
                <a:cs typeface="Calibri" pitchFamily="34" charset="-120"/>
              </a:rPr>
              <a:t>Trạng thái thật — hệ thống đang bị tấn công hay không — là ẩn.</a:t>
            </a:r>
            <a:endParaRPr lang="en-US" sz="938" dirty="0">
              <a:solidFill>
                <a:prstClr val="black"/>
              </a:solidFill>
              <a:latin typeface="Calibri" panose="020F0502020204030204"/>
            </a:endParaRPr>
          </a:p>
          <a:p>
            <a:pPr defTabSz="685800">
              <a:lnSpc>
                <a:spcPts val="1275"/>
              </a:lnSpc>
              <a:spcAft>
                <a:spcPts val="450"/>
              </a:spcAft>
            </a:pPr>
            <a:r>
              <a:rPr lang="en-US" sz="938" dirty="0">
                <a:solidFill>
                  <a:srgbClr val="5A6779"/>
                </a:solidFill>
                <a:latin typeface="Calibri" pitchFamily="34" charset="0"/>
                <a:ea typeface="Calibri" pitchFamily="34" charset="-122"/>
                <a:cs typeface="Calibri" pitchFamily="34" charset="-120"/>
              </a:rPr>
              <a:t>Agent chỉ quan sát các chỉ số gián tiếp, làm việc trên belief state và cập nhật theo Bayes.</a:t>
            </a:r>
            <a:endParaRPr lang="en-US" sz="938" dirty="0">
              <a:solidFill>
                <a:prstClr val="black"/>
              </a:solidFill>
              <a:latin typeface="Calibri" panose="020F0502020204030204"/>
            </a:endParaRPr>
          </a:p>
        </p:txBody>
      </p:sp>
      <p:sp>
        <p:nvSpPr>
          <p:cNvPr id="33" name="Text 31"/>
          <p:cNvSpPr/>
          <p:nvPr/>
        </p:nvSpPr>
        <p:spPr>
          <a:xfrm>
            <a:off x="493776" y="4286250"/>
            <a:ext cx="8161020" cy="274320"/>
          </a:xfrm>
          <a:prstGeom prst="rect">
            <a:avLst/>
          </a:prstGeom>
          <a:noFill/>
          <a:ln/>
        </p:spPr>
        <p:txBody>
          <a:bodyPr wrap="square" lIns="0" tIns="0" rIns="0" bIns="0" rtlCol="0" anchor="ctr"/>
          <a:lstStyle/>
          <a:p>
            <a:pPr defTabSz="685800"/>
            <a:r>
              <a:rPr lang="en-US" sz="938" i="1" dirty="0">
                <a:solidFill>
                  <a:srgbClr val="5A6779"/>
                </a:solidFill>
                <a:latin typeface="Calibri" pitchFamily="34" charset="0"/>
                <a:ea typeface="Calibri" pitchFamily="34" charset="-122"/>
                <a:cs typeface="Calibri" pitchFamily="34" charset="-120"/>
              </a:rPr>
              <a:t>Không gian trạng thái liên tục ⇒ dùng Deep RL (DQN, PPO/SAC) thay cho value iteration cổ điển.</a:t>
            </a:r>
            <a:endParaRPr lang="en-US" sz="938" dirty="0">
              <a:solidFill>
                <a:prstClr val="black"/>
              </a:solidFill>
              <a:latin typeface="Calibri" panose="020F0502020204030204"/>
            </a:endParaRPr>
          </a:p>
        </p:txBody>
      </p:sp>
    </p:spTree>
    <p:extLst>
      <p:ext uri="{BB962C8B-B14F-4D97-AF65-F5344CB8AC3E}">
        <p14:creationId xmlns:p14="http://schemas.microsoft.com/office/powerpoint/2010/main" val="94393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060" y="308610"/>
            <a:ext cx="8161020" cy="411480"/>
          </a:xfrm>
          <a:prstGeom prst="rect">
            <a:avLst/>
          </a:prstGeom>
          <a:noFill/>
          <a:ln/>
        </p:spPr>
        <p:txBody>
          <a:bodyPr wrap="square" lIns="0" tIns="0" rIns="0" bIns="0" rtlCol="0" anchor="ctr"/>
          <a:lstStyle/>
          <a:p>
            <a:pPr defTabSz="685800"/>
            <a:r>
              <a:rPr lang="en-US" sz="2250" b="1" dirty="0">
                <a:solidFill>
                  <a:srgbClr val="1A2233"/>
                </a:solidFill>
                <a:latin typeface="Cambria" pitchFamily="34" charset="0"/>
                <a:ea typeface="Cambria" pitchFamily="34" charset="-122"/>
                <a:cs typeface="Cambria" pitchFamily="34" charset="-120"/>
              </a:rPr>
              <a:t>Stackelberg Game — Leader cam kết trước, Follower phản ứng</a:t>
            </a:r>
            <a:endParaRPr lang="en-US" sz="2250" dirty="0">
              <a:solidFill>
                <a:prstClr val="black"/>
              </a:solidFill>
              <a:latin typeface="Calibri" panose="020F0502020204030204"/>
            </a:endParaRPr>
          </a:p>
        </p:txBody>
      </p:sp>
      <p:sp>
        <p:nvSpPr>
          <p:cNvPr id="3" name="Shape 1"/>
          <p:cNvSpPr/>
          <p:nvPr/>
        </p:nvSpPr>
        <p:spPr>
          <a:xfrm>
            <a:off x="493776" y="994410"/>
            <a:ext cx="2194560" cy="1097280"/>
          </a:xfrm>
          <a:prstGeom prst="roundRect">
            <a:avLst>
              <a:gd name="adj" fmla="val 7500"/>
            </a:avLst>
          </a:prstGeom>
          <a:solidFill>
            <a:srgbClr val="1C7293"/>
          </a:solidFill>
          <a:ln/>
        </p:spPr>
      </p:sp>
      <p:sp>
        <p:nvSpPr>
          <p:cNvPr id="4" name="Text 2"/>
          <p:cNvSpPr/>
          <p:nvPr/>
        </p:nvSpPr>
        <p:spPr>
          <a:xfrm>
            <a:off x="651510" y="1131570"/>
            <a:ext cx="1920240" cy="178308"/>
          </a:xfrm>
          <a:prstGeom prst="rect">
            <a:avLst/>
          </a:prstGeom>
          <a:noFill/>
          <a:ln/>
        </p:spPr>
        <p:txBody>
          <a:bodyPr wrap="square" lIns="0" tIns="0" rIns="0" bIns="0" rtlCol="0" anchor="ctr"/>
          <a:lstStyle/>
          <a:p>
            <a:pPr defTabSz="685800"/>
            <a:r>
              <a:rPr lang="en-US" sz="825" b="1" kern="0" spc="150" dirty="0">
                <a:solidFill>
                  <a:srgbClr val="A8DCD5"/>
                </a:solidFill>
                <a:latin typeface="Calibri" pitchFamily="34" charset="0"/>
                <a:ea typeface="Calibri" pitchFamily="34" charset="-122"/>
                <a:cs typeface="Calibri" pitchFamily="34" charset="-120"/>
              </a:rPr>
              <a:t>LEADER</a:t>
            </a:r>
            <a:endParaRPr lang="en-US" sz="825" dirty="0">
              <a:solidFill>
                <a:prstClr val="black"/>
              </a:solidFill>
              <a:latin typeface="Calibri" panose="020F0502020204030204"/>
            </a:endParaRPr>
          </a:p>
        </p:txBody>
      </p:sp>
      <p:sp>
        <p:nvSpPr>
          <p:cNvPr id="5" name="Text 3"/>
          <p:cNvSpPr/>
          <p:nvPr/>
        </p:nvSpPr>
        <p:spPr>
          <a:xfrm>
            <a:off x="651510" y="1337310"/>
            <a:ext cx="1920240" cy="240030"/>
          </a:xfrm>
          <a:prstGeom prst="rect">
            <a:avLst/>
          </a:prstGeom>
          <a:noFill/>
          <a:ln/>
        </p:spPr>
        <p:txBody>
          <a:bodyPr wrap="square" lIns="0" tIns="0" rIns="0" bIns="0" rtlCol="0" anchor="ctr"/>
          <a:lstStyle/>
          <a:p>
            <a:pPr defTabSz="685800"/>
            <a:r>
              <a:rPr lang="en-US" sz="1425" b="1" dirty="0">
                <a:solidFill>
                  <a:srgbClr val="FFFFFF"/>
                </a:solidFill>
                <a:latin typeface="Calibri" pitchFamily="34" charset="0"/>
                <a:ea typeface="Calibri" pitchFamily="34" charset="-122"/>
                <a:cs typeface="Calibri" pitchFamily="34" charset="-120"/>
              </a:rPr>
              <a:t>Defender</a:t>
            </a:r>
            <a:endParaRPr lang="en-US" sz="1425" dirty="0">
              <a:solidFill>
                <a:prstClr val="black"/>
              </a:solidFill>
              <a:latin typeface="Calibri" panose="020F0502020204030204"/>
            </a:endParaRPr>
          </a:p>
        </p:txBody>
      </p:sp>
      <p:sp>
        <p:nvSpPr>
          <p:cNvPr id="6" name="Text 4"/>
          <p:cNvSpPr/>
          <p:nvPr/>
        </p:nvSpPr>
        <p:spPr>
          <a:xfrm>
            <a:off x="651510" y="1611630"/>
            <a:ext cx="1920240" cy="342900"/>
          </a:xfrm>
          <a:prstGeom prst="rect">
            <a:avLst/>
          </a:prstGeom>
          <a:noFill/>
          <a:ln/>
        </p:spPr>
        <p:txBody>
          <a:bodyPr wrap="square" lIns="0" tIns="0" rIns="0" bIns="0" rtlCol="0" anchor="ctr"/>
          <a:lstStyle/>
          <a:p>
            <a:pPr defTabSz="685800">
              <a:lnSpc>
                <a:spcPts val="1125"/>
              </a:lnSpc>
            </a:pPr>
            <a:r>
              <a:rPr lang="en-US" sz="900" dirty="0">
                <a:solidFill>
                  <a:srgbClr val="CFE7E3"/>
                </a:solidFill>
                <a:latin typeface="Calibri" pitchFamily="34" charset="0"/>
                <a:ea typeface="Calibri" pitchFamily="34" charset="-122"/>
                <a:cs typeface="Calibri" pitchFamily="34" charset="-120"/>
              </a:rPr>
              <a:t>Cấu hình phòng thủ được commit trước</a:t>
            </a:r>
            <a:endParaRPr lang="en-US" sz="900" dirty="0">
              <a:solidFill>
                <a:prstClr val="black"/>
              </a:solidFill>
              <a:latin typeface="Calibri" panose="020F0502020204030204"/>
            </a:endParaRPr>
          </a:p>
        </p:txBody>
      </p:sp>
      <p:sp>
        <p:nvSpPr>
          <p:cNvPr id="7" name="Shape 5"/>
          <p:cNvSpPr/>
          <p:nvPr/>
        </p:nvSpPr>
        <p:spPr>
          <a:xfrm>
            <a:off x="3531870" y="994410"/>
            <a:ext cx="2194560" cy="1097280"/>
          </a:xfrm>
          <a:prstGeom prst="roundRect">
            <a:avLst>
              <a:gd name="adj" fmla="val 7500"/>
            </a:avLst>
          </a:prstGeom>
          <a:solidFill>
            <a:srgbClr val="E76F51"/>
          </a:solidFill>
          <a:ln/>
        </p:spPr>
      </p:sp>
      <p:sp>
        <p:nvSpPr>
          <p:cNvPr id="8" name="Text 6"/>
          <p:cNvSpPr/>
          <p:nvPr/>
        </p:nvSpPr>
        <p:spPr>
          <a:xfrm>
            <a:off x="3689604" y="1131570"/>
            <a:ext cx="1920240" cy="178308"/>
          </a:xfrm>
          <a:prstGeom prst="rect">
            <a:avLst/>
          </a:prstGeom>
          <a:noFill/>
          <a:ln/>
        </p:spPr>
        <p:txBody>
          <a:bodyPr wrap="square" lIns="0" tIns="0" rIns="0" bIns="0" rtlCol="0" anchor="ctr"/>
          <a:lstStyle/>
          <a:p>
            <a:pPr defTabSz="685800"/>
            <a:r>
              <a:rPr lang="en-US" sz="825" b="1" kern="0" spc="150" dirty="0">
                <a:solidFill>
                  <a:srgbClr val="FBDCD1"/>
                </a:solidFill>
                <a:latin typeface="Calibri" pitchFamily="34" charset="0"/>
                <a:ea typeface="Calibri" pitchFamily="34" charset="-122"/>
                <a:cs typeface="Calibri" pitchFamily="34" charset="-120"/>
              </a:rPr>
              <a:t>FOLLOWER</a:t>
            </a:r>
            <a:endParaRPr lang="en-US" sz="825" dirty="0">
              <a:solidFill>
                <a:prstClr val="black"/>
              </a:solidFill>
              <a:latin typeface="Calibri" panose="020F0502020204030204"/>
            </a:endParaRPr>
          </a:p>
        </p:txBody>
      </p:sp>
      <p:sp>
        <p:nvSpPr>
          <p:cNvPr id="9" name="Text 7"/>
          <p:cNvSpPr/>
          <p:nvPr/>
        </p:nvSpPr>
        <p:spPr>
          <a:xfrm>
            <a:off x="3689604" y="1337310"/>
            <a:ext cx="1920240" cy="240030"/>
          </a:xfrm>
          <a:prstGeom prst="rect">
            <a:avLst/>
          </a:prstGeom>
          <a:noFill/>
          <a:ln/>
        </p:spPr>
        <p:txBody>
          <a:bodyPr wrap="square" lIns="0" tIns="0" rIns="0" bIns="0" rtlCol="0" anchor="ctr"/>
          <a:lstStyle/>
          <a:p>
            <a:pPr defTabSz="685800"/>
            <a:r>
              <a:rPr lang="en-US" sz="1425" b="1" dirty="0">
                <a:solidFill>
                  <a:srgbClr val="FFFFFF"/>
                </a:solidFill>
                <a:latin typeface="Calibri" pitchFamily="34" charset="0"/>
                <a:ea typeface="Calibri" pitchFamily="34" charset="-122"/>
                <a:cs typeface="Calibri" pitchFamily="34" charset="-120"/>
              </a:rPr>
              <a:t>Attacker</a:t>
            </a:r>
            <a:endParaRPr lang="en-US" sz="1425" dirty="0">
              <a:solidFill>
                <a:prstClr val="black"/>
              </a:solidFill>
              <a:latin typeface="Calibri" panose="020F0502020204030204"/>
            </a:endParaRPr>
          </a:p>
        </p:txBody>
      </p:sp>
      <p:sp>
        <p:nvSpPr>
          <p:cNvPr id="10" name="Text 8"/>
          <p:cNvSpPr/>
          <p:nvPr/>
        </p:nvSpPr>
        <p:spPr>
          <a:xfrm>
            <a:off x="3689604" y="1611630"/>
            <a:ext cx="1920240" cy="342900"/>
          </a:xfrm>
          <a:prstGeom prst="rect">
            <a:avLst/>
          </a:prstGeom>
          <a:noFill/>
          <a:ln/>
        </p:spPr>
        <p:txBody>
          <a:bodyPr wrap="square" lIns="0" tIns="0" rIns="0" bIns="0" rtlCol="0" anchor="ctr"/>
          <a:lstStyle/>
          <a:p>
            <a:pPr defTabSz="685800">
              <a:lnSpc>
                <a:spcPts val="1125"/>
              </a:lnSpc>
            </a:pPr>
            <a:r>
              <a:rPr lang="en-US" sz="900" dirty="0">
                <a:solidFill>
                  <a:srgbClr val="FCE4DA"/>
                </a:solidFill>
                <a:latin typeface="Calibri" pitchFamily="34" charset="0"/>
                <a:ea typeface="Calibri" pitchFamily="34" charset="-122"/>
                <a:cs typeface="Calibri" pitchFamily="34" charset="-120"/>
              </a:rPr>
              <a:t>Thăm dò, phát hiện ngưỡng, chọn best-response</a:t>
            </a:r>
            <a:endParaRPr lang="en-US" sz="900" dirty="0">
              <a:solidFill>
                <a:prstClr val="black"/>
              </a:solidFill>
              <a:latin typeface="Calibri" panose="020F0502020204030204"/>
            </a:endParaRPr>
          </a:p>
        </p:txBody>
      </p:sp>
      <p:sp>
        <p:nvSpPr>
          <p:cNvPr id="11" name="Shape 9"/>
          <p:cNvSpPr/>
          <p:nvPr/>
        </p:nvSpPr>
        <p:spPr>
          <a:xfrm>
            <a:off x="2756916" y="1371600"/>
            <a:ext cx="706374" cy="342900"/>
          </a:xfrm>
          <a:prstGeom prst="rightArrow">
            <a:avLst/>
          </a:prstGeom>
          <a:solidFill>
            <a:srgbClr val="9AAFC2"/>
          </a:solidFill>
          <a:ln/>
        </p:spPr>
      </p:sp>
      <p:sp>
        <p:nvSpPr>
          <p:cNvPr id="12" name="Text 10"/>
          <p:cNvSpPr/>
          <p:nvPr/>
        </p:nvSpPr>
        <p:spPr>
          <a:xfrm>
            <a:off x="2571750" y="1104138"/>
            <a:ext cx="1097280" cy="192024"/>
          </a:xfrm>
          <a:prstGeom prst="rect">
            <a:avLst/>
          </a:prstGeom>
          <a:noFill/>
          <a:ln/>
        </p:spPr>
        <p:txBody>
          <a:bodyPr wrap="square" lIns="0" tIns="0" rIns="0" bIns="0" rtlCol="0" anchor="ctr"/>
          <a:lstStyle/>
          <a:p>
            <a:pPr algn="ctr" defTabSz="685800"/>
            <a:r>
              <a:rPr lang="en-US" sz="788" dirty="0">
                <a:solidFill>
                  <a:srgbClr val="5A6779"/>
                </a:solidFill>
                <a:latin typeface="Calibri" pitchFamily="34" charset="0"/>
                <a:ea typeface="Calibri" pitchFamily="34" charset="-122"/>
                <a:cs typeface="Calibri" pitchFamily="34" charset="-120"/>
              </a:rPr>
              <a:t>cam kết chính sách</a:t>
            </a:r>
            <a:endParaRPr lang="en-US" sz="788" dirty="0">
              <a:solidFill>
                <a:prstClr val="black"/>
              </a:solidFill>
              <a:latin typeface="Calibri" panose="020F0502020204030204"/>
            </a:endParaRPr>
          </a:p>
        </p:txBody>
      </p:sp>
      <p:sp>
        <p:nvSpPr>
          <p:cNvPr id="13" name="Shape 11"/>
          <p:cNvSpPr/>
          <p:nvPr/>
        </p:nvSpPr>
        <p:spPr>
          <a:xfrm>
            <a:off x="493776" y="2263140"/>
            <a:ext cx="5232654" cy="342900"/>
          </a:xfrm>
          <a:prstGeom prst="roundRect">
            <a:avLst>
              <a:gd name="adj" fmla="val 16000"/>
            </a:avLst>
          </a:prstGeom>
          <a:solidFill>
            <a:srgbClr val="F1F5F9"/>
          </a:solidFill>
          <a:ln w="12700">
            <a:solidFill>
              <a:srgbClr val="D6E0EA"/>
            </a:solidFill>
            <a:prstDash val="solid"/>
          </a:ln>
        </p:spPr>
      </p:sp>
      <p:sp>
        <p:nvSpPr>
          <p:cNvPr id="14" name="Text 12"/>
          <p:cNvSpPr/>
          <p:nvPr/>
        </p:nvSpPr>
        <p:spPr>
          <a:xfrm>
            <a:off x="630936" y="2263140"/>
            <a:ext cx="4958334" cy="342900"/>
          </a:xfrm>
          <a:prstGeom prst="rect">
            <a:avLst/>
          </a:prstGeom>
          <a:noFill/>
          <a:ln/>
        </p:spPr>
        <p:txBody>
          <a:bodyPr wrap="square" lIns="0" tIns="0" rIns="0" bIns="0" rtlCol="0" anchor="ctr"/>
          <a:lstStyle/>
          <a:p>
            <a:pPr defTabSz="685800"/>
            <a:r>
              <a:rPr lang="en-US" sz="938" b="1" dirty="0">
                <a:solidFill>
                  <a:srgbClr val="1A2233"/>
                </a:solidFill>
                <a:latin typeface="Calibri" pitchFamily="34" charset="0"/>
                <a:ea typeface="Calibri" pitchFamily="34" charset="-122"/>
                <a:cs typeface="Calibri" pitchFamily="34" charset="-120"/>
              </a:rPr>
              <a:t>Leader tối ưu hóa với ràng buộc “attacker sẽ best-response”  →  Strong Stackelberg Equilibrium (SSE)</a:t>
            </a:r>
            <a:endParaRPr lang="en-US" sz="938" dirty="0">
              <a:solidFill>
                <a:prstClr val="black"/>
              </a:solidFill>
              <a:latin typeface="Calibri" panose="020F0502020204030204"/>
            </a:endParaRPr>
          </a:p>
        </p:txBody>
      </p:sp>
      <p:sp>
        <p:nvSpPr>
          <p:cNvPr id="15" name="Shape 13"/>
          <p:cNvSpPr/>
          <p:nvPr/>
        </p:nvSpPr>
        <p:spPr>
          <a:xfrm>
            <a:off x="493776" y="2777490"/>
            <a:ext cx="5232654" cy="651510"/>
          </a:xfrm>
          <a:prstGeom prst="roundRect">
            <a:avLst>
              <a:gd name="adj" fmla="val 10526"/>
            </a:avLst>
          </a:prstGeom>
          <a:solidFill>
            <a:srgbClr val="FDF1EC"/>
          </a:solidFill>
          <a:ln w="12700">
            <a:solidFill>
              <a:srgbClr val="F3CBBB"/>
            </a:solidFill>
            <a:prstDash val="solid"/>
          </a:ln>
        </p:spPr>
      </p:sp>
      <p:sp>
        <p:nvSpPr>
          <p:cNvPr id="16" name="Text 14"/>
          <p:cNvSpPr/>
          <p:nvPr/>
        </p:nvSpPr>
        <p:spPr>
          <a:xfrm>
            <a:off x="651510" y="2880360"/>
            <a:ext cx="822960" cy="171450"/>
          </a:xfrm>
          <a:prstGeom prst="rect">
            <a:avLst/>
          </a:prstGeom>
          <a:noFill/>
          <a:ln/>
        </p:spPr>
        <p:txBody>
          <a:bodyPr wrap="square" lIns="0" tIns="0" rIns="0" bIns="0" rtlCol="0" anchor="ctr"/>
          <a:lstStyle/>
          <a:p>
            <a:pPr defTabSz="685800"/>
            <a:r>
              <a:rPr lang="en-US" sz="788" b="1" kern="0" spc="150" dirty="0">
                <a:solidFill>
                  <a:srgbClr val="E76F51"/>
                </a:solidFill>
                <a:latin typeface="Calibri" pitchFamily="34" charset="0"/>
                <a:ea typeface="Calibri" pitchFamily="34" charset="-122"/>
                <a:cs typeface="Calibri" pitchFamily="34" charset="-120"/>
              </a:rPr>
              <a:t>VÍ DỤ</a:t>
            </a:r>
            <a:endParaRPr lang="en-US" sz="788" dirty="0">
              <a:solidFill>
                <a:prstClr val="black"/>
              </a:solidFill>
              <a:latin typeface="Calibri" panose="020F0502020204030204"/>
            </a:endParaRPr>
          </a:p>
        </p:txBody>
      </p:sp>
      <p:sp>
        <p:nvSpPr>
          <p:cNvPr id="17" name="Text 15"/>
          <p:cNvSpPr/>
          <p:nvPr/>
        </p:nvSpPr>
        <p:spPr>
          <a:xfrm>
            <a:off x="651510" y="3051810"/>
            <a:ext cx="4903470" cy="308610"/>
          </a:xfrm>
          <a:prstGeom prst="rect">
            <a:avLst/>
          </a:prstGeom>
          <a:noFill/>
          <a:ln/>
        </p:spPr>
        <p:txBody>
          <a:bodyPr wrap="square" lIns="0" tIns="0" rIns="0" bIns="0" rtlCol="0" anchor="ctr"/>
          <a:lstStyle/>
          <a:p>
            <a:pPr defTabSz="685800">
              <a:lnSpc>
                <a:spcPts val="1200"/>
              </a:lnSpc>
            </a:pPr>
            <a:r>
              <a:rPr lang="en-US" sz="938" dirty="0">
                <a:solidFill>
                  <a:srgbClr val="1A2233"/>
                </a:solidFill>
                <a:latin typeface="Calibri" pitchFamily="34" charset="0"/>
                <a:ea typeface="Calibri" pitchFamily="34" charset="-122"/>
                <a:cs typeface="Calibri" pitchFamily="34" charset="-120"/>
              </a:rPr>
              <a:t>Defender đặt HPA target = 70% CPU  ⇒  Attacker chỉ cần giữ tải ổn định ở 65% để né hoàn toàn cơ chế.</a:t>
            </a:r>
            <a:endParaRPr lang="en-US" sz="938" dirty="0">
              <a:solidFill>
                <a:prstClr val="black"/>
              </a:solidFill>
              <a:latin typeface="Calibri" panose="020F0502020204030204"/>
            </a:endParaRPr>
          </a:p>
        </p:txBody>
      </p:sp>
      <p:sp>
        <p:nvSpPr>
          <p:cNvPr id="18" name="Shape 16"/>
          <p:cNvSpPr/>
          <p:nvPr/>
        </p:nvSpPr>
        <p:spPr>
          <a:xfrm>
            <a:off x="493776" y="3566160"/>
            <a:ext cx="2537460" cy="788670"/>
          </a:xfrm>
          <a:prstGeom prst="roundRect">
            <a:avLst>
              <a:gd name="adj" fmla="val 8696"/>
            </a:avLst>
          </a:prstGeom>
          <a:solidFill>
            <a:srgbClr val="F1F5F9"/>
          </a:solidFill>
          <a:ln w="12700">
            <a:solidFill>
              <a:srgbClr val="D6E0EA"/>
            </a:solidFill>
            <a:prstDash val="solid"/>
          </a:ln>
        </p:spPr>
      </p:sp>
      <p:sp>
        <p:nvSpPr>
          <p:cNvPr id="19" name="Text 17"/>
          <p:cNvSpPr/>
          <p:nvPr/>
        </p:nvSpPr>
        <p:spPr>
          <a:xfrm>
            <a:off x="644652" y="3675888"/>
            <a:ext cx="2263140" cy="171450"/>
          </a:xfrm>
          <a:prstGeom prst="rect">
            <a:avLst/>
          </a:prstGeom>
          <a:noFill/>
          <a:ln/>
        </p:spPr>
        <p:txBody>
          <a:bodyPr wrap="square" lIns="0" tIns="0" rIns="0" bIns="0" rtlCol="0" anchor="ctr"/>
          <a:lstStyle/>
          <a:p>
            <a:pPr defTabSz="685800"/>
            <a:r>
              <a:rPr lang="en-US" sz="713" b="1" kern="0" spc="75" dirty="0">
                <a:solidFill>
                  <a:srgbClr val="1C7293"/>
                </a:solidFill>
                <a:latin typeface="Calibri" pitchFamily="34" charset="0"/>
                <a:ea typeface="Calibri" pitchFamily="34" charset="-122"/>
                <a:cs typeface="Calibri" pitchFamily="34" charset="-120"/>
              </a:rPr>
              <a:t>KHÔNG GIAN CHIẾN LƯỢC — DEFENDER</a:t>
            </a:r>
            <a:endParaRPr lang="en-US" sz="713" dirty="0">
              <a:solidFill>
                <a:prstClr val="black"/>
              </a:solidFill>
              <a:latin typeface="Calibri" panose="020F0502020204030204"/>
            </a:endParaRPr>
          </a:p>
        </p:txBody>
      </p:sp>
      <p:sp>
        <p:nvSpPr>
          <p:cNvPr id="20" name="Text 18"/>
          <p:cNvSpPr/>
          <p:nvPr/>
        </p:nvSpPr>
        <p:spPr>
          <a:xfrm>
            <a:off x="644652" y="3854196"/>
            <a:ext cx="2263140" cy="445770"/>
          </a:xfrm>
          <a:prstGeom prst="rect">
            <a:avLst/>
          </a:prstGeom>
          <a:noFill/>
          <a:ln/>
        </p:spPr>
        <p:txBody>
          <a:bodyPr wrap="square" lIns="0" tIns="0" rIns="0" bIns="0" rtlCol="0" anchor="ctr"/>
          <a:lstStyle/>
          <a:p>
            <a:pPr defTabSz="685800">
              <a:lnSpc>
                <a:spcPts val="1125"/>
              </a:lnSpc>
            </a:pPr>
            <a:r>
              <a:rPr lang="en-US" sz="863" dirty="0">
                <a:solidFill>
                  <a:srgbClr val="1A2233"/>
                </a:solidFill>
                <a:latin typeface="Calibri" pitchFamily="34" charset="0"/>
                <a:ea typeface="Calibri" pitchFamily="34" charset="-122"/>
                <a:cs typeface="Calibri" pitchFamily="34" charset="-120"/>
              </a:rPr>
              <a:t>Ngưỡng HPA · Rate limit tại Ingress · CAPTCHA / JS challenge · Degrade endpoint tốn kém · No-op</a:t>
            </a:r>
            <a:endParaRPr lang="en-US" sz="863" dirty="0">
              <a:solidFill>
                <a:prstClr val="black"/>
              </a:solidFill>
              <a:latin typeface="Calibri" panose="020F0502020204030204"/>
            </a:endParaRPr>
          </a:p>
        </p:txBody>
      </p:sp>
      <p:sp>
        <p:nvSpPr>
          <p:cNvPr id="21" name="Shape 19"/>
          <p:cNvSpPr/>
          <p:nvPr/>
        </p:nvSpPr>
        <p:spPr>
          <a:xfrm>
            <a:off x="3188970" y="3566160"/>
            <a:ext cx="2537460" cy="788670"/>
          </a:xfrm>
          <a:prstGeom prst="roundRect">
            <a:avLst>
              <a:gd name="adj" fmla="val 8696"/>
            </a:avLst>
          </a:prstGeom>
          <a:solidFill>
            <a:srgbClr val="F1F5F9"/>
          </a:solidFill>
          <a:ln w="12700">
            <a:solidFill>
              <a:srgbClr val="D6E0EA"/>
            </a:solidFill>
            <a:prstDash val="solid"/>
          </a:ln>
        </p:spPr>
      </p:sp>
      <p:sp>
        <p:nvSpPr>
          <p:cNvPr id="22" name="Text 20"/>
          <p:cNvSpPr/>
          <p:nvPr/>
        </p:nvSpPr>
        <p:spPr>
          <a:xfrm>
            <a:off x="3339846" y="3675888"/>
            <a:ext cx="2263140" cy="171450"/>
          </a:xfrm>
          <a:prstGeom prst="rect">
            <a:avLst/>
          </a:prstGeom>
          <a:noFill/>
          <a:ln/>
        </p:spPr>
        <p:txBody>
          <a:bodyPr wrap="square" lIns="0" tIns="0" rIns="0" bIns="0" rtlCol="0" anchor="ctr"/>
          <a:lstStyle/>
          <a:p>
            <a:pPr defTabSz="685800"/>
            <a:r>
              <a:rPr lang="en-US" sz="713" b="1" kern="0" spc="75" dirty="0">
                <a:solidFill>
                  <a:srgbClr val="E76F51"/>
                </a:solidFill>
                <a:latin typeface="Calibri" pitchFamily="34" charset="0"/>
                <a:ea typeface="Calibri" pitchFamily="34" charset="-122"/>
                <a:cs typeface="Calibri" pitchFamily="34" charset="-120"/>
              </a:rPr>
              <a:t>KHÔNG GIAN CHIẾN LƯỢC — ATTACKER</a:t>
            </a:r>
            <a:endParaRPr lang="en-US" sz="713" dirty="0">
              <a:solidFill>
                <a:prstClr val="black"/>
              </a:solidFill>
              <a:latin typeface="Calibri" panose="020F0502020204030204"/>
            </a:endParaRPr>
          </a:p>
        </p:txBody>
      </p:sp>
      <p:sp>
        <p:nvSpPr>
          <p:cNvPr id="23" name="Text 21"/>
          <p:cNvSpPr/>
          <p:nvPr/>
        </p:nvSpPr>
        <p:spPr>
          <a:xfrm>
            <a:off x="3339846" y="3854196"/>
            <a:ext cx="2263140" cy="445770"/>
          </a:xfrm>
          <a:prstGeom prst="rect">
            <a:avLst/>
          </a:prstGeom>
          <a:noFill/>
          <a:ln/>
        </p:spPr>
        <p:txBody>
          <a:bodyPr wrap="square" lIns="0" tIns="0" rIns="0" bIns="0" rtlCol="0" anchor="ctr"/>
          <a:lstStyle/>
          <a:p>
            <a:pPr defTabSz="685800">
              <a:lnSpc>
                <a:spcPts val="1125"/>
              </a:lnSpc>
            </a:pPr>
            <a:r>
              <a:rPr lang="en-US" sz="863" dirty="0">
                <a:solidFill>
                  <a:srgbClr val="1A2233"/>
                </a:solidFill>
                <a:latin typeface="Calibri" pitchFamily="34" charset="0"/>
                <a:ea typeface="Calibri" pitchFamily="34" charset="-122"/>
                <a:cs typeface="Calibri" pitchFamily="34" charset="-120"/>
              </a:rPr>
              <a:t>Cường độ tấn công · Mức độ ngụy trang · Chọn endpoint tốn tài nguyên · Thời điểm (pulse attack)</a:t>
            </a:r>
            <a:endParaRPr lang="en-US" sz="863" dirty="0">
              <a:solidFill>
                <a:prstClr val="black"/>
              </a:solidFill>
              <a:latin typeface="Calibri" panose="020F0502020204030204"/>
            </a:endParaRPr>
          </a:p>
        </p:txBody>
      </p:sp>
      <p:sp>
        <p:nvSpPr>
          <p:cNvPr id="24" name="Text 22"/>
          <p:cNvSpPr/>
          <p:nvPr/>
        </p:nvSpPr>
        <p:spPr>
          <a:xfrm>
            <a:off x="6000750" y="973836"/>
            <a:ext cx="2674620" cy="240030"/>
          </a:xfrm>
          <a:prstGeom prst="rect">
            <a:avLst/>
          </a:prstGeom>
          <a:noFill/>
          <a:ln/>
        </p:spPr>
        <p:txBody>
          <a:bodyPr wrap="square" lIns="0" tIns="0" rIns="0" bIns="0" rtlCol="0" anchor="ctr"/>
          <a:lstStyle/>
          <a:p>
            <a:pPr defTabSz="685800"/>
            <a:r>
              <a:rPr lang="en-US" sz="1200" b="1" dirty="0">
                <a:solidFill>
                  <a:srgbClr val="1A2233"/>
                </a:solidFill>
                <a:latin typeface="Calibri" pitchFamily="34" charset="0"/>
                <a:ea typeface="Calibri" pitchFamily="34" charset="-122"/>
                <a:cs typeface="Calibri" pitchFamily="34" charset="-120"/>
              </a:rPr>
              <a:t>Vì sao phù hợp với EDoS?</a:t>
            </a:r>
            <a:endParaRPr lang="en-US" sz="1200" dirty="0">
              <a:solidFill>
                <a:prstClr val="black"/>
              </a:solidFill>
              <a:latin typeface="Calibri" panose="020F0502020204030204"/>
            </a:endParaRPr>
          </a:p>
        </p:txBody>
      </p:sp>
      <p:sp>
        <p:nvSpPr>
          <p:cNvPr id="25" name="Shape 23"/>
          <p:cNvSpPr/>
          <p:nvPr/>
        </p:nvSpPr>
        <p:spPr>
          <a:xfrm>
            <a:off x="6000750" y="1378458"/>
            <a:ext cx="233172" cy="233172"/>
          </a:xfrm>
          <a:prstGeom prst="ellipse">
            <a:avLst/>
          </a:prstGeom>
          <a:solidFill>
            <a:srgbClr val="2A9D8F"/>
          </a:solidFill>
          <a:ln/>
        </p:spPr>
      </p:sp>
      <p:sp>
        <p:nvSpPr>
          <p:cNvPr id="26" name="Text 24"/>
          <p:cNvSpPr/>
          <p:nvPr/>
        </p:nvSpPr>
        <p:spPr>
          <a:xfrm>
            <a:off x="6000750" y="1378458"/>
            <a:ext cx="233172" cy="233172"/>
          </a:xfrm>
          <a:prstGeom prst="rect">
            <a:avLst/>
          </a:prstGeom>
          <a:noFill/>
          <a:ln/>
        </p:spPr>
        <p:txBody>
          <a:bodyPr wrap="square" lIns="0" tIns="0" rIns="0" bIns="0" rtlCol="0" anchor="ctr"/>
          <a:lstStyle/>
          <a:p>
            <a:pPr algn="ctr" defTabSz="685800"/>
            <a:r>
              <a:rPr lang="en-US" sz="900" b="1" dirty="0">
                <a:solidFill>
                  <a:srgbClr val="FFFFFF"/>
                </a:solidFill>
                <a:latin typeface="Calibri" pitchFamily="34" charset="0"/>
                <a:ea typeface="Calibri" pitchFamily="34" charset="-122"/>
                <a:cs typeface="Calibri" pitchFamily="34" charset="-120"/>
              </a:rPr>
              <a:t>1</a:t>
            </a:r>
            <a:endParaRPr lang="en-US" sz="900" dirty="0">
              <a:solidFill>
                <a:prstClr val="black"/>
              </a:solidFill>
              <a:latin typeface="Calibri" panose="020F0502020204030204"/>
            </a:endParaRPr>
          </a:p>
        </p:txBody>
      </p:sp>
      <p:sp>
        <p:nvSpPr>
          <p:cNvPr id="27" name="Text 25"/>
          <p:cNvSpPr/>
          <p:nvPr/>
        </p:nvSpPr>
        <p:spPr>
          <a:xfrm>
            <a:off x="6343650" y="1351026"/>
            <a:ext cx="2297430" cy="205740"/>
          </a:xfrm>
          <a:prstGeom prst="rect">
            <a:avLst/>
          </a:prstGeom>
          <a:noFill/>
          <a:ln/>
        </p:spPr>
        <p:txBody>
          <a:bodyPr wrap="square" lIns="0" tIns="0" rIns="0" bIns="0" rtlCol="0" anchor="ctr"/>
          <a:lstStyle/>
          <a:p>
            <a:pPr defTabSz="685800"/>
            <a:r>
              <a:rPr lang="en-US" sz="1050" b="1" dirty="0">
                <a:solidFill>
                  <a:srgbClr val="1A2233"/>
                </a:solidFill>
                <a:latin typeface="Calibri" pitchFamily="34" charset="0"/>
                <a:ea typeface="Calibri" pitchFamily="34" charset="-122"/>
                <a:cs typeface="Calibri" pitchFamily="34" charset="-120"/>
              </a:rPr>
              <a:t>Phòng thủ luôn lộ trước</a:t>
            </a:r>
            <a:endParaRPr lang="en-US" sz="1050" dirty="0">
              <a:solidFill>
                <a:prstClr val="black"/>
              </a:solidFill>
              <a:latin typeface="Calibri" panose="020F0502020204030204"/>
            </a:endParaRPr>
          </a:p>
        </p:txBody>
      </p:sp>
      <p:sp>
        <p:nvSpPr>
          <p:cNvPr id="28" name="Text 26"/>
          <p:cNvSpPr/>
          <p:nvPr/>
        </p:nvSpPr>
        <p:spPr>
          <a:xfrm>
            <a:off x="6343650" y="1556766"/>
            <a:ext cx="2297430" cy="411480"/>
          </a:xfrm>
          <a:prstGeom prst="rect">
            <a:avLst/>
          </a:prstGeom>
          <a:noFill/>
          <a:ln/>
        </p:spPr>
        <p:txBody>
          <a:bodyPr wrap="square" lIns="0" tIns="0" rIns="0" bIns="0" rtlCol="0" anchor="ctr"/>
          <a:lstStyle/>
          <a:p>
            <a:pPr defTabSz="685800">
              <a:lnSpc>
                <a:spcPts val="1125"/>
              </a:lnSpc>
            </a:pPr>
            <a:r>
              <a:rPr lang="en-US" sz="900" dirty="0">
                <a:solidFill>
                  <a:srgbClr val="5A6779"/>
                </a:solidFill>
                <a:latin typeface="Calibri" pitchFamily="34" charset="0"/>
                <a:ea typeface="Calibri" pitchFamily="34" charset="-122"/>
                <a:cs typeface="Calibri" pitchFamily="34" charset="-120"/>
              </a:rPr>
              <a:t>Attacker dò được ngưỡng HPA bằng traffic thăm dò chi phí thấp</a:t>
            </a:r>
            <a:endParaRPr lang="en-US" sz="900" dirty="0">
              <a:solidFill>
                <a:prstClr val="black"/>
              </a:solidFill>
              <a:latin typeface="Calibri" panose="020F0502020204030204"/>
            </a:endParaRPr>
          </a:p>
        </p:txBody>
      </p:sp>
      <p:sp>
        <p:nvSpPr>
          <p:cNvPr id="29" name="Shape 27"/>
          <p:cNvSpPr/>
          <p:nvPr/>
        </p:nvSpPr>
        <p:spPr>
          <a:xfrm>
            <a:off x="6000750" y="2098548"/>
            <a:ext cx="233172" cy="233172"/>
          </a:xfrm>
          <a:prstGeom prst="ellipse">
            <a:avLst/>
          </a:prstGeom>
          <a:solidFill>
            <a:srgbClr val="2A9D8F"/>
          </a:solidFill>
          <a:ln/>
        </p:spPr>
      </p:sp>
      <p:sp>
        <p:nvSpPr>
          <p:cNvPr id="30" name="Text 28"/>
          <p:cNvSpPr/>
          <p:nvPr/>
        </p:nvSpPr>
        <p:spPr>
          <a:xfrm>
            <a:off x="6000750" y="2098548"/>
            <a:ext cx="233172" cy="233172"/>
          </a:xfrm>
          <a:prstGeom prst="rect">
            <a:avLst/>
          </a:prstGeom>
          <a:noFill/>
          <a:ln/>
        </p:spPr>
        <p:txBody>
          <a:bodyPr wrap="square" lIns="0" tIns="0" rIns="0" bIns="0" rtlCol="0" anchor="ctr"/>
          <a:lstStyle/>
          <a:p>
            <a:pPr algn="ctr" defTabSz="685800"/>
            <a:r>
              <a:rPr lang="en-US" sz="900" b="1" dirty="0">
                <a:solidFill>
                  <a:srgbClr val="FFFFFF"/>
                </a:solidFill>
                <a:latin typeface="Calibri" pitchFamily="34" charset="0"/>
                <a:ea typeface="Calibri" pitchFamily="34" charset="-122"/>
                <a:cs typeface="Calibri" pitchFamily="34" charset="-120"/>
              </a:rPr>
              <a:t>2</a:t>
            </a:r>
            <a:endParaRPr lang="en-US" sz="900" dirty="0">
              <a:solidFill>
                <a:prstClr val="black"/>
              </a:solidFill>
              <a:latin typeface="Calibri" panose="020F0502020204030204"/>
            </a:endParaRPr>
          </a:p>
        </p:txBody>
      </p:sp>
      <p:sp>
        <p:nvSpPr>
          <p:cNvPr id="31" name="Text 29"/>
          <p:cNvSpPr/>
          <p:nvPr/>
        </p:nvSpPr>
        <p:spPr>
          <a:xfrm>
            <a:off x="6343650" y="2071116"/>
            <a:ext cx="2297430" cy="205740"/>
          </a:xfrm>
          <a:prstGeom prst="rect">
            <a:avLst/>
          </a:prstGeom>
          <a:noFill/>
          <a:ln/>
        </p:spPr>
        <p:txBody>
          <a:bodyPr wrap="square" lIns="0" tIns="0" rIns="0" bIns="0" rtlCol="0" anchor="ctr"/>
          <a:lstStyle/>
          <a:p>
            <a:pPr defTabSz="685800"/>
            <a:r>
              <a:rPr lang="en-US" sz="1050" b="1" dirty="0">
                <a:solidFill>
                  <a:srgbClr val="1A2233"/>
                </a:solidFill>
                <a:latin typeface="Calibri" pitchFamily="34" charset="0"/>
                <a:ea typeface="Calibri" pitchFamily="34" charset="-122"/>
                <a:cs typeface="Calibri" pitchFamily="34" charset="-120"/>
              </a:rPr>
              <a:t>Không phải zero-sum</a:t>
            </a:r>
            <a:endParaRPr lang="en-US" sz="1050" dirty="0">
              <a:solidFill>
                <a:prstClr val="black"/>
              </a:solidFill>
              <a:latin typeface="Calibri" panose="020F0502020204030204"/>
            </a:endParaRPr>
          </a:p>
        </p:txBody>
      </p:sp>
      <p:sp>
        <p:nvSpPr>
          <p:cNvPr id="32" name="Text 30"/>
          <p:cNvSpPr/>
          <p:nvPr/>
        </p:nvSpPr>
        <p:spPr>
          <a:xfrm>
            <a:off x="6343650" y="2276856"/>
            <a:ext cx="2297430" cy="411480"/>
          </a:xfrm>
          <a:prstGeom prst="rect">
            <a:avLst/>
          </a:prstGeom>
          <a:noFill/>
          <a:ln/>
        </p:spPr>
        <p:txBody>
          <a:bodyPr wrap="square" lIns="0" tIns="0" rIns="0" bIns="0" rtlCol="0" anchor="ctr"/>
          <a:lstStyle/>
          <a:p>
            <a:pPr defTabSz="685800">
              <a:lnSpc>
                <a:spcPts val="1125"/>
              </a:lnSpc>
            </a:pPr>
            <a:r>
              <a:rPr lang="en-US" sz="900" dirty="0">
                <a:solidFill>
                  <a:srgbClr val="5A6779"/>
                </a:solidFill>
                <a:latin typeface="Calibri" pitchFamily="34" charset="0"/>
                <a:ea typeface="Calibri" pitchFamily="34" charset="-122"/>
                <a:cs typeface="Calibri" pitchFamily="34" charset="-120"/>
              </a:rPr>
              <a:t>Tấn công cũng tốn chi phí botnet và rủi ro bị lộ</a:t>
            </a:r>
            <a:endParaRPr lang="en-US" sz="900" dirty="0">
              <a:solidFill>
                <a:prstClr val="black"/>
              </a:solidFill>
              <a:latin typeface="Calibri" panose="020F0502020204030204"/>
            </a:endParaRPr>
          </a:p>
        </p:txBody>
      </p:sp>
      <p:sp>
        <p:nvSpPr>
          <p:cNvPr id="33" name="Shape 31"/>
          <p:cNvSpPr/>
          <p:nvPr/>
        </p:nvSpPr>
        <p:spPr>
          <a:xfrm>
            <a:off x="6000750" y="2818638"/>
            <a:ext cx="233172" cy="233172"/>
          </a:xfrm>
          <a:prstGeom prst="ellipse">
            <a:avLst/>
          </a:prstGeom>
          <a:solidFill>
            <a:srgbClr val="2A9D8F"/>
          </a:solidFill>
          <a:ln/>
        </p:spPr>
      </p:sp>
      <p:sp>
        <p:nvSpPr>
          <p:cNvPr id="34" name="Text 32"/>
          <p:cNvSpPr/>
          <p:nvPr/>
        </p:nvSpPr>
        <p:spPr>
          <a:xfrm>
            <a:off x="6000750" y="2818638"/>
            <a:ext cx="233172" cy="233172"/>
          </a:xfrm>
          <a:prstGeom prst="rect">
            <a:avLst/>
          </a:prstGeom>
          <a:noFill/>
          <a:ln/>
        </p:spPr>
        <p:txBody>
          <a:bodyPr wrap="square" lIns="0" tIns="0" rIns="0" bIns="0" rtlCol="0" anchor="ctr"/>
          <a:lstStyle/>
          <a:p>
            <a:pPr algn="ctr" defTabSz="685800"/>
            <a:r>
              <a:rPr lang="en-US" sz="900" b="1" dirty="0">
                <a:solidFill>
                  <a:srgbClr val="FFFFFF"/>
                </a:solidFill>
                <a:latin typeface="Calibri" pitchFamily="34" charset="0"/>
                <a:ea typeface="Calibri" pitchFamily="34" charset="-122"/>
                <a:cs typeface="Calibri" pitchFamily="34" charset="-120"/>
              </a:rPr>
              <a:t>3</a:t>
            </a:r>
            <a:endParaRPr lang="en-US" sz="900" dirty="0">
              <a:solidFill>
                <a:prstClr val="black"/>
              </a:solidFill>
              <a:latin typeface="Calibri" panose="020F0502020204030204"/>
            </a:endParaRPr>
          </a:p>
        </p:txBody>
      </p:sp>
      <p:sp>
        <p:nvSpPr>
          <p:cNvPr id="35" name="Text 33"/>
          <p:cNvSpPr/>
          <p:nvPr/>
        </p:nvSpPr>
        <p:spPr>
          <a:xfrm>
            <a:off x="6343650" y="2791206"/>
            <a:ext cx="2297430" cy="205740"/>
          </a:xfrm>
          <a:prstGeom prst="rect">
            <a:avLst/>
          </a:prstGeom>
          <a:noFill/>
          <a:ln/>
        </p:spPr>
        <p:txBody>
          <a:bodyPr wrap="square" lIns="0" tIns="0" rIns="0" bIns="0" rtlCol="0" anchor="ctr"/>
          <a:lstStyle/>
          <a:p>
            <a:pPr defTabSz="685800"/>
            <a:r>
              <a:rPr lang="en-US" sz="1050" b="1" dirty="0">
                <a:solidFill>
                  <a:srgbClr val="1A2233"/>
                </a:solidFill>
                <a:latin typeface="Calibri" pitchFamily="34" charset="0"/>
                <a:ea typeface="Calibri" pitchFamily="34" charset="-122"/>
                <a:cs typeface="Calibri" pitchFamily="34" charset="-120"/>
              </a:rPr>
              <a:t>Không có Nash thuần túy</a:t>
            </a:r>
            <a:endParaRPr lang="en-US" sz="1050" dirty="0">
              <a:solidFill>
                <a:prstClr val="black"/>
              </a:solidFill>
              <a:latin typeface="Calibri" panose="020F0502020204030204"/>
            </a:endParaRPr>
          </a:p>
        </p:txBody>
      </p:sp>
      <p:sp>
        <p:nvSpPr>
          <p:cNvPr id="36" name="Text 34"/>
          <p:cNvSpPr/>
          <p:nvPr/>
        </p:nvSpPr>
        <p:spPr>
          <a:xfrm>
            <a:off x="6343650" y="2996946"/>
            <a:ext cx="2297430" cy="411480"/>
          </a:xfrm>
          <a:prstGeom prst="rect">
            <a:avLst/>
          </a:prstGeom>
          <a:noFill/>
          <a:ln/>
        </p:spPr>
        <p:txBody>
          <a:bodyPr wrap="square" lIns="0" tIns="0" rIns="0" bIns="0" rtlCol="0" anchor="ctr"/>
          <a:lstStyle/>
          <a:p>
            <a:pPr defTabSz="685800">
              <a:lnSpc>
                <a:spcPts val="1125"/>
              </a:lnSpc>
            </a:pPr>
            <a:r>
              <a:rPr lang="en-US" sz="900" dirty="0">
                <a:solidFill>
                  <a:srgbClr val="5A6779"/>
                </a:solidFill>
                <a:latin typeface="Calibri" pitchFamily="34" charset="0"/>
                <a:ea typeface="Calibri" pitchFamily="34" charset="-122"/>
                <a:cs typeface="Calibri" pitchFamily="34" charset="-120"/>
              </a:rPr>
              <a:t>Nghiệm nằm ở chiến lược hỗn hợp — phòng thủ theo xác suất</a:t>
            </a:r>
            <a:endParaRPr lang="en-US" sz="900" dirty="0">
              <a:solidFill>
                <a:prstClr val="black"/>
              </a:solidFill>
              <a:latin typeface="Calibri" panose="020F0502020204030204"/>
            </a:endParaRPr>
          </a:p>
        </p:txBody>
      </p:sp>
      <p:sp>
        <p:nvSpPr>
          <p:cNvPr id="37" name="Shape 35"/>
          <p:cNvSpPr/>
          <p:nvPr/>
        </p:nvSpPr>
        <p:spPr>
          <a:xfrm>
            <a:off x="6000750" y="3566160"/>
            <a:ext cx="2654046" cy="788670"/>
          </a:xfrm>
          <a:prstGeom prst="roundRect">
            <a:avLst>
              <a:gd name="adj" fmla="val 8696"/>
            </a:avLst>
          </a:prstGeom>
          <a:solidFill>
            <a:srgbClr val="12203A"/>
          </a:solidFill>
          <a:ln/>
        </p:spPr>
      </p:sp>
      <p:sp>
        <p:nvSpPr>
          <p:cNvPr id="38" name="Text 36"/>
          <p:cNvSpPr/>
          <p:nvPr/>
        </p:nvSpPr>
        <p:spPr>
          <a:xfrm>
            <a:off x="6158484" y="3566160"/>
            <a:ext cx="2331720" cy="788670"/>
          </a:xfrm>
          <a:prstGeom prst="rect">
            <a:avLst/>
          </a:prstGeom>
          <a:noFill/>
          <a:ln/>
        </p:spPr>
        <p:txBody>
          <a:bodyPr wrap="square" lIns="0" tIns="0" rIns="0" bIns="0" rtlCol="0" anchor="ctr"/>
          <a:lstStyle/>
          <a:p>
            <a:pPr defTabSz="685800">
              <a:lnSpc>
                <a:spcPts val="1275"/>
              </a:lnSpc>
            </a:pPr>
            <a:r>
              <a:rPr lang="en-US" sz="938" b="1" dirty="0">
                <a:solidFill>
                  <a:srgbClr val="FFFFFF"/>
                </a:solidFill>
                <a:latin typeface="Calibri" pitchFamily="34" charset="0"/>
                <a:ea typeface="Calibri" pitchFamily="34" charset="-122"/>
                <a:cs typeface="Calibri" pitchFamily="34" charset="-120"/>
              </a:rPr>
              <a:t>Mọi ngưỡng cố định đều bị né ⇒ randomize là chiến lược tối ưu, không phải giải pháp tình thế.</a:t>
            </a:r>
            <a:endParaRPr lang="en-US" sz="938" dirty="0">
              <a:solidFill>
                <a:prstClr val="black"/>
              </a:solidFill>
              <a:latin typeface="Calibri" panose="020F0502020204030204"/>
            </a:endParaRPr>
          </a:p>
        </p:txBody>
      </p:sp>
    </p:spTree>
    <p:extLst>
      <p:ext uri="{BB962C8B-B14F-4D97-AF65-F5344CB8AC3E}">
        <p14:creationId xmlns:p14="http://schemas.microsoft.com/office/powerpoint/2010/main" val="31525177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203A"/>
        </a:solidFill>
        <a:effectLst/>
      </p:bgPr>
    </p:bg>
    <p:spTree>
      <p:nvGrpSpPr>
        <p:cNvPr id="1" name=""/>
        <p:cNvGrpSpPr/>
        <p:nvPr/>
      </p:nvGrpSpPr>
      <p:grpSpPr>
        <a:xfrm>
          <a:off x="0" y="0"/>
          <a:ext cx="0" cy="0"/>
          <a:chOff x="0" y="0"/>
          <a:chExt cx="0" cy="0"/>
        </a:xfrm>
      </p:grpSpPr>
      <p:sp>
        <p:nvSpPr>
          <p:cNvPr id="2" name="Text 0"/>
          <p:cNvSpPr/>
          <p:nvPr/>
        </p:nvSpPr>
        <p:spPr>
          <a:xfrm>
            <a:off x="493776" y="308610"/>
            <a:ext cx="8161020" cy="411480"/>
          </a:xfrm>
          <a:prstGeom prst="rect">
            <a:avLst/>
          </a:prstGeom>
          <a:noFill/>
          <a:ln/>
        </p:spPr>
        <p:txBody>
          <a:bodyPr wrap="square" lIns="0" tIns="0" rIns="0" bIns="0" rtlCol="0" anchor="ctr"/>
          <a:lstStyle/>
          <a:p>
            <a:pPr defTabSz="685800"/>
            <a:r>
              <a:rPr lang="en-US" sz="2400" b="1" dirty="0">
                <a:solidFill>
                  <a:srgbClr val="FFFFFF"/>
                </a:solidFill>
                <a:latin typeface="Cambria" pitchFamily="34" charset="0"/>
                <a:ea typeface="Cambria" pitchFamily="34" charset="-122"/>
                <a:cs typeface="Cambria" pitchFamily="34" charset="-120"/>
              </a:rPr>
              <a:t>Kết hợp hai nền tảng → Markov Game</a:t>
            </a:r>
            <a:endParaRPr lang="en-US" sz="2400" dirty="0">
              <a:solidFill>
                <a:prstClr val="black"/>
              </a:solidFill>
              <a:latin typeface="Calibri" panose="020F0502020204030204"/>
            </a:endParaRPr>
          </a:p>
        </p:txBody>
      </p:sp>
      <p:sp>
        <p:nvSpPr>
          <p:cNvPr id="3" name="Shape 1"/>
          <p:cNvSpPr/>
          <p:nvPr/>
        </p:nvSpPr>
        <p:spPr>
          <a:xfrm>
            <a:off x="493776" y="891540"/>
            <a:ext cx="3861054" cy="994410"/>
          </a:xfrm>
          <a:prstGeom prst="roundRect">
            <a:avLst>
              <a:gd name="adj" fmla="val 8276"/>
            </a:avLst>
          </a:prstGeom>
          <a:solidFill>
            <a:srgbClr val="1E3050"/>
          </a:solidFill>
          <a:ln w="12700">
            <a:solidFill>
              <a:srgbClr val="2C4568"/>
            </a:solidFill>
            <a:prstDash val="solid"/>
          </a:ln>
        </p:spPr>
      </p:sp>
      <p:sp>
        <p:nvSpPr>
          <p:cNvPr id="4" name="Text 2"/>
          <p:cNvSpPr/>
          <p:nvPr/>
        </p:nvSpPr>
        <p:spPr>
          <a:xfrm>
            <a:off x="699516" y="1028700"/>
            <a:ext cx="3449574" cy="205740"/>
          </a:xfrm>
          <a:prstGeom prst="rect">
            <a:avLst/>
          </a:prstGeom>
          <a:noFill/>
          <a:ln/>
        </p:spPr>
        <p:txBody>
          <a:bodyPr wrap="square" lIns="0" tIns="0" rIns="0" bIns="0" rtlCol="0" anchor="ctr"/>
          <a:lstStyle/>
          <a:p>
            <a:pPr defTabSz="685800"/>
            <a:r>
              <a:rPr lang="en-US" sz="975" b="1" kern="0" spc="150" dirty="0">
                <a:solidFill>
                  <a:srgbClr val="2A9D8F"/>
                </a:solidFill>
                <a:latin typeface="Calibri" pitchFamily="34" charset="0"/>
                <a:ea typeface="Calibri" pitchFamily="34" charset="-122"/>
                <a:cs typeface="Calibri" pitchFamily="34" charset="-120"/>
              </a:rPr>
              <a:t>MDP</a:t>
            </a:r>
            <a:endParaRPr lang="en-US" sz="975" dirty="0">
              <a:solidFill>
                <a:prstClr val="black"/>
              </a:solidFill>
              <a:latin typeface="Calibri" panose="020F0502020204030204"/>
            </a:endParaRPr>
          </a:p>
        </p:txBody>
      </p:sp>
      <p:sp>
        <p:nvSpPr>
          <p:cNvPr id="5" name="Text 3"/>
          <p:cNvSpPr/>
          <p:nvPr/>
        </p:nvSpPr>
        <p:spPr>
          <a:xfrm>
            <a:off x="699516" y="1268730"/>
            <a:ext cx="3449574" cy="514350"/>
          </a:xfrm>
          <a:prstGeom prst="rect">
            <a:avLst/>
          </a:prstGeom>
          <a:noFill/>
          <a:ln/>
        </p:spPr>
        <p:txBody>
          <a:bodyPr wrap="square" lIns="0" tIns="0" rIns="0" bIns="0" rtlCol="0" anchor="ctr"/>
          <a:lstStyle/>
          <a:p>
            <a:pPr defTabSz="685800">
              <a:lnSpc>
                <a:spcPts val="1350"/>
              </a:lnSpc>
            </a:pPr>
            <a:r>
              <a:rPr lang="en-US" sz="975" dirty="0">
                <a:solidFill>
                  <a:srgbClr val="CFE3F0"/>
                </a:solidFill>
                <a:latin typeface="Calibri" pitchFamily="34" charset="0"/>
                <a:ea typeface="Calibri" pitchFamily="34" charset="-122"/>
                <a:cs typeface="Calibri" pitchFamily="34" charset="-120"/>
              </a:rPr>
              <a:t>Trạng thái động, quyết định tuần tự — nhưng giả định môi trường không suy nghĩ chiến lược.</a:t>
            </a:r>
            <a:endParaRPr lang="en-US" sz="975" dirty="0">
              <a:solidFill>
                <a:prstClr val="black"/>
              </a:solidFill>
              <a:latin typeface="Calibri" panose="020F0502020204030204"/>
            </a:endParaRPr>
          </a:p>
        </p:txBody>
      </p:sp>
      <p:sp>
        <p:nvSpPr>
          <p:cNvPr id="6" name="Shape 4"/>
          <p:cNvSpPr/>
          <p:nvPr/>
        </p:nvSpPr>
        <p:spPr>
          <a:xfrm>
            <a:off x="4766310" y="891540"/>
            <a:ext cx="3861054" cy="994410"/>
          </a:xfrm>
          <a:prstGeom prst="roundRect">
            <a:avLst>
              <a:gd name="adj" fmla="val 8276"/>
            </a:avLst>
          </a:prstGeom>
          <a:solidFill>
            <a:srgbClr val="1E3050"/>
          </a:solidFill>
          <a:ln w="12700">
            <a:solidFill>
              <a:srgbClr val="2C4568"/>
            </a:solidFill>
            <a:prstDash val="solid"/>
          </a:ln>
        </p:spPr>
      </p:sp>
      <p:sp>
        <p:nvSpPr>
          <p:cNvPr id="7" name="Text 5"/>
          <p:cNvSpPr/>
          <p:nvPr/>
        </p:nvSpPr>
        <p:spPr>
          <a:xfrm>
            <a:off x="4972050" y="1028700"/>
            <a:ext cx="3449574" cy="205740"/>
          </a:xfrm>
          <a:prstGeom prst="rect">
            <a:avLst/>
          </a:prstGeom>
          <a:noFill/>
          <a:ln/>
        </p:spPr>
        <p:txBody>
          <a:bodyPr wrap="square" lIns="0" tIns="0" rIns="0" bIns="0" rtlCol="0" anchor="ctr"/>
          <a:lstStyle/>
          <a:p>
            <a:pPr defTabSz="685800"/>
            <a:r>
              <a:rPr lang="en-US" sz="975" b="1" kern="0" spc="150" dirty="0">
                <a:solidFill>
                  <a:srgbClr val="E76F51"/>
                </a:solidFill>
                <a:latin typeface="Calibri" pitchFamily="34" charset="0"/>
                <a:ea typeface="Calibri" pitchFamily="34" charset="-122"/>
                <a:cs typeface="Calibri" pitchFamily="34" charset="-120"/>
              </a:rPr>
              <a:t>STACKELBERG</a:t>
            </a:r>
            <a:endParaRPr lang="en-US" sz="975" dirty="0">
              <a:solidFill>
                <a:prstClr val="black"/>
              </a:solidFill>
              <a:latin typeface="Calibri" panose="020F0502020204030204"/>
            </a:endParaRPr>
          </a:p>
        </p:txBody>
      </p:sp>
      <p:sp>
        <p:nvSpPr>
          <p:cNvPr id="8" name="Text 6"/>
          <p:cNvSpPr/>
          <p:nvPr/>
        </p:nvSpPr>
        <p:spPr>
          <a:xfrm>
            <a:off x="4972050" y="1268730"/>
            <a:ext cx="3449574" cy="514350"/>
          </a:xfrm>
          <a:prstGeom prst="rect">
            <a:avLst/>
          </a:prstGeom>
          <a:noFill/>
          <a:ln/>
        </p:spPr>
        <p:txBody>
          <a:bodyPr wrap="square" lIns="0" tIns="0" rIns="0" bIns="0" rtlCol="0" anchor="ctr"/>
          <a:lstStyle/>
          <a:p>
            <a:pPr defTabSz="685800">
              <a:lnSpc>
                <a:spcPts val="1350"/>
              </a:lnSpc>
            </a:pPr>
            <a:r>
              <a:rPr lang="en-US" sz="975" dirty="0">
                <a:solidFill>
                  <a:srgbClr val="CFE3F0"/>
                </a:solidFill>
                <a:latin typeface="Calibri" pitchFamily="34" charset="0"/>
                <a:ea typeface="Calibri" pitchFamily="34" charset="-122"/>
                <a:cs typeface="Calibri" pitchFamily="34" charset="-120"/>
              </a:rPr>
              <a:t>Đối thủ có chủ đích và thích nghi — nhưng thường mô hình hóa ở dạng tĩnh, một giai đoạn.</a:t>
            </a:r>
            <a:endParaRPr lang="en-US" sz="975" dirty="0">
              <a:solidFill>
                <a:prstClr val="black"/>
              </a:solidFill>
              <a:latin typeface="Calibri" panose="020F0502020204030204"/>
            </a:endParaRPr>
          </a:p>
        </p:txBody>
      </p:sp>
      <p:sp>
        <p:nvSpPr>
          <p:cNvPr id="9" name="Shape 7"/>
          <p:cNvSpPr/>
          <p:nvPr/>
        </p:nvSpPr>
        <p:spPr>
          <a:xfrm>
            <a:off x="4347972" y="1248156"/>
            <a:ext cx="425196" cy="425196"/>
          </a:xfrm>
          <a:prstGeom prst="ellipse">
            <a:avLst/>
          </a:prstGeom>
          <a:solidFill>
            <a:srgbClr val="2A9D8F"/>
          </a:solidFill>
          <a:ln/>
        </p:spPr>
      </p:sp>
      <p:sp>
        <p:nvSpPr>
          <p:cNvPr id="10" name="Text 8"/>
          <p:cNvSpPr/>
          <p:nvPr/>
        </p:nvSpPr>
        <p:spPr>
          <a:xfrm>
            <a:off x="4347972" y="1248156"/>
            <a:ext cx="425196" cy="425196"/>
          </a:xfrm>
          <a:prstGeom prst="rect">
            <a:avLst/>
          </a:prstGeom>
          <a:noFill/>
          <a:ln/>
        </p:spPr>
        <p:txBody>
          <a:bodyPr wrap="square" lIns="0" tIns="0" rIns="0" bIns="0" rtlCol="0" anchor="ctr"/>
          <a:lstStyle/>
          <a:p>
            <a:pPr algn="ctr" defTabSz="685800"/>
            <a:r>
              <a:rPr lang="en-US" sz="1650" b="1" dirty="0">
                <a:solidFill>
                  <a:srgbClr val="FFFFFF"/>
                </a:solidFill>
                <a:latin typeface="Calibri" pitchFamily="34" charset="0"/>
                <a:ea typeface="Calibri" pitchFamily="34" charset="-122"/>
                <a:cs typeface="Calibri" pitchFamily="34" charset="-120"/>
              </a:rPr>
              <a:t>+</a:t>
            </a:r>
            <a:endParaRPr lang="en-US" sz="1650" dirty="0">
              <a:solidFill>
                <a:prstClr val="black"/>
              </a:solidFill>
              <a:latin typeface="Calibri" panose="020F0502020204030204"/>
            </a:endParaRPr>
          </a:p>
        </p:txBody>
      </p:sp>
      <p:sp>
        <p:nvSpPr>
          <p:cNvPr id="11" name="Shape 9"/>
          <p:cNvSpPr/>
          <p:nvPr/>
        </p:nvSpPr>
        <p:spPr>
          <a:xfrm>
            <a:off x="493776" y="2160270"/>
            <a:ext cx="8133588" cy="1748790"/>
          </a:xfrm>
          <a:prstGeom prst="roundRect">
            <a:avLst>
              <a:gd name="adj" fmla="val 5490"/>
            </a:avLst>
          </a:prstGeom>
          <a:solidFill>
            <a:srgbClr val="FFFFFF"/>
          </a:solidFill>
          <a:ln/>
        </p:spPr>
      </p:sp>
      <p:sp>
        <p:nvSpPr>
          <p:cNvPr id="12" name="Text 10"/>
          <p:cNvSpPr/>
          <p:nvPr/>
        </p:nvSpPr>
        <p:spPr>
          <a:xfrm>
            <a:off x="720090" y="2318004"/>
            <a:ext cx="4457700" cy="274320"/>
          </a:xfrm>
          <a:prstGeom prst="rect">
            <a:avLst/>
          </a:prstGeom>
          <a:noFill/>
          <a:ln/>
        </p:spPr>
        <p:txBody>
          <a:bodyPr wrap="square" lIns="0" tIns="0" rIns="0" bIns="0" rtlCol="0" anchor="ctr"/>
          <a:lstStyle/>
          <a:p>
            <a:pPr defTabSz="685800"/>
            <a:r>
              <a:rPr lang="en-US" sz="1650" b="1" dirty="0">
                <a:solidFill>
                  <a:srgbClr val="1A2233"/>
                </a:solidFill>
                <a:latin typeface="Cambria" pitchFamily="34" charset="0"/>
                <a:ea typeface="Cambria" pitchFamily="34" charset="-122"/>
                <a:cs typeface="Cambria" pitchFamily="34" charset="-120"/>
              </a:rPr>
              <a:t>Markov Game (Stochastic Game)</a:t>
            </a:r>
            <a:endParaRPr lang="en-US" sz="1650" dirty="0">
              <a:solidFill>
                <a:prstClr val="black"/>
              </a:solidFill>
              <a:latin typeface="Calibri" panose="020F0502020204030204"/>
            </a:endParaRPr>
          </a:p>
        </p:txBody>
      </p:sp>
      <p:sp>
        <p:nvSpPr>
          <p:cNvPr id="13" name="Shape 11"/>
          <p:cNvSpPr/>
          <p:nvPr/>
        </p:nvSpPr>
        <p:spPr>
          <a:xfrm>
            <a:off x="5212080" y="2345436"/>
            <a:ext cx="3188970" cy="288036"/>
          </a:xfrm>
          <a:prstGeom prst="roundRect">
            <a:avLst>
              <a:gd name="adj" fmla="val 21429"/>
            </a:avLst>
          </a:prstGeom>
          <a:solidFill>
            <a:srgbClr val="F1F5F9"/>
          </a:solidFill>
          <a:ln/>
        </p:spPr>
      </p:sp>
      <p:sp>
        <p:nvSpPr>
          <p:cNvPr id="14" name="Text 12"/>
          <p:cNvSpPr/>
          <p:nvPr/>
        </p:nvSpPr>
        <p:spPr>
          <a:xfrm>
            <a:off x="5212080" y="2345436"/>
            <a:ext cx="3188970" cy="288036"/>
          </a:xfrm>
          <a:prstGeom prst="rect">
            <a:avLst/>
          </a:prstGeom>
          <a:noFill/>
          <a:ln/>
        </p:spPr>
        <p:txBody>
          <a:bodyPr wrap="square" lIns="0" tIns="0" rIns="0" bIns="0" rtlCol="0" anchor="ctr"/>
          <a:lstStyle/>
          <a:p>
            <a:pPr algn="ctr" defTabSz="685800"/>
            <a:r>
              <a:rPr lang="en-US" sz="938" b="1" dirty="0">
                <a:solidFill>
                  <a:srgbClr val="1C7293"/>
                </a:solidFill>
                <a:latin typeface="Calibri" pitchFamily="34" charset="0"/>
                <a:ea typeface="Calibri" pitchFamily="34" charset="-122"/>
                <a:cs typeface="Calibri" pitchFamily="34" charset="-120"/>
              </a:rPr>
              <a:t>( S, A_D, A_A, P(s′|s,a_D,a_A), R_D, R_A )</a:t>
            </a:r>
            <a:endParaRPr lang="en-US" sz="938" dirty="0">
              <a:solidFill>
                <a:prstClr val="black"/>
              </a:solidFill>
              <a:latin typeface="Calibri" panose="020F0502020204030204"/>
            </a:endParaRPr>
          </a:p>
        </p:txBody>
      </p:sp>
      <p:sp>
        <p:nvSpPr>
          <p:cNvPr id="15" name="Text 13"/>
          <p:cNvSpPr/>
          <p:nvPr/>
        </p:nvSpPr>
        <p:spPr>
          <a:xfrm>
            <a:off x="720090" y="2811780"/>
            <a:ext cx="2400300" cy="377190"/>
          </a:xfrm>
          <a:prstGeom prst="rect">
            <a:avLst/>
          </a:prstGeom>
          <a:noFill/>
          <a:ln/>
        </p:spPr>
        <p:txBody>
          <a:bodyPr wrap="square" lIns="0" tIns="0" rIns="0" bIns="0" rtlCol="0" anchor="ctr"/>
          <a:lstStyle/>
          <a:p>
            <a:pPr defTabSz="685800">
              <a:lnSpc>
                <a:spcPts val="1350"/>
              </a:lnSpc>
            </a:pPr>
            <a:r>
              <a:rPr lang="en-US" sz="1050" b="1" dirty="0">
                <a:solidFill>
                  <a:srgbClr val="1A2233"/>
                </a:solidFill>
                <a:latin typeface="Calibri" pitchFamily="34" charset="0"/>
                <a:ea typeface="Calibri" pitchFamily="34" charset="-122"/>
                <a:cs typeface="Calibri" pitchFamily="34" charset="-120"/>
              </a:rPr>
              <a:t>Chuyển trạng thái phụ thuộc cả hai</a:t>
            </a:r>
            <a:endParaRPr lang="en-US" sz="1050" dirty="0">
              <a:solidFill>
                <a:prstClr val="black"/>
              </a:solidFill>
              <a:latin typeface="Calibri" panose="020F0502020204030204"/>
            </a:endParaRPr>
          </a:p>
        </p:txBody>
      </p:sp>
      <p:sp>
        <p:nvSpPr>
          <p:cNvPr id="16" name="Text 14"/>
          <p:cNvSpPr/>
          <p:nvPr/>
        </p:nvSpPr>
        <p:spPr>
          <a:xfrm>
            <a:off x="720090" y="3209544"/>
            <a:ext cx="2400300" cy="548640"/>
          </a:xfrm>
          <a:prstGeom prst="rect">
            <a:avLst/>
          </a:prstGeom>
          <a:noFill/>
          <a:ln/>
        </p:spPr>
        <p:txBody>
          <a:bodyPr wrap="square" lIns="0" tIns="0" rIns="0" bIns="0" rtlCol="0" anchor="ctr"/>
          <a:lstStyle/>
          <a:p>
            <a:pPr defTabSz="685800">
              <a:lnSpc>
                <a:spcPts val="1200"/>
              </a:lnSpc>
            </a:pPr>
            <a:r>
              <a:rPr lang="en-US" sz="900" dirty="0">
                <a:solidFill>
                  <a:srgbClr val="5A6779"/>
                </a:solidFill>
                <a:latin typeface="Calibri" pitchFamily="34" charset="0"/>
                <a:ea typeface="Calibri" pitchFamily="34" charset="-122"/>
                <a:cs typeface="Calibri" pitchFamily="34" charset="-120"/>
              </a:rPr>
              <a:t>Trạng thái cluster kế tiếp do hành động chung của defender và attacker quyết định</a:t>
            </a:r>
            <a:endParaRPr lang="en-US" sz="900" dirty="0">
              <a:solidFill>
                <a:prstClr val="black"/>
              </a:solidFill>
              <a:latin typeface="Calibri" panose="020F0502020204030204"/>
            </a:endParaRPr>
          </a:p>
        </p:txBody>
      </p:sp>
      <p:sp>
        <p:nvSpPr>
          <p:cNvPr id="17" name="Text 15"/>
          <p:cNvSpPr/>
          <p:nvPr/>
        </p:nvSpPr>
        <p:spPr>
          <a:xfrm>
            <a:off x="3291840" y="2811780"/>
            <a:ext cx="2400300" cy="377190"/>
          </a:xfrm>
          <a:prstGeom prst="rect">
            <a:avLst/>
          </a:prstGeom>
          <a:noFill/>
          <a:ln/>
        </p:spPr>
        <p:txBody>
          <a:bodyPr wrap="square" lIns="0" tIns="0" rIns="0" bIns="0" rtlCol="0" anchor="ctr"/>
          <a:lstStyle/>
          <a:p>
            <a:pPr defTabSz="685800">
              <a:lnSpc>
                <a:spcPts val="1350"/>
              </a:lnSpc>
            </a:pPr>
            <a:r>
              <a:rPr lang="en-US" sz="1050" b="1" dirty="0">
                <a:solidFill>
                  <a:srgbClr val="1A2233"/>
                </a:solidFill>
                <a:latin typeface="Calibri" pitchFamily="34" charset="0"/>
                <a:ea typeface="Calibri" pitchFamily="34" charset="-122"/>
                <a:cs typeface="Calibri" pitchFamily="34" charset="-120"/>
              </a:rPr>
              <a:t>Nghiệm: Markov Perfect Equilibrium</a:t>
            </a:r>
            <a:endParaRPr lang="en-US" sz="1050" dirty="0">
              <a:solidFill>
                <a:prstClr val="black"/>
              </a:solidFill>
              <a:latin typeface="Calibri" panose="020F0502020204030204"/>
            </a:endParaRPr>
          </a:p>
        </p:txBody>
      </p:sp>
      <p:sp>
        <p:nvSpPr>
          <p:cNvPr id="18" name="Text 16"/>
          <p:cNvSpPr/>
          <p:nvPr/>
        </p:nvSpPr>
        <p:spPr>
          <a:xfrm>
            <a:off x="3291840" y="3209544"/>
            <a:ext cx="2400300" cy="548640"/>
          </a:xfrm>
          <a:prstGeom prst="rect">
            <a:avLst/>
          </a:prstGeom>
          <a:noFill/>
          <a:ln/>
        </p:spPr>
        <p:txBody>
          <a:bodyPr wrap="square" lIns="0" tIns="0" rIns="0" bIns="0" rtlCol="0" anchor="ctr"/>
          <a:lstStyle/>
          <a:p>
            <a:pPr defTabSz="685800">
              <a:lnSpc>
                <a:spcPts val="1200"/>
              </a:lnSpc>
            </a:pPr>
            <a:r>
              <a:rPr lang="en-US" sz="900" dirty="0">
                <a:solidFill>
                  <a:srgbClr val="5A6779"/>
                </a:solidFill>
                <a:latin typeface="Calibri" pitchFamily="34" charset="0"/>
                <a:ea typeface="Calibri" pitchFamily="34" charset="-122"/>
                <a:cs typeface="Calibri" pitchFamily="34" charset="-120"/>
              </a:rPr>
              <a:t>Cân bằng ổn định tại mọi trạng thái, không chỉ ở điểm khởi đầu</a:t>
            </a:r>
            <a:endParaRPr lang="en-US" sz="900" dirty="0">
              <a:solidFill>
                <a:prstClr val="black"/>
              </a:solidFill>
              <a:latin typeface="Calibri" panose="020F0502020204030204"/>
            </a:endParaRPr>
          </a:p>
        </p:txBody>
      </p:sp>
      <p:sp>
        <p:nvSpPr>
          <p:cNvPr id="19" name="Text 17"/>
          <p:cNvSpPr/>
          <p:nvPr/>
        </p:nvSpPr>
        <p:spPr>
          <a:xfrm>
            <a:off x="5863590" y="2811780"/>
            <a:ext cx="2400300" cy="377190"/>
          </a:xfrm>
          <a:prstGeom prst="rect">
            <a:avLst/>
          </a:prstGeom>
          <a:noFill/>
          <a:ln/>
        </p:spPr>
        <p:txBody>
          <a:bodyPr wrap="square" lIns="0" tIns="0" rIns="0" bIns="0" rtlCol="0" anchor="ctr"/>
          <a:lstStyle/>
          <a:p>
            <a:pPr defTabSz="685800">
              <a:lnSpc>
                <a:spcPts val="1350"/>
              </a:lnSpc>
            </a:pPr>
            <a:r>
              <a:rPr lang="en-US" sz="1050" b="1" dirty="0">
                <a:solidFill>
                  <a:srgbClr val="1A2233"/>
                </a:solidFill>
                <a:latin typeface="Calibri" pitchFamily="34" charset="0"/>
                <a:ea typeface="Calibri" pitchFamily="34" charset="-122"/>
                <a:cs typeface="Calibri" pitchFamily="34" charset="-120"/>
              </a:rPr>
              <a:t>Thuật toán: Minimax-Q, Nash-Q, MARL</a:t>
            </a:r>
            <a:endParaRPr lang="en-US" sz="1050" dirty="0">
              <a:solidFill>
                <a:prstClr val="black"/>
              </a:solidFill>
              <a:latin typeface="Calibri" panose="020F0502020204030204"/>
            </a:endParaRPr>
          </a:p>
        </p:txBody>
      </p:sp>
      <p:sp>
        <p:nvSpPr>
          <p:cNvPr id="20" name="Text 18"/>
          <p:cNvSpPr/>
          <p:nvPr/>
        </p:nvSpPr>
        <p:spPr>
          <a:xfrm>
            <a:off x="5863590" y="3209544"/>
            <a:ext cx="2400300" cy="548640"/>
          </a:xfrm>
          <a:prstGeom prst="rect">
            <a:avLst/>
          </a:prstGeom>
          <a:noFill/>
          <a:ln/>
        </p:spPr>
        <p:txBody>
          <a:bodyPr wrap="square" lIns="0" tIns="0" rIns="0" bIns="0" rtlCol="0" anchor="ctr"/>
          <a:lstStyle/>
          <a:p>
            <a:pPr defTabSz="685800">
              <a:lnSpc>
                <a:spcPts val="1200"/>
              </a:lnSpc>
            </a:pPr>
            <a:r>
              <a:rPr lang="en-US" sz="900" dirty="0">
                <a:solidFill>
                  <a:srgbClr val="5A6779"/>
                </a:solidFill>
                <a:latin typeface="Calibri" pitchFamily="34" charset="0"/>
                <a:ea typeface="Calibri" pitchFamily="34" charset="-122"/>
                <a:cs typeface="Calibri" pitchFamily="34" charset="-120"/>
              </a:rPr>
              <a:t>Self-play cho phép defender học cả những chiến lược tấn công chưa từng thấy</a:t>
            </a:r>
            <a:endParaRPr lang="en-US" sz="900" dirty="0">
              <a:solidFill>
                <a:prstClr val="black"/>
              </a:solidFill>
              <a:latin typeface="Calibri" panose="020F0502020204030204"/>
            </a:endParaRPr>
          </a:p>
        </p:txBody>
      </p:sp>
      <p:sp>
        <p:nvSpPr>
          <p:cNvPr id="21" name="Text 19"/>
          <p:cNvSpPr/>
          <p:nvPr/>
        </p:nvSpPr>
        <p:spPr>
          <a:xfrm>
            <a:off x="493776" y="4183380"/>
            <a:ext cx="8133588" cy="342900"/>
          </a:xfrm>
          <a:prstGeom prst="rect">
            <a:avLst/>
          </a:prstGeom>
          <a:noFill/>
          <a:ln/>
        </p:spPr>
        <p:txBody>
          <a:bodyPr wrap="square" lIns="0" tIns="0" rIns="0" bIns="0" rtlCol="0" anchor="ctr"/>
          <a:lstStyle/>
          <a:p>
            <a:pPr algn="ctr" defTabSz="685800"/>
            <a:r>
              <a:rPr lang="en-US" sz="1050" i="1" dirty="0">
                <a:solidFill>
                  <a:srgbClr val="CFE3F0"/>
                </a:solidFill>
                <a:latin typeface="Calibri" pitchFamily="34" charset="0"/>
                <a:ea typeface="Calibri" pitchFamily="34" charset="-122"/>
                <a:cs typeface="Calibri" pitchFamily="34" charset="-120"/>
              </a:rPr>
              <a:t>MDP trả lời bất định do ngẫu nhiên · Stackelberg trả lời bất định do đối thủ · Bài toán EDoS trên Kubernetes cần cả hai.</a:t>
            </a:r>
            <a:endParaRPr lang="en-US" sz="1050" dirty="0">
              <a:solidFill>
                <a:prstClr val="black"/>
              </a:solidFill>
              <a:latin typeface="Calibri" panose="020F0502020204030204"/>
            </a:endParaRPr>
          </a:p>
        </p:txBody>
      </p:sp>
    </p:spTree>
    <p:extLst>
      <p:ext uri="{BB962C8B-B14F-4D97-AF65-F5344CB8AC3E}">
        <p14:creationId xmlns:p14="http://schemas.microsoft.com/office/powerpoint/2010/main" val="3348304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03 </a:t>
            </a:r>
            <a:r>
              <a:rPr lang="en-US" sz="2200" b="1" dirty="0">
                <a:solidFill>
                  <a:srgbClr val="FFFFFF"/>
                </a:solidFill>
              </a:rPr>
              <a:t>· Giải pháp đề xuất — Mô hình hóa hệ thống</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8595360" cy="1719072"/>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1719072"/>
          </a:xfrm>
          <a:prstGeom prst="rect">
            <a:avLst/>
          </a:prstGeom>
          <a:solidFill>
            <a:srgbClr val="0096B7"/>
          </a:solidFill>
          <a:ln w="12700">
            <a:solidFill>
              <a:srgbClr val="0096B7"/>
            </a:solidFill>
            <a:prstDash val="solid"/>
          </a:ln>
        </p:spPr>
      </p:sp>
      <p:sp>
        <p:nvSpPr>
          <p:cNvPr id="9" name="Text 7"/>
          <p:cNvSpPr/>
          <p:nvPr/>
        </p:nvSpPr>
        <p:spPr>
          <a:xfrm>
            <a:off x="457200" y="868680"/>
            <a:ext cx="3657600" cy="320040"/>
          </a:xfrm>
          <a:prstGeom prst="rect">
            <a:avLst/>
          </a:prstGeom>
          <a:noFill/>
          <a:ln/>
        </p:spPr>
        <p:txBody>
          <a:bodyPr wrap="square" lIns="0" tIns="0" rIns="0" bIns="0" rtlCol="0" anchor="ctr"/>
          <a:lstStyle/>
          <a:p>
            <a:pPr marL="0" indent="0">
              <a:buNone/>
            </a:pPr>
            <a:r>
              <a:rPr lang="en-US" sz="1200" b="1" dirty="0">
                <a:solidFill>
                  <a:srgbClr val="0D1B2A"/>
                </a:solidFill>
              </a:rPr>
              <a:t>Mô hình </a:t>
            </a:r>
            <a:r>
              <a:rPr lang="en-US" sz="1200" b="1" dirty="0" err="1">
                <a:solidFill>
                  <a:srgbClr val="0D1B2A"/>
                </a:solidFill>
              </a:rPr>
              <a:t>hàng</a:t>
            </a:r>
            <a:r>
              <a:rPr lang="en-US" sz="1200" b="1" dirty="0">
                <a:solidFill>
                  <a:srgbClr val="0D1B2A"/>
                </a:solidFill>
              </a:rPr>
              <a:t> </a:t>
            </a:r>
            <a:r>
              <a:rPr lang="en-US" sz="1200" b="1" dirty="0" err="1" smtClean="0">
                <a:solidFill>
                  <a:srgbClr val="0D1B2A"/>
                </a:solidFill>
              </a:rPr>
              <a:t>đợi</a:t>
            </a:r>
            <a:endParaRPr lang="en-US" sz="1200" dirty="0"/>
          </a:p>
        </p:txBody>
      </p:sp>
      <p:sp>
        <p:nvSpPr>
          <p:cNvPr id="10" name="Shape 8"/>
          <p:cNvSpPr/>
          <p:nvPr/>
        </p:nvSpPr>
        <p:spPr>
          <a:xfrm>
            <a:off x="457200" y="1234440"/>
            <a:ext cx="384048" cy="292608"/>
          </a:xfrm>
          <a:prstGeom prst="rect">
            <a:avLst/>
          </a:prstGeom>
          <a:solidFill>
            <a:srgbClr val="0096B7"/>
          </a:solidFill>
          <a:ln w="12700">
            <a:solidFill>
              <a:srgbClr val="0096B7"/>
            </a:solidFill>
            <a:prstDash val="solid"/>
          </a:ln>
        </p:spPr>
      </p:sp>
      <p:sp>
        <p:nvSpPr>
          <p:cNvPr id="11" name="Text 9"/>
          <p:cNvSpPr/>
          <p:nvPr/>
        </p:nvSpPr>
        <p:spPr>
          <a:xfrm>
            <a:off x="457200" y="1234440"/>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λ</a:t>
            </a:r>
            <a:endParaRPr lang="en-US" sz="1100" dirty="0"/>
          </a:p>
        </p:txBody>
      </p:sp>
      <p:sp>
        <p:nvSpPr>
          <p:cNvPr id="12" name="Text 10"/>
          <p:cNvSpPr/>
          <p:nvPr/>
        </p:nvSpPr>
        <p:spPr>
          <a:xfrm>
            <a:off x="914400" y="1234440"/>
            <a:ext cx="3566160" cy="292608"/>
          </a:xfrm>
          <a:prstGeom prst="rect">
            <a:avLst/>
          </a:prstGeom>
          <a:noFill/>
          <a:ln/>
        </p:spPr>
        <p:txBody>
          <a:bodyPr wrap="square" lIns="0" tIns="0" rIns="0" bIns="0" rtlCol="0" anchor="ctr"/>
          <a:lstStyle/>
          <a:p>
            <a:pPr marL="0" indent="0">
              <a:buNone/>
            </a:pPr>
            <a:r>
              <a:rPr lang="en-US" sz="1000" dirty="0">
                <a:solidFill>
                  <a:srgbClr val="0D1B2A"/>
                </a:solidFill>
              </a:rPr>
              <a:t>Tốc độ đến của traffic </a:t>
            </a:r>
            <a:r>
              <a:rPr lang="en-US" sz="1000" dirty="0" err="1">
                <a:solidFill>
                  <a:srgbClr val="0D1B2A"/>
                </a:solidFill>
              </a:rPr>
              <a:t>hợp</a:t>
            </a:r>
            <a:r>
              <a:rPr lang="en-US" sz="1000" dirty="0">
                <a:solidFill>
                  <a:srgbClr val="0D1B2A"/>
                </a:solidFill>
              </a:rPr>
              <a:t> </a:t>
            </a:r>
            <a:r>
              <a:rPr lang="en-US" sz="1000" dirty="0" err="1" smtClean="0">
                <a:solidFill>
                  <a:srgbClr val="0D1B2A"/>
                </a:solidFill>
              </a:rPr>
              <a:t>lệ</a:t>
            </a:r>
            <a:endParaRPr lang="en-US" sz="1000" dirty="0"/>
          </a:p>
        </p:txBody>
      </p:sp>
      <p:sp>
        <p:nvSpPr>
          <p:cNvPr id="13" name="Shape 11"/>
          <p:cNvSpPr/>
          <p:nvPr/>
        </p:nvSpPr>
        <p:spPr>
          <a:xfrm>
            <a:off x="457200" y="1627632"/>
            <a:ext cx="384048" cy="292608"/>
          </a:xfrm>
          <a:prstGeom prst="rect">
            <a:avLst/>
          </a:prstGeom>
          <a:solidFill>
            <a:srgbClr val="0096B7"/>
          </a:solidFill>
          <a:ln w="12700">
            <a:solidFill>
              <a:srgbClr val="0096B7"/>
            </a:solidFill>
            <a:prstDash val="solid"/>
          </a:ln>
        </p:spPr>
      </p:sp>
      <p:sp>
        <p:nvSpPr>
          <p:cNvPr id="14" name="Text 12"/>
          <p:cNvSpPr/>
          <p:nvPr/>
        </p:nvSpPr>
        <p:spPr>
          <a:xfrm>
            <a:off x="457200" y="1627632"/>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Kλ</a:t>
            </a:r>
            <a:endParaRPr lang="en-US" sz="1100" dirty="0"/>
          </a:p>
        </p:txBody>
      </p:sp>
      <p:sp>
        <p:nvSpPr>
          <p:cNvPr id="15" name="Text 13"/>
          <p:cNvSpPr/>
          <p:nvPr/>
        </p:nvSpPr>
        <p:spPr>
          <a:xfrm>
            <a:off x="914400" y="1627632"/>
            <a:ext cx="3566160" cy="292608"/>
          </a:xfrm>
          <a:prstGeom prst="rect">
            <a:avLst/>
          </a:prstGeom>
          <a:noFill/>
          <a:ln/>
        </p:spPr>
        <p:txBody>
          <a:bodyPr wrap="square" lIns="0" tIns="0" rIns="0" bIns="0" rtlCol="0" anchor="ctr"/>
          <a:lstStyle/>
          <a:p>
            <a:pPr marL="0" indent="0">
              <a:buNone/>
            </a:pPr>
            <a:r>
              <a:rPr lang="en-US" sz="1000" dirty="0">
                <a:solidFill>
                  <a:srgbClr val="0D1B2A"/>
                </a:solidFill>
              </a:rPr>
              <a:t>Lưu lượng tấn công (K = sức mạnh kẻ thù)</a:t>
            </a:r>
            <a:endParaRPr lang="en-US" sz="1000" dirty="0"/>
          </a:p>
        </p:txBody>
      </p:sp>
      <p:sp>
        <p:nvSpPr>
          <p:cNvPr id="16" name="Shape 14"/>
          <p:cNvSpPr/>
          <p:nvPr/>
        </p:nvSpPr>
        <p:spPr>
          <a:xfrm>
            <a:off x="457200" y="2020824"/>
            <a:ext cx="384048" cy="292608"/>
          </a:xfrm>
          <a:prstGeom prst="rect">
            <a:avLst/>
          </a:prstGeom>
          <a:solidFill>
            <a:srgbClr val="0096B7"/>
          </a:solidFill>
          <a:ln w="12700">
            <a:solidFill>
              <a:srgbClr val="0096B7"/>
            </a:solidFill>
            <a:prstDash val="solid"/>
          </a:ln>
        </p:spPr>
      </p:sp>
      <p:sp>
        <p:nvSpPr>
          <p:cNvPr id="17" name="Text 15"/>
          <p:cNvSpPr/>
          <p:nvPr/>
        </p:nvSpPr>
        <p:spPr>
          <a:xfrm>
            <a:off x="457200" y="2020824"/>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μ</a:t>
            </a:r>
            <a:endParaRPr lang="en-US" sz="1100" dirty="0"/>
          </a:p>
        </p:txBody>
      </p:sp>
      <p:sp>
        <p:nvSpPr>
          <p:cNvPr id="18" name="Text 16"/>
          <p:cNvSpPr/>
          <p:nvPr/>
        </p:nvSpPr>
        <p:spPr>
          <a:xfrm>
            <a:off x="914400" y="2020824"/>
            <a:ext cx="3566160" cy="292608"/>
          </a:xfrm>
          <a:prstGeom prst="rect">
            <a:avLst/>
          </a:prstGeom>
          <a:noFill/>
          <a:ln/>
        </p:spPr>
        <p:txBody>
          <a:bodyPr wrap="square" lIns="0" tIns="0" rIns="0" bIns="0" rtlCol="0" anchor="ctr"/>
          <a:lstStyle/>
          <a:p>
            <a:pPr marL="0" indent="0">
              <a:buNone/>
            </a:pPr>
            <a:r>
              <a:rPr lang="en-US" sz="1000" dirty="0">
                <a:solidFill>
                  <a:srgbClr val="0D1B2A"/>
                </a:solidFill>
              </a:rPr>
              <a:t>Tốc độ phục vụ </a:t>
            </a:r>
            <a:r>
              <a:rPr lang="en-US" sz="1000" dirty="0" err="1">
                <a:solidFill>
                  <a:srgbClr val="0D1B2A"/>
                </a:solidFill>
              </a:rPr>
              <a:t>mỗi</a:t>
            </a:r>
            <a:r>
              <a:rPr lang="en-US" sz="1000">
                <a:solidFill>
                  <a:srgbClr val="0D1B2A"/>
                </a:solidFill>
              </a:rPr>
              <a:t> </a:t>
            </a:r>
            <a:r>
              <a:rPr lang="en-US" sz="1000" smtClean="0">
                <a:solidFill>
                  <a:srgbClr val="0D1B2A"/>
                </a:solidFill>
              </a:rPr>
              <a:t>SU</a:t>
            </a:r>
            <a:endParaRPr lang="en-US" sz="1000" dirty="0"/>
          </a:p>
        </p:txBody>
      </p:sp>
      <p:sp>
        <p:nvSpPr>
          <p:cNvPr id="19" name="Shape 17"/>
          <p:cNvSpPr/>
          <p:nvPr/>
        </p:nvSpPr>
        <p:spPr>
          <a:xfrm>
            <a:off x="4663440" y="1234440"/>
            <a:ext cx="384048" cy="292608"/>
          </a:xfrm>
          <a:prstGeom prst="rect">
            <a:avLst/>
          </a:prstGeom>
          <a:solidFill>
            <a:srgbClr val="0096B7"/>
          </a:solidFill>
          <a:ln w="12700">
            <a:solidFill>
              <a:srgbClr val="0096B7"/>
            </a:solidFill>
            <a:prstDash val="solid"/>
          </a:ln>
        </p:spPr>
      </p:sp>
      <p:sp>
        <p:nvSpPr>
          <p:cNvPr id="20" name="Text 18"/>
          <p:cNvSpPr/>
          <p:nvPr/>
        </p:nvSpPr>
        <p:spPr>
          <a:xfrm>
            <a:off x="4663440" y="1234440"/>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m</a:t>
            </a:r>
            <a:endParaRPr lang="en-US" sz="1100" dirty="0"/>
          </a:p>
        </p:txBody>
      </p:sp>
      <p:sp>
        <p:nvSpPr>
          <p:cNvPr id="21" name="Text 19"/>
          <p:cNvSpPr/>
          <p:nvPr/>
        </p:nvSpPr>
        <p:spPr>
          <a:xfrm>
            <a:off x="5120640" y="1234440"/>
            <a:ext cx="3566160" cy="292608"/>
          </a:xfrm>
          <a:prstGeom prst="rect">
            <a:avLst/>
          </a:prstGeom>
          <a:noFill/>
          <a:ln/>
        </p:spPr>
        <p:txBody>
          <a:bodyPr wrap="square" lIns="0" tIns="0" rIns="0" bIns="0" rtlCol="0" anchor="ctr"/>
          <a:lstStyle/>
          <a:p>
            <a:pPr marL="0" indent="0">
              <a:buNone/>
            </a:pPr>
            <a:r>
              <a:rPr lang="en-US" sz="1000" dirty="0">
                <a:solidFill>
                  <a:srgbClr val="0D1B2A"/>
                </a:solidFill>
              </a:rPr>
              <a:t>Số SU đang chạy (1 ≤ m ≤ M)</a:t>
            </a:r>
            <a:endParaRPr lang="en-US" sz="1000" dirty="0"/>
          </a:p>
        </p:txBody>
      </p:sp>
      <p:sp>
        <p:nvSpPr>
          <p:cNvPr id="22" name="Shape 20"/>
          <p:cNvSpPr/>
          <p:nvPr/>
        </p:nvSpPr>
        <p:spPr>
          <a:xfrm>
            <a:off x="4663440" y="1627632"/>
            <a:ext cx="384048" cy="292608"/>
          </a:xfrm>
          <a:prstGeom prst="rect">
            <a:avLst/>
          </a:prstGeom>
          <a:solidFill>
            <a:srgbClr val="0096B7"/>
          </a:solidFill>
          <a:ln w="12700">
            <a:solidFill>
              <a:srgbClr val="0096B7"/>
            </a:solidFill>
            <a:prstDash val="solid"/>
          </a:ln>
        </p:spPr>
      </p:sp>
      <p:sp>
        <p:nvSpPr>
          <p:cNvPr id="23" name="Text 21"/>
          <p:cNvSpPr/>
          <p:nvPr/>
        </p:nvSpPr>
        <p:spPr>
          <a:xfrm>
            <a:off x="4663440" y="1627632"/>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N</a:t>
            </a:r>
            <a:endParaRPr lang="en-US" sz="1100" dirty="0"/>
          </a:p>
        </p:txBody>
      </p:sp>
      <p:sp>
        <p:nvSpPr>
          <p:cNvPr id="24" name="Text 22"/>
          <p:cNvSpPr/>
          <p:nvPr/>
        </p:nvSpPr>
        <p:spPr>
          <a:xfrm>
            <a:off x="5120640" y="1627632"/>
            <a:ext cx="3566160" cy="292608"/>
          </a:xfrm>
          <a:prstGeom prst="rect">
            <a:avLst/>
          </a:prstGeom>
          <a:noFill/>
          <a:ln/>
        </p:spPr>
        <p:txBody>
          <a:bodyPr wrap="square" lIns="0" tIns="0" rIns="0" bIns="0" rtlCol="0" anchor="ctr"/>
          <a:lstStyle/>
          <a:p>
            <a:pPr marL="0" indent="0">
              <a:buNone/>
            </a:pPr>
            <a:r>
              <a:rPr lang="en-US" sz="1000" dirty="0">
                <a:solidFill>
                  <a:srgbClr val="0D1B2A"/>
                </a:solidFill>
              </a:rPr>
              <a:t>Dung lượng hàng đợi tối đa</a:t>
            </a:r>
            <a:endParaRPr lang="en-US" sz="1000" dirty="0"/>
          </a:p>
        </p:txBody>
      </p:sp>
      <p:sp>
        <p:nvSpPr>
          <p:cNvPr id="25" name="Shape 23"/>
          <p:cNvSpPr/>
          <p:nvPr/>
        </p:nvSpPr>
        <p:spPr>
          <a:xfrm>
            <a:off x="274320" y="2633472"/>
            <a:ext cx="4114800" cy="21031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6" name="Shape 24"/>
          <p:cNvSpPr/>
          <p:nvPr/>
        </p:nvSpPr>
        <p:spPr>
          <a:xfrm>
            <a:off x="274320" y="2633472"/>
            <a:ext cx="54864" cy="2103120"/>
          </a:xfrm>
          <a:prstGeom prst="rect">
            <a:avLst/>
          </a:prstGeom>
          <a:solidFill>
            <a:srgbClr val="F47B20"/>
          </a:solidFill>
          <a:ln w="12700">
            <a:solidFill>
              <a:srgbClr val="F47B20"/>
            </a:solidFill>
            <a:prstDash val="solid"/>
          </a:ln>
        </p:spPr>
      </p:sp>
      <p:sp>
        <p:nvSpPr>
          <p:cNvPr id="27" name="Text 25"/>
          <p:cNvSpPr/>
          <p:nvPr/>
        </p:nvSpPr>
        <p:spPr>
          <a:xfrm>
            <a:off x="457200" y="2697480"/>
            <a:ext cx="3749040" cy="320040"/>
          </a:xfrm>
          <a:prstGeom prst="rect">
            <a:avLst/>
          </a:prstGeom>
          <a:noFill/>
          <a:ln/>
        </p:spPr>
        <p:txBody>
          <a:bodyPr wrap="square" lIns="0" tIns="0" rIns="0" bIns="0" rtlCol="0" anchor="ctr"/>
          <a:lstStyle/>
          <a:p>
            <a:pPr marL="0" indent="0">
              <a:buNone/>
            </a:pPr>
            <a:r>
              <a:rPr lang="en-US" sz="1150" b="1" dirty="0">
                <a:solidFill>
                  <a:srgbClr val="0D1B2A"/>
                </a:solidFill>
              </a:rPr>
              <a:t>Hàm chi phí C(s,d) của Defender</a:t>
            </a:r>
            <a:endParaRPr lang="en-US" sz="1150" dirty="0"/>
          </a:p>
        </p:txBody>
      </p:sp>
      <p:sp>
        <p:nvSpPr>
          <p:cNvPr id="28" name="Text 26"/>
          <p:cNvSpPr/>
          <p:nvPr/>
        </p:nvSpPr>
        <p:spPr>
          <a:xfrm>
            <a:off x="457200" y="3108960"/>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CS:</a:t>
            </a:r>
            <a:endParaRPr lang="en-US" sz="1050" dirty="0"/>
          </a:p>
        </p:txBody>
      </p:sp>
      <p:sp>
        <p:nvSpPr>
          <p:cNvPr id="29" name="Text 27"/>
          <p:cNvSpPr/>
          <p:nvPr/>
        </p:nvSpPr>
        <p:spPr>
          <a:xfrm>
            <a:off x="960120" y="3108960"/>
            <a:ext cx="3246120" cy="320040"/>
          </a:xfrm>
          <a:prstGeom prst="rect">
            <a:avLst/>
          </a:prstGeom>
          <a:noFill/>
          <a:ln/>
        </p:spPr>
        <p:txBody>
          <a:bodyPr wrap="square" lIns="0" tIns="0" rIns="0" bIns="0" rtlCol="0" anchor="ctr"/>
          <a:lstStyle/>
          <a:p>
            <a:pPr marL="0" indent="0">
              <a:buNone/>
            </a:pPr>
            <a:r>
              <a:rPr lang="en-US" sz="1000" dirty="0">
                <a:solidFill>
                  <a:srgbClr val="0D1B2A"/>
                </a:solidFill>
              </a:rPr>
              <a:t>Chi phí vận hành mỗi SU đang chạy</a:t>
            </a:r>
            <a:endParaRPr lang="en-US" sz="1000" dirty="0"/>
          </a:p>
        </p:txBody>
      </p:sp>
      <p:sp>
        <p:nvSpPr>
          <p:cNvPr id="30" name="Text 28"/>
          <p:cNvSpPr/>
          <p:nvPr/>
        </p:nvSpPr>
        <p:spPr>
          <a:xfrm>
            <a:off x="457200" y="3493008"/>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CD:</a:t>
            </a:r>
            <a:endParaRPr lang="en-US" sz="1050" dirty="0"/>
          </a:p>
        </p:txBody>
      </p:sp>
      <p:sp>
        <p:nvSpPr>
          <p:cNvPr id="31" name="Text 29"/>
          <p:cNvSpPr/>
          <p:nvPr/>
        </p:nvSpPr>
        <p:spPr>
          <a:xfrm>
            <a:off x="960120" y="3493008"/>
            <a:ext cx="3246120" cy="320040"/>
          </a:xfrm>
          <a:prstGeom prst="rect">
            <a:avLst/>
          </a:prstGeom>
          <a:noFill/>
          <a:ln/>
        </p:spPr>
        <p:txBody>
          <a:bodyPr wrap="square" lIns="0" tIns="0" rIns="0" bIns="0" rtlCol="0" anchor="ctr"/>
          <a:lstStyle/>
          <a:p>
            <a:pPr marL="0" indent="0">
              <a:buNone/>
            </a:pPr>
            <a:r>
              <a:rPr lang="en-US" sz="1000" dirty="0">
                <a:solidFill>
                  <a:srgbClr val="0D1B2A"/>
                </a:solidFill>
              </a:rPr>
              <a:t>Phí idle do tính phí tối thiểu (idle penalty)</a:t>
            </a:r>
            <a:endParaRPr lang="en-US" sz="1000" dirty="0"/>
          </a:p>
        </p:txBody>
      </p:sp>
      <p:sp>
        <p:nvSpPr>
          <p:cNvPr id="32" name="Text 30"/>
          <p:cNvSpPr/>
          <p:nvPr/>
        </p:nvSpPr>
        <p:spPr>
          <a:xfrm>
            <a:off x="457200" y="3877056"/>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CR:</a:t>
            </a:r>
            <a:endParaRPr lang="en-US" sz="1050" dirty="0"/>
          </a:p>
        </p:txBody>
      </p:sp>
      <p:sp>
        <p:nvSpPr>
          <p:cNvPr id="33" name="Text 31"/>
          <p:cNvSpPr/>
          <p:nvPr/>
        </p:nvSpPr>
        <p:spPr>
          <a:xfrm>
            <a:off x="960120" y="3877056"/>
            <a:ext cx="3246120" cy="320040"/>
          </a:xfrm>
          <a:prstGeom prst="rect">
            <a:avLst/>
          </a:prstGeom>
          <a:noFill/>
          <a:ln/>
        </p:spPr>
        <p:txBody>
          <a:bodyPr wrap="square" lIns="0" tIns="0" rIns="0" bIns="0" rtlCol="0" anchor="ctr"/>
          <a:lstStyle/>
          <a:p>
            <a:pPr marL="0" indent="0">
              <a:buNone/>
            </a:pPr>
            <a:r>
              <a:rPr lang="en-US" sz="1000" dirty="0">
                <a:solidFill>
                  <a:srgbClr val="0D1B2A"/>
                </a:solidFill>
              </a:rPr>
              <a:t>Phạt SLA khi yêu cầu bị rớt (drop)</a:t>
            </a:r>
            <a:endParaRPr lang="en-US" sz="1000" dirty="0"/>
          </a:p>
        </p:txBody>
      </p:sp>
      <p:sp>
        <p:nvSpPr>
          <p:cNvPr id="34" name="Text 32"/>
          <p:cNvSpPr/>
          <p:nvPr/>
        </p:nvSpPr>
        <p:spPr>
          <a:xfrm>
            <a:off x="457200" y="4261104"/>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CP:</a:t>
            </a:r>
            <a:endParaRPr lang="en-US" sz="1050" dirty="0"/>
          </a:p>
        </p:txBody>
      </p:sp>
      <p:sp>
        <p:nvSpPr>
          <p:cNvPr id="35" name="Text 33"/>
          <p:cNvSpPr/>
          <p:nvPr/>
        </p:nvSpPr>
        <p:spPr>
          <a:xfrm>
            <a:off x="960120" y="4261104"/>
            <a:ext cx="3246120" cy="320040"/>
          </a:xfrm>
          <a:prstGeom prst="rect">
            <a:avLst/>
          </a:prstGeom>
          <a:noFill/>
          <a:ln/>
        </p:spPr>
        <p:txBody>
          <a:bodyPr wrap="square" lIns="0" tIns="0" rIns="0" bIns="0" rtlCol="0" anchor="ctr"/>
          <a:lstStyle/>
          <a:p>
            <a:pPr marL="0" indent="0">
              <a:buNone/>
            </a:pPr>
            <a:r>
              <a:rPr lang="en-US" sz="1000" dirty="0">
                <a:solidFill>
                  <a:srgbClr val="0D1B2A"/>
                </a:solidFill>
              </a:rPr>
              <a:t>Phạt SLA khi yêu cầu vượt timeout W</a:t>
            </a:r>
            <a:endParaRPr lang="en-US" sz="1000" dirty="0"/>
          </a:p>
        </p:txBody>
      </p:sp>
      <p:sp>
        <p:nvSpPr>
          <p:cNvPr id="36" name="Shape 34"/>
          <p:cNvSpPr/>
          <p:nvPr/>
        </p:nvSpPr>
        <p:spPr>
          <a:xfrm>
            <a:off x="4617720" y="2633472"/>
            <a:ext cx="4160520" cy="21031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37" name="Shape 35"/>
          <p:cNvSpPr/>
          <p:nvPr/>
        </p:nvSpPr>
        <p:spPr>
          <a:xfrm>
            <a:off x="4617720" y="2633472"/>
            <a:ext cx="54864" cy="2103120"/>
          </a:xfrm>
          <a:prstGeom prst="rect">
            <a:avLst/>
          </a:prstGeom>
          <a:solidFill>
            <a:srgbClr val="D62828"/>
          </a:solidFill>
          <a:ln w="12700">
            <a:solidFill>
              <a:srgbClr val="D62828"/>
            </a:solidFill>
            <a:prstDash val="solid"/>
          </a:ln>
        </p:spPr>
      </p:sp>
      <p:sp>
        <p:nvSpPr>
          <p:cNvPr id="38" name="Text 36"/>
          <p:cNvSpPr/>
          <p:nvPr/>
        </p:nvSpPr>
        <p:spPr>
          <a:xfrm>
            <a:off x="4773168" y="2697480"/>
            <a:ext cx="3840480" cy="320040"/>
          </a:xfrm>
          <a:prstGeom prst="rect">
            <a:avLst/>
          </a:prstGeom>
          <a:noFill/>
          <a:ln/>
        </p:spPr>
        <p:txBody>
          <a:bodyPr wrap="square" lIns="0" tIns="0" rIns="0" bIns="0" rtlCol="0" anchor="ctr"/>
          <a:lstStyle/>
          <a:p>
            <a:pPr marL="0" indent="0">
              <a:buNone/>
            </a:pPr>
            <a:r>
              <a:rPr lang="en-US" sz="1150" b="1" dirty="0">
                <a:solidFill>
                  <a:srgbClr val="0D1B2A"/>
                </a:solidFill>
              </a:rPr>
              <a:t>Hàm phần thưởng R(s,a) của Attacker</a:t>
            </a:r>
            <a:endParaRPr lang="en-US" sz="1150" dirty="0"/>
          </a:p>
        </p:txBody>
      </p:sp>
      <p:sp>
        <p:nvSpPr>
          <p:cNvPr id="39" name="Text 37"/>
          <p:cNvSpPr/>
          <p:nvPr/>
        </p:nvSpPr>
        <p:spPr>
          <a:xfrm>
            <a:off x="4773168" y="3108960"/>
            <a:ext cx="3840480" cy="411480"/>
          </a:xfrm>
          <a:prstGeom prst="rect">
            <a:avLst/>
          </a:prstGeom>
          <a:noFill/>
          <a:ln/>
        </p:spPr>
        <p:txBody>
          <a:bodyPr wrap="square" lIns="0" tIns="0" rIns="0" bIns="0" rtlCol="0" anchor="ctr"/>
          <a:lstStyle/>
          <a:p>
            <a:pPr marL="0" indent="0" algn="ctr">
              <a:buNone/>
            </a:pPr>
            <a:r>
              <a:rPr lang="en-US" sz="1400" b="1" dirty="0">
                <a:solidFill>
                  <a:srgbClr val="D62828"/>
                </a:solidFill>
              </a:rPr>
              <a:t>R(s,a) = C(s, π(s))  −  K × CA</a:t>
            </a:r>
            <a:endParaRPr lang="en-US" sz="1400" dirty="0"/>
          </a:p>
        </p:txBody>
      </p:sp>
      <p:sp>
        <p:nvSpPr>
          <p:cNvPr id="40" name="Text 38"/>
          <p:cNvSpPr/>
          <p:nvPr/>
        </p:nvSpPr>
        <p:spPr>
          <a:xfrm>
            <a:off x="4773168" y="3547872"/>
            <a:ext cx="3840480" cy="1051560"/>
          </a:xfrm>
          <a:prstGeom prst="rect">
            <a:avLst/>
          </a:prstGeom>
          <a:noFill/>
          <a:ln/>
        </p:spPr>
        <p:txBody>
          <a:bodyPr wrap="square" lIns="0" tIns="0" rIns="0" bIns="0" rtlCol="0" anchor="ctr"/>
          <a:lstStyle/>
          <a:p>
            <a:pPr marL="0" indent="0">
              <a:buNone/>
            </a:pPr>
            <a:r>
              <a:rPr lang="en-US" sz="1000" dirty="0">
                <a:solidFill>
                  <a:srgbClr val="0D1B2A"/>
                </a:solidFill>
              </a:rPr>
              <a:t>• Tối đa hóa chi phí nạn nhân phải gánh
• Trừ chi phí bơm traffic K×CA
• Kẻ tấn công biết trước chính sách π của defender</a:t>
            </a:r>
            <a:endParaRPr lang="en-US" sz="1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03 </a:t>
            </a:r>
            <a:r>
              <a:rPr lang="en-US" sz="2200" b="1" dirty="0">
                <a:solidFill>
                  <a:srgbClr val="FFFFFF"/>
                </a:solidFill>
              </a:rPr>
              <a:t>· </a:t>
            </a:r>
            <a:r>
              <a:rPr lang="en-US" sz="2200" b="1" dirty="0" err="1" smtClean="0">
                <a:solidFill>
                  <a:srgbClr val="FFFFFF"/>
                </a:solidFill>
              </a:rPr>
              <a:t>Giải</a:t>
            </a:r>
            <a:r>
              <a:rPr lang="en-US" sz="2200" b="1" dirty="0" smtClean="0">
                <a:solidFill>
                  <a:srgbClr val="FFFFFF"/>
                </a:solidFill>
              </a:rPr>
              <a:t> </a:t>
            </a:r>
            <a:r>
              <a:rPr lang="en-US" sz="2200" b="1" dirty="0" err="1" smtClean="0">
                <a:solidFill>
                  <a:srgbClr val="FFFFFF"/>
                </a:solidFill>
              </a:rPr>
              <a:t>pháp</a:t>
            </a:r>
            <a:r>
              <a:rPr lang="en-US" sz="2200" b="1" dirty="0" smtClean="0">
                <a:solidFill>
                  <a:srgbClr val="FFFFFF"/>
                </a:solidFill>
              </a:rPr>
              <a:t> </a:t>
            </a:r>
            <a:r>
              <a:rPr lang="en-US" sz="2200" b="1" dirty="0" err="1" smtClean="0">
                <a:solidFill>
                  <a:srgbClr val="FFFFFF"/>
                </a:solidFill>
              </a:rPr>
              <a:t>đề</a:t>
            </a:r>
            <a:r>
              <a:rPr lang="en-US" sz="2200" b="1" dirty="0" smtClean="0">
                <a:solidFill>
                  <a:srgbClr val="FFFFFF"/>
                </a:solidFill>
              </a:rPr>
              <a:t> </a:t>
            </a:r>
            <a:r>
              <a:rPr lang="en-US" sz="2200" b="1" dirty="0" err="1" smtClean="0">
                <a:solidFill>
                  <a:srgbClr val="FFFFFF"/>
                </a:solidFill>
              </a:rPr>
              <a:t>xuất</a:t>
            </a:r>
            <a:r>
              <a:rPr lang="en-US" sz="2200" b="1" dirty="0" smtClean="0">
                <a:solidFill>
                  <a:srgbClr val="FFFFFF"/>
                </a:solidFill>
              </a:rPr>
              <a:t> </a:t>
            </a:r>
            <a:r>
              <a:rPr lang="en-US" sz="2200" b="1" dirty="0" err="1" smtClean="0">
                <a:solidFill>
                  <a:srgbClr val="FFFFFF"/>
                </a:solidFill>
              </a:rPr>
              <a:t>phòng</a:t>
            </a:r>
            <a:r>
              <a:rPr lang="en-US" sz="2200" b="1" dirty="0" smtClean="0">
                <a:solidFill>
                  <a:srgbClr val="FFFFFF"/>
                </a:solidFill>
              </a:rPr>
              <a:t> </a:t>
            </a:r>
            <a:r>
              <a:rPr lang="en-US" sz="2200" b="1" dirty="0" err="1" smtClean="0">
                <a:solidFill>
                  <a:srgbClr val="FFFFFF"/>
                </a:solidFill>
              </a:rPr>
              <a:t>thủ</a:t>
            </a:r>
            <a:r>
              <a:rPr lang="en-US" sz="2200" b="1" dirty="0" smtClean="0">
                <a:solidFill>
                  <a:srgbClr val="FFFFFF"/>
                </a:solidFill>
              </a:rPr>
              <a:t>— </a:t>
            </a:r>
            <a:r>
              <a:rPr lang="en-US" sz="2200" b="1" dirty="0">
                <a:solidFill>
                  <a:srgbClr val="FFFFFF"/>
                </a:solidFill>
              </a:rPr>
              <a:t>Ngẫu nhiên hóa Autoscaling</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507492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2D9D5A"/>
          </a:solidFill>
          <a:ln w="12700">
            <a:solidFill>
              <a:srgbClr val="2D9D5A"/>
            </a:solidFill>
            <a:prstDash val="solid"/>
          </a:ln>
        </p:spPr>
      </p:sp>
      <p:sp>
        <p:nvSpPr>
          <p:cNvPr id="9" name="Text 7"/>
          <p:cNvSpPr/>
          <p:nvPr/>
        </p:nvSpPr>
        <p:spPr>
          <a:xfrm>
            <a:off x="457200" y="868680"/>
            <a:ext cx="4754880" cy="320040"/>
          </a:xfrm>
          <a:prstGeom prst="rect">
            <a:avLst/>
          </a:prstGeom>
          <a:noFill/>
          <a:ln/>
        </p:spPr>
        <p:txBody>
          <a:bodyPr wrap="square" lIns="0" tIns="0" rIns="0" bIns="0" rtlCol="0" anchor="ctr"/>
          <a:lstStyle/>
          <a:p>
            <a:pPr marL="0" indent="0">
              <a:buNone/>
            </a:pPr>
            <a:r>
              <a:rPr lang="en-US" sz="1200" b="1" dirty="0">
                <a:solidFill>
                  <a:srgbClr val="0D1B2A"/>
                </a:solidFill>
              </a:rPr>
              <a:t>Cơ chế Randomization HPA [4]</a:t>
            </a:r>
            <a:endParaRPr lang="en-US" sz="1200" dirty="0"/>
          </a:p>
        </p:txBody>
      </p:sp>
      <p:sp>
        <p:nvSpPr>
          <p:cNvPr id="10" name="Shape 8"/>
          <p:cNvSpPr/>
          <p:nvPr/>
        </p:nvSpPr>
        <p:spPr>
          <a:xfrm>
            <a:off x="457200" y="1261872"/>
            <a:ext cx="1389888" cy="621792"/>
          </a:xfrm>
          <a:prstGeom prst="rect">
            <a:avLst/>
          </a:prstGeom>
          <a:solidFill>
            <a:srgbClr val="0096B7">
              <a:alpha val="80000"/>
            </a:srgbClr>
          </a:solidFill>
          <a:ln w="12700">
            <a:solidFill>
              <a:srgbClr val="0096B7"/>
            </a:solidFill>
            <a:prstDash val="solid"/>
          </a:ln>
        </p:spPr>
      </p:sp>
      <p:sp>
        <p:nvSpPr>
          <p:cNvPr id="11" name="Text 9"/>
          <p:cNvSpPr/>
          <p:nvPr/>
        </p:nvSpPr>
        <p:spPr>
          <a:xfrm>
            <a:off x="457200" y="1261872"/>
            <a:ext cx="1389888" cy="621792"/>
          </a:xfrm>
          <a:prstGeom prst="rect">
            <a:avLst/>
          </a:prstGeom>
          <a:noFill/>
          <a:ln/>
        </p:spPr>
        <p:txBody>
          <a:bodyPr wrap="square" lIns="0" tIns="0" rIns="0" bIns="0" rtlCol="0" anchor="ctr"/>
          <a:lstStyle/>
          <a:p>
            <a:pPr marL="0" indent="0" algn="ctr">
              <a:buNone/>
            </a:pPr>
            <a:r>
              <a:rPr lang="en-US" sz="950" dirty="0">
                <a:solidFill>
                  <a:srgbClr val="0D1B2A"/>
                </a:solidFill>
              </a:rPr>
              <a:t>Metric vượt</a:t>
            </a:r>
            <a:endParaRPr lang="en-US" sz="950" dirty="0"/>
          </a:p>
          <a:p>
            <a:pPr marL="0" indent="0" algn="ctr">
              <a:buNone/>
            </a:pPr>
            <a:r>
              <a:rPr lang="en-US" sz="950" dirty="0">
                <a:solidFill>
                  <a:srgbClr val="0D1B2A"/>
                </a:solidFill>
              </a:rPr>
              <a:t>ngưỡng HPA</a:t>
            </a:r>
            <a:endParaRPr lang="en-US" sz="950" dirty="0"/>
          </a:p>
        </p:txBody>
      </p:sp>
      <p:sp>
        <p:nvSpPr>
          <p:cNvPr id="12" name="Shape 10"/>
          <p:cNvSpPr/>
          <p:nvPr/>
        </p:nvSpPr>
        <p:spPr>
          <a:xfrm>
            <a:off x="1874520" y="1572768"/>
            <a:ext cx="411480" cy="0"/>
          </a:xfrm>
          <a:prstGeom prst="line">
            <a:avLst/>
          </a:prstGeom>
          <a:noFill/>
          <a:ln w="19050">
            <a:solidFill>
              <a:srgbClr val="64748B"/>
            </a:solidFill>
            <a:prstDash val="solid"/>
          </a:ln>
        </p:spPr>
      </p:sp>
      <p:sp>
        <p:nvSpPr>
          <p:cNvPr id="13" name="Shape 11"/>
          <p:cNvSpPr/>
          <p:nvPr/>
        </p:nvSpPr>
        <p:spPr>
          <a:xfrm>
            <a:off x="2331720" y="1261872"/>
            <a:ext cx="777240" cy="621792"/>
          </a:xfrm>
          <a:prstGeom prst="ellipse">
            <a:avLst/>
          </a:prstGeom>
          <a:solidFill>
            <a:srgbClr val="F47B20">
              <a:alpha val="80000"/>
            </a:srgbClr>
          </a:solidFill>
          <a:ln w="12700">
            <a:solidFill>
              <a:srgbClr val="F47B20"/>
            </a:solidFill>
            <a:prstDash val="solid"/>
          </a:ln>
        </p:spPr>
      </p:sp>
      <p:sp>
        <p:nvSpPr>
          <p:cNvPr id="14" name="Text 12"/>
          <p:cNvSpPr/>
          <p:nvPr/>
        </p:nvSpPr>
        <p:spPr>
          <a:xfrm>
            <a:off x="2331720" y="1261872"/>
            <a:ext cx="777240" cy="621792"/>
          </a:xfrm>
          <a:prstGeom prst="rect">
            <a:avLst/>
          </a:prstGeom>
          <a:noFill/>
          <a:ln/>
        </p:spPr>
        <p:txBody>
          <a:bodyPr wrap="square" lIns="0" tIns="0" rIns="0" bIns="0" rtlCol="0" anchor="ctr"/>
          <a:lstStyle/>
          <a:p>
            <a:pPr marL="0" indent="0" algn="ctr">
              <a:buNone/>
            </a:pPr>
            <a:r>
              <a:rPr lang="en-US" sz="900" dirty="0">
                <a:solidFill>
                  <a:srgbClr val="0D1B2A"/>
                </a:solidFill>
              </a:rPr>
              <a:t>RNG</a:t>
            </a:r>
            <a:endParaRPr lang="en-US" sz="900" dirty="0"/>
          </a:p>
          <a:p>
            <a:pPr marL="0" indent="0" algn="ctr">
              <a:buNone/>
            </a:pPr>
            <a:r>
              <a:rPr lang="en-US" sz="900" dirty="0">
                <a:solidFill>
                  <a:srgbClr val="0D1B2A"/>
                </a:solidFill>
              </a:rPr>
              <a:t>50/50</a:t>
            </a:r>
            <a:endParaRPr lang="en-US" sz="900" dirty="0"/>
          </a:p>
        </p:txBody>
      </p:sp>
      <p:sp>
        <p:nvSpPr>
          <p:cNvPr id="15" name="Shape 13"/>
          <p:cNvSpPr/>
          <p:nvPr/>
        </p:nvSpPr>
        <p:spPr>
          <a:xfrm>
            <a:off x="3108960" y="1572768"/>
            <a:ext cx="182880" cy="0"/>
          </a:xfrm>
          <a:prstGeom prst="line">
            <a:avLst/>
          </a:prstGeom>
          <a:noFill/>
          <a:ln w="19050">
            <a:solidFill>
              <a:srgbClr val="2D9D5A"/>
            </a:solidFill>
            <a:prstDash val="solid"/>
          </a:ln>
        </p:spPr>
      </p:sp>
      <p:sp>
        <p:nvSpPr>
          <p:cNvPr id="16" name="Shape 14"/>
          <p:cNvSpPr/>
          <p:nvPr/>
        </p:nvSpPr>
        <p:spPr>
          <a:xfrm>
            <a:off x="3337560" y="1261872"/>
            <a:ext cx="1371600" cy="621792"/>
          </a:xfrm>
          <a:prstGeom prst="rect">
            <a:avLst/>
          </a:prstGeom>
          <a:solidFill>
            <a:srgbClr val="2D9D5A">
              <a:alpha val="80000"/>
            </a:srgbClr>
          </a:solidFill>
          <a:ln w="12700">
            <a:solidFill>
              <a:srgbClr val="2D9D5A"/>
            </a:solidFill>
            <a:prstDash val="solid"/>
          </a:ln>
        </p:spPr>
      </p:sp>
      <p:sp>
        <p:nvSpPr>
          <p:cNvPr id="17" name="Text 15"/>
          <p:cNvSpPr/>
          <p:nvPr/>
        </p:nvSpPr>
        <p:spPr>
          <a:xfrm>
            <a:off x="3337560" y="1261872"/>
            <a:ext cx="1371600" cy="621792"/>
          </a:xfrm>
          <a:prstGeom prst="rect">
            <a:avLst/>
          </a:prstGeom>
          <a:noFill/>
          <a:ln/>
        </p:spPr>
        <p:txBody>
          <a:bodyPr wrap="square" lIns="0" tIns="0" rIns="0" bIns="0" rtlCol="0" anchor="ctr"/>
          <a:lstStyle/>
          <a:p>
            <a:pPr marL="0" indent="0" algn="ctr">
              <a:buNone/>
            </a:pPr>
            <a:r>
              <a:rPr lang="en-US" sz="950" dirty="0">
                <a:solidFill>
                  <a:srgbClr val="0D1B2A"/>
                </a:solidFill>
              </a:rPr>
              <a:t>Scale Up</a:t>
            </a:r>
            <a:endParaRPr lang="en-US" sz="950" dirty="0"/>
          </a:p>
          <a:p>
            <a:pPr marL="0" indent="0" algn="ctr">
              <a:buNone/>
            </a:pPr>
            <a:r>
              <a:rPr lang="en-US" sz="950" dirty="0">
                <a:solidFill>
                  <a:srgbClr val="0D1B2A"/>
                </a:solidFill>
              </a:rPr>
              <a:t>bình thường</a:t>
            </a:r>
            <a:endParaRPr lang="en-US" sz="950" dirty="0"/>
          </a:p>
        </p:txBody>
      </p:sp>
      <p:sp>
        <p:nvSpPr>
          <p:cNvPr id="18" name="Shape 16"/>
          <p:cNvSpPr/>
          <p:nvPr/>
        </p:nvSpPr>
        <p:spPr>
          <a:xfrm>
            <a:off x="2724912" y="1883664"/>
            <a:ext cx="0" cy="365760"/>
          </a:xfrm>
          <a:prstGeom prst="line">
            <a:avLst/>
          </a:prstGeom>
          <a:noFill/>
          <a:ln w="19050">
            <a:solidFill>
              <a:srgbClr val="D62828"/>
            </a:solidFill>
            <a:prstDash val="solid"/>
          </a:ln>
        </p:spPr>
      </p:sp>
      <p:sp>
        <p:nvSpPr>
          <p:cNvPr id="19" name="Shape 17"/>
          <p:cNvSpPr/>
          <p:nvPr/>
        </p:nvSpPr>
        <p:spPr>
          <a:xfrm>
            <a:off x="2331720" y="2286000"/>
            <a:ext cx="777240" cy="621792"/>
          </a:xfrm>
          <a:prstGeom prst="rect">
            <a:avLst/>
          </a:prstGeom>
          <a:solidFill>
            <a:srgbClr val="D62828">
              <a:alpha val="80000"/>
            </a:srgbClr>
          </a:solidFill>
          <a:ln w="12700">
            <a:solidFill>
              <a:srgbClr val="D62828"/>
            </a:solidFill>
            <a:prstDash val="solid"/>
          </a:ln>
        </p:spPr>
      </p:sp>
      <p:sp>
        <p:nvSpPr>
          <p:cNvPr id="20" name="Text 18"/>
          <p:cNvSpPr/>
          <p:nvPr/>
        </p:nvSpPr>
        <p:spPr>
          <a:xfrm>
            <a:off x="2331720" y="2286000"/>
            <a:ext cx="777240" cy="621792"/>
          </a:xfrm>
          <a:prstGeom prst="rect">
            <a:avLst/>
          </a:prstGeom>
          <a:noFill/>
          <a:ln/>
        </p:spPr>
        <p:txBody>
          <a:bodyPr wrap="square" lIns="0" tIns="0" rIns="0" bIns="0" rtlCol="0" anchor="ctr"/>
          <a:lstStyle/>
          <a:p>
            <a:pPr marL="0" indent="0" algn="ctr">
              <a:buNone/>
            </a:pPr>
            <a:r>
              <a:rPr lang="en-US" sz="950" dirty="0">
                <a:solidFill>
                  <a:srgbClr val="0D1B2A"/>
                </a:solidFill>
              </a:rPr>
              <a:t>Bỏ qua</a:t>
            </a:r>
            <a:endParaRPr lang="en-US" sz="950" dirty="0"/>
          </a:p>
          <a:p>
            <a:pPr marL="0" indent="0" algn="ctr">
              <a:buNone/>
            </a:pPr>
            <a:r>
              <a:rPr lang="en-US" sz="950" dirty="0">
                <a:solidFill>
                  <a:srgbClr val="0D1B2A"/>
                </a:solidFill>
              </a:rPr>
              <a:t>chu kỳ này</a:t>
            </a:r>
            <a:endParaRPr lang="en-US" sz="950" dirty="0"/>
          </a:p>
        </p:txBody>
      </p:sp>
      <p:sp>
        <p:nvSpPr>
          <p:cNvPr id="21" name="Text 19"/>
          <p:cNvSpPr/>
          <p:nvPr/>
        </p:nvSpPr>
        <p:spPr>
          <a:xfrm>
            <a:off x="457200" y="2999232"/>
            <a:ext cx="4754880" cy="1600200"/>
          </a:xfrm>
          <a:prstGeom prst="rect">
            <a:avLst/>
          </a:prstGeom>
          <a:noFill/>
          <a:ln/>
        </p:spPr>
        <p:txBody>
          <a:bodyPr wrap="square" lIns="0" tIns="0" rIns="0" bIns="0" rtlCol="0" anchor="ctr"/>
          <a:lstStyle/>
          <a:p>
            <a:pPr marL="0" indent="0">
              <a:buNone/>
            </a:pPr>
            <a:r>
              <a:rPr lang="en-US" sz="1050" dirty="0">
                <a:solidFill>
                  <a:srgbClr val="0D1B2A"/>
                </a:solidFill>
              </a:rPr>
              <a:t>• Sử dụng custom scaling metrics của HPA</a:t>
            </a:r>
            <a:endParaRPr lang="en-US" sz="1050" dirty="0"/>
          </a:p>
          <a:p>
            <a:pPr marL="0" indent="0">
              <a:buNone/>
            </a:pPr>
            <a:r>
              <a:rPr lang="en-US" sz="1050" dirty="0">
                <a:solidFill>
                  <a:srgbClr val="0D1B2A"/>
                </a:solidFill>
              </a:rPr>
              <a:t>• RNG được cân bằng 50/50</a:t>
            </a:r>
            <a:endParaRPr lang="en-US" sz="1050" dirty="0"/>
          </a:p>
          <a:p>
            <a:pPr marL="0" indent="0">
              <a:buNone/>
            </a:pPr>
            <a:r>
              <a:rPr lang="en-US" sz="1050" dirty="0">
                <a:solidFill>
                  <a:srgbClr val="0D1B2A"/>
                </a:solidFill>
              </a:rPr>
              <a:t>• Kẻ thù không dự đoán được quyết định scale</a:t>
            </a:r>
            <a:endParaRPr lang="en-US" sz="1050" dirty="0"/>
          </a:p>
          <a:p>
            <a:pPr marL="0" indent="0">
              <a:buNone/>
            </a:pPr>
            <a:r>
              <a:rPr lang="en-US" sz="1050" dirty="0">
                <a:solidFill>
                  <a:srgbClr val="0D1B2A"/>
                </a:solidFill>
              </a:rPr>
              <a:t>• Triển khai không cần sửa đổi Kubernetes core</a:t>
            </a:r>
            <a:endParaRPr lang="en-US" sz="1050" dirty="0"/>
          </a:p>
        </p:txBody>
      </p:sp>
      <p:sp>
        <p:nvSpPr>
          <p:cNvPr id="22" name="Shape 20"/>
          <p:cNvSpPr/>
          <p:nvPr/>
        </p:nvSpPr>
        <p:spPr>
          <a:xfrm>
            <a:off x="5532120" y="804672"/>
            <a:ext cx="3291840" cy="3950208"/>
          </a:xfrm>
          <a:prstGeom prst="rect">
            <a:avLst/>
          </a:prstGeom>
          <a:solidFill>
            <a:srgbClr val="0D1B2A"/>
          </a:solidFill>
          <a:ln w="9525">
            <a:solidFill>
              <a:srgbClr val="D4E3EE"/>
            </a:solidFill>
            <a:prstDash val="solid"/>
          </a:ln>
          <a:effectLst>
            <a:outerShdw blurRad="63500" dist="25400" dir="8100000" algn="bl" rotWithShape="0">
              <a:srgbClr val="000000">
                <a:alpha val="7000"/>
              </a:srgbClr>
            </a:outerShdw>
          </a:effectLst>
        </p:spPr>
      </p:sp>
      <p:sp>
        <p:nvSpPr>
          <p:cNvPr id="23" name="Text 21"/>
          <p:cNvSpPr/>
          <p:nvPr/>
        </p:nvSpPr>
        <p:spPr>
          <a:xfrm>
            <a:off x="5687568" y="868680"/>
            <a:ext cx="2999232" cy="320040"/>
          </a:xfrm>
          <a:prstGeom prst="rect">
            <a:avLst/>
          </a:prstGeom>
          <a:noFill/>
          <a:ln/>
        </p:spPr>
        <p:txBody>
          <a:bodyPr wrap="square" lIns="0" tIns="0" rIns="0" bIns="0" rtlCol="0" anchor="ctr"/>
          <a:lstStyle/>
          <a:p>
            <a:pPr marL="0" indent="0">
              <a:buNone/>
            </a:pPr>
            <a:r>
              <a:rPr lang="en-US" sz="1200" b="1" dirty="0">
                <a:solidFill>
                  <a:srgbClr val="0096B7"/>
                </a:solidFill>
              </a:rPr>
              <a:t>Kết quả phòng thủ [1]</a:t>
            </a:r>
            <a:endParaRPr lang="en-US" sz="1200" dirty="0"/>
          </a:p>
        </p:txBody>
      </p:sp>
      <p:sp>
        <p:nvSpPr>
          <p:cNvPr id="24" name="Text 22"/>
          <p:cNvSpPr/>
          <p:nvPr/>
        </p:nvSpPr>
        <p:spPr>
          <a:xfrm>
            <a:off x="6784848" y="1261872"/>
            <a:ext cx="914400" cy="274320"/>
          </a:xfrm>
          <a:prstGeom prst="rect">
            <a:avLst/>
          </a:prstGeom>
          <a:noFill/>
          <a:ln/>
        </p:spPr>
        <p:txBody>
          <a:bodyPr wrap="square" lIns="0" tIns="0" rIns="0" bIns="0" rtlCol="0" anchor="ctr"/>
          <a:lstStyle/>
          <a:p>
            <a:pPr marL="0" indent="0" algn="ctr">
              <a:buNone/>
            </a:pPr>
            <a:r>
              <a:rPr lang="en-US" sz="950" b="1" dirty="0">
                <a:solidFill>
                  <a:srgbClr val="64748B"/>
                </a:solidFill>
              </a:rPr>
              <a:t>Trước</a:t>
            </a:r>
            <a:endParaRPr lang="en-US" sz="950" dirty="0"/>
          </a:p>
        </p:txBody>
      </p:sp>
      <p:sp>
        <p:nvSpPr>
          <p:cNvPr id="25" name="Text 23"/>
          <p:cNvSpPr/>
          <p:nvPr/>
        </p:nvSpPr>
        <p:spPr>
          <a:xfrm>
            <a:off x="7726680" y="1261872"/>
            <a:ext cx="1005840" cy="274320"/>
          </a:xfrm>
          <a:prstGeom prst="rect">
            <a:avLst/>
          </a:prstGeom>
          <a:noFill/>
          <a:ln/>
        </p:spPr>
        <p:txBody>
          <a:bodyPr wrap="square" lIns="0" tIns="0" rIns="0" bIns="0" rtlCol="0" anchor="ctr"/>
          <a:lstStyle/>
          <a:p>
            <a:pPr marL="0" indent="0" algn="ctr">
              <a:buNone/>
            </a:pPr>
            <a:r>
              <a:rPr lang="en-US" sz="950" b="1" dirty="0">
                <a:solidFill>
                  <a:srgbClr val="0096B7"/>
                </a:solidFill>
              </a:rPr>
              <a:t>Sau RNG</a:t>
            </a:r>
            <a:endParaRPr lang="en-US" sz="950" dirty="0"/>
          </a:p>
        </p:txBody>
      </p:sp>
      <p:sp>
        <p:nvSpPr>
          <p:cNvPr id="26" name="Shape 24"/>
          <p:cNvSpPr/>
          <p:nvPr/>
        </p:nvSpPr>
        <p:spPr>
          <a:xfrm>
            <a:off x="5687568" y="1600200"/>
            <a:ext cx="2999232" cy="749808"/>
          </a:xfrm>
          <a:prstGeom prst="rect">
            <a:avLst/>
          </a:prstGeom>
          <a:solidFill>
            <a:srgbClr val="162435"/>
          </a:solidFill>
          <a:ln w="12700">
            <a:solidFill>
              <a:srgbClr val="2A3F55"/>
            </a:solidFill>
            <a:prstDash val="solid"/>
          </a:ln>
        </p:spPr>
      </p:sp>
      <p:sp>
        <p:nvSpPr>
          <p:cNvPr id="27" name="Text 25"/>
          <p:cNvSpPr/>
          <p:nvPr/>
        </p:nvSpPr>
        <p:spPr>
          <a:xfrm>
            <a:off x="5779008" y="1645920"/>
            <a:ext cx="2816352" cy="292608"/>
          </a:xfrm>
          <a:prstGeom prst="rect">
            <a:avLst/>
          </a:prstGeom>
          <a:noFill/>
          <a:ln/>
        </p:spPr>
        <p:txBody>
          <a:bodyPr wrap="square" lIns="0" tIns="0" rIns="0" bIns="0" rtlCol="0" anchor="ctr"/>
          <a:lstStyle/>
          <a:p>
            <a:pPr marL="0" indent="0">
              <a:buNone/>
            </a:pPr>
            <a:r>
              <a:rPr lang="en-US" sz="1000" dirty="0">
                <a:solidFill>
                  <a:srgbClr val="B8D4E8"/>
                </a:solidFill>
              </a:rPr>
              <a:t>Chi phí baseline</a:t>
            </a:r>
            <a:endParaRPr lang="en-US" sz="1000" dirty="0"/>
          </a:p>
        </p:txBody>
      </p:sp>
      <p:sp>
        <p:nvSpPr>
          <p:cNvPr id="28" name="Text 26"/>
          <p:cNvSpPr/>
          <p:nvPr/>
        </p:nvSpPr>
        <p:spPr>
          <a:xfrm>
            <a:off x="6720840" y="1984248"/>
            <a:ext cx="1005840" cy="292608"/>
          </a:xfrm>
          <a:prstGeom prst="rect">
            <a:avLst/>
          </a:prstGeom>
          <a:noFill/>
          <a:ln/>
        </p:spPr>
        <p:txBody>
          <a:bodyPr wrap="square" lIns="0" tIns="0" rIns="0" bIns="0" rtlCol="0" anchor="ctr"/>
          <a:lstStyle/>
          <a:p>
            <a:pPr marL="0" indent="0" algn="ctr">
              <a:buNone/>
            </a:pPr>
            <a:r>
              <a:rPr lang="en-US" sz="1200" b="1" dirty="0">
                <a:solidFill>
                  <a:srgbClr val="64748B"/>
                </a:solidFill>
              </a:rPr>
              <a:t>100%</a:t>
            </a:r>
            <a:endParaRPr lang="en-US" sz="1200" dirty="0"/>
          </a:p>
        </p:txBody>
      </p:sp>
      <p:sp>
        <p:nvSpPr>
          <p:cNvPr id="29" name="Text 27"/>
          <p:cNvSpPr/>
          <p:nvPr/>
        </p:nvSpPr>
        <p:spPr>
          <a:xfrm>
            <a:off x="7662672" y="1984248"/>
            <a:ext cx="1005840" cy="292608"/>
          </a:xfrm>
          <a:prstGeom prst="rect">
            <a:avLst/>
          </a:prstGeom>
          <a:noFill/>
          <a:ln/>
        </p:spPr>
        <p:txBody>
          <a:bodyPr wrap="square" lIns="0" tIns="0" rIns="0" bIns="0" rtlCol="0" anchor="ctr"/>
          <a:lstStyle/>
          <a:p>
            <a:pPr marL="0" indent="0" algn="ctr">
              <a:buNone/>
            </a:pPr>
            <a:r>
              <a:rPr lang="en-US" sz="1200" b="1" dirty="0">
                <a:solidFill>
                  <a:srgbClr val="0096B7"/>
                </a:solidFill>
              </a:rPr>
              <a:t>90.4%</a:t>
            </a:r>
            <a:endParaRPr lang="en-US" sz="1200" dirty="0"/>
          </a:p>
        </p:txBody>
      </p:sp>
      <p:sp>
        <p:nvSpPr>
          <p:cNvPr id="30" name="Shape 28"/>
          <p:cNvSpPr/>
          <p:nvPr/>
        </p:nvSpPr>
        <p:spPr>
          <a:xfrm>
            <a:off x="5687568" y="2468880"/>
            <a:ext cx="2999232" cy="749808"/>
          </a:xfrm>
          <a:prstGeom prst="rect">
            <a:avLst/>
          </a:prstGeom>
          <a:solidFill>
            <a:srgbClr val="162435"/>
          </a:solidFill>
          <a:ln w="12700">
            <a:solidFill>
              <a:srgbClr val="2A3F55"/>
            </a:solidFill>
            <a:prstDash val="solid"/>
          </a:ln>
        </p:spPr>
      </p:sp>
      <p:sp>
        <p:nvSpPr>
          <p:cNvPr id="31" name="Text 29"/>
          <p:cNvSpPr/>
          <p:nvPr/>
        </p:nvSpPr>
        <p:spPr>
          <a:xfrm>
            <a:off x="5779008" y="2514600"/>
            <a:ext cx="2816352" cy="292608"/>
          </a:xfrm>
          <a:prstGeom prst="rect">
            <a:avLst/>
          </a:prstGeom>
          <a:noFill/>
          <a:ln/>
        </p:spPr>
        <p:txBody>
          <a:bodyPr wrap="square" lIns="0" tIns="0" rIns="0" bIns="0" rtlCol="0" anchor="ctr"/>
          <a:lstStyle/>
          <a:p>
            <a:pPr marL="0" indent="0">
              <a:buNone/>
            </a:pPr>
            <a:r>
              <a:rPr lang="en-US" sz="1000" dirty="0">
                <a:solidFill>
                  <a:srgbClr val="B8D4E8"/>
                </a:solidFill>
              </a:rPr>
              <a:t>SUs (K=5)</a:t>
            </a:r>
            <a:endParaRPr lang="en-US" sz="1000" dirty="0"/>
          </a:p>
        </p:txBody>
      </p:sp>
      <p:sp>
        <p:nvSpPr>
          <p:cNvPr id="32" name="Text 30"/>
          <p:cNvSpPr/>
          <p:nvPr/>
        </p:nvSpPr>
        <p:spPr>
          <a:xfrm>
            <a:off x="6720840" y="2852928"/>
            <a:ext cx="1005840" cy="292608"/>
          </a:xfrm>
          <a:prstGeom prst="rect">
            <a:avLst/>
          </a:prstGeom>
          <a:noFill/>
          <a:ln/>
        </p:spPr>
        <p:txBody>
          <a:bodyPr wrap="square" lIns="0" tIns="0" rIns="0" bIns="0" rtlCol="0" anchor="ctr"/>
          <a:lstStyle/>
          <a:p>
            <a:pPr marL="0" indent="0" algn="ctr">
              <a:buNone/>
            </a:pPr>
            <a:r>
              <a:rPr lang="en-US" sz="1200" b="1" dirty="0">
                <a:solidFill>
                  <a:srgbClr val="64748B"/>
                </a:solidFill>
              </a:rPr>
              <a:t>5.517</a:t>
            </a:r>
            <a:endParaRPr lang="en-US" sz="1200" dirty="0"/>
          </a:p>
        </p:txBody>
      </p:sp>
      <p:sp>
        <p:nvSpPr>
          <p:cNvPr id="33" name="Text 31"/>
          <p:cNvSpPr/>
          <p:nvPr/>
        </p:nvSpPr>
        <p:spPr>
          <a:xfrm>
            <a:off x="7662672" y="2852928"/>
            <a:ext cx="1005840" cy="292608"/>
          </a:xfrm>
          <a:prstGeom prst="rect">
            <a:avLst/>
          </a:prstGeom>
          <a:noFill/>
          <a:ln/>
        </p:spPr>
        <p:txBody>
          <a:bodyPr wrap="square" lIns="0" tIns="0" rIns="0" bIns="0" rtlCol="0" anchor="ctr"/>
          <a:lstStyle/>
          <a:p>
            <a:pPr marL="0" indent="0" algn="ctr">
              <a:buNone/>
            </a:pPr>
            <a:r>
              <a:rPr lang="en-US" sz="1200" b="1" dirty="0">
                <a:solidFill>
                  <a:srgbClr val="0096B7"/>
                </a:solidFill>
              </a:rPr>
              <a:t>5.105</a:t>
            </a:r>
            <a:endParaRPr lang="en-US" sz="1200" dirty="0"/>
          </a:p>
        </p:txBody>
      </p:sp>
      <p:sp>
        <p:nvSpPr>
          <p:cNvPr id="34" name="Shape 32"/>
          <p:cNvSpPr/>
          <p:nvPr/>
        </p:nvSpPr>
        <p:spPr>
          <a:xfrm>
            <a:off x="5687568" y="3337560"/>
            <a:ext cx="2999232" cy="749808"/>
          </a:xfrm>
          <a:prstGeom prst="rect">
            <a:avLst/>
          </a:prstGeom>
          <a:solidFill>
            <a:srgbClr val="162435"/>
          </a:solidFill>
          <a:ln w="12700">
            <a:solidFill>
              <a:srgbClr val="2A3F55"/>
            </a:solidFill>
            <a:prstDash val="solid"/>
          </a:ln>
        </p:spPr>
      </p:sp>
      <p:sp>
        <p:nvSpPr>
          <p:cNvPr id="35" name="Text 33"/>
          <p:cNvSpPr/>
          <p:nvPr/>
        </p:nvSpPr>
        <p:spPr>
          <a:xfrm>
            <a:off x="5779008" y="3383280"/>
            <a:ext cx="2816352" cy="292608"/>
          </a:xfrm>
          <a:prstGeom prst="rect">
            <a:avLst/>
          </a:prstGeom>
          <a:noFill/>
          <a:ln/>
        </p:spPr>
        <p:txBody>
          <a:bodyPr wrap="square" lIns="0" tIns="0" rIns="0" bIns="0" rtlCol="0" anchor="ctr"/>
          <a:lstStyle/>
          <a:p>
            <a:pPr marL="0" indent="0">
              <a:buNone/>
            </a:pPr>
            <a:r>
              <a:rPr lang="en-US" sz="1000" dirty="0">
                <a:solidFill>
                  <a:srgbClr val="B8D4E8"/>
                </a:solidFill>
              </a:rPr>
              <a:t>Request drop rate</a:t>
            </a:r>
            <a:endParaRPr lang="en-US" sz="1000" dirty="0"/>
          </a:p>
        </p:txBody>
      </p:sp>
      <p:sp>
        <p:nvSpPr>
          <p:cNvPr id="36" name="Text 34"/>
          <p:cNvSpPr/>
          <p:nvPr/>
        </p:nvSpPr>
        <p:spPr>
          <a:xfrm>
            <a:off x="6720840" y="3721608"/>
            <a:ext cx="1005840" cy="292608"/>
          </a:xfrm>
          <a:prstGeom prst="rect">
            <a:avLst/>
          </a:prstGeom>
          <a:noFill/>
          <a:ln/>
        </p:spPr>
        <p:txBody>
          <a:bodyPr wrap="square" lIns="0" tIns="0" rIns="0" bIns="0" rtlCol="0" anchor="ctr"/>
          <a:lstStyle/>
          <a:p>
            <a:pPr marL="0" indent="0" algn="ctr">
              <a:buNone/>
            </a:pPr>
            <a:r>
              <a:rPr lang="en-US" sz="1200" b="1" dirty="0">
                <a:solidFill>
                  <a:srgbClr val="64748B"/>
                </a:solidFill>
              </a:rPr>
              <a:t>~0%</a:t>
            </a:r>
            <a:endParaRPr lang="en-US" sz="1200" dirty="0"/>
          </a:p>
        </p:txBody>
      </p:sp>
      <p:sp>
        <p:nvSpPr>
          <p:cNvPr id="37" name="Text 35"/>
          <p:cNvSpPr/>
          <p:nvPr/>
        </p:nvSpPr>
        <p:spPr>
          <a:xfrm>
            <a:off x="7662672" y="3721608"/>
            <a:ext cx="1005840" cy="292608"/>
          </a:xfrm>
          <a:prstGeom prst="rect">
            <a:avLst/>
          </a:prstGeom>
          <a:noFill/>
          <a:ln/>
        </p:spPr>
        <p:txBody>
          <a:bodyPr wrap="square" lIns="0" tIns="0" rIns="0" bIns="0" rtlCol="0" anchor="ctr"/>
          <a:lstStyle/>
          <a:p>
            <a:pPr marL="0" indent="0" algn="ctr">
              <a:buNone/>
            </a:pPr>
            <a:r>
              <a:rPr lang="en-US" sz="1200" b="1" dirty="0">
                <a:solidFill>
                  <a:srgbClr val="0096B7"/>
                </a:solidFill>
              </a:rPr>
              <a:t>~0%</a:t>
            </a:r>
            <a:endParaRPr lang="en-US" sz="1200" dirty="0"/>
          </a:p>
        </p:txBody>
      </p:sp>
      <p:sp>
        <p:nvSpPr>
          <p:cNvPr id="38" name="Text 36"/>
          <p:cNvSpPr/>
          <p:nvPr/>
        </p:nvSpPr>
        <p:spPr>
          <a:xfrm>
            <a:off x="5687568" y="4224528"/>
            <a:ext cx="2999232" cy="475488"/>
          </a:xfrm>
          <a:prstGeom prst="rect">
            <a:avLst/>
          </a:prstGeom>
          <a:noFill/>
          <a:ln/>
        </p:spPr>
        <p:txBody>
          <a:bodyPr wrap="square" lIns="0" tIns="0" rIns="0" bIns="0" rtlCol="0" anchor="ctr"/>
          <a:lstStyle/>
          <a:p>
            <a:pPr marL="0" indent="0">
              <a:buNone/>
            </a:pPr>
            <a:r>
              <a:rPr lang="en-US" sz="950" dirty="0">
                <a:solidFill>
                  <a:srgbClr val="F47B20"/>
                </a:solidFill>
              </a:rPr>
              <a:t>⚠  K=20: lưu lượng lớn có thể vượt qua</a:t>
            </a:r>
            <a:endParaRPr lang="en-US" sz="950" dirty="0"/>
          </a:p>
          <a:p>
            <a:pPr marL="0" indent="0">
              <a:buNone/>
            </a:pPr>
            <a:r>
              <a:rPr lang="en-US" sz="950" dirty="0">
                <a:solidFill>
                  <a:srgbClr val="F47B20"/>
                </a:solidFill>
              </a:rPr>
              <a:t>nhưng K=5/10: phòng thủ hiệu quả</a:t>
            </a:r>
            <a:endParaRPr lang="en-US" sz="9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04 </a:t>
            </a:r>
            <a:r>
              <a:rPr lang="en-US" sz="2200" b="1" dirty="0">
                <a:solidFill>
                  <a:srgbClr val="FFFFFF"/>
                </a:solidFill>
              </a:rPr>
              <a:t>· Thiết lập môi trường thực nghiệm</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411480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0096B7"/>
          </a:solidFill>
          <a:ln w="12700">
            <a:solidFill>
              <a:srgbClr val="0096B7"/>
            </a:solidFill>
            <a:prstDash val="solid"/>
          </a:ln>
        </p:spPr>
      </p:sp>
      <p:sp>
        <p:nvSpPr>
          <p:cNvPr id="9" name="Text 7"/>
          <p:cNvSpPr/>
          <p:nvPr/>
        </p:nvSpPr>
        <p:spPr>
          <a:xfrm>
            <a:off x="457200" y="868680"/>
            <a:ext cx="3749040" cy="320040"/>
          </a:xfrm>
          <a:prstGeom prst="rect">
            <a:avLst/>
          </a:prstGeom>
          <a:noFill/>
          <a:ln/>
        </p:spPr>
        <p:txBody>
          <a:bodyPr wrap="square" lIns="0" tIns="0" rIns="0" bIns="0" rtlCol="0" anchor="ctr"/>
          <a:lstStyle/>
          <a:p>
            <a:pPr marL="0" indent="0">
              <a:buNone/>
            </a:pPr>
            <a:r>
              <a:rPr lang="en-US" sz="1200" b="1" dirty="0">
                <a:solidFill>
                  <a:srgbClr val="0D1B2A"/>
                </a:solidFill>
              </a:rPr>
              <a:t>Môi trường &amp; Công cụ</a:t>
            </a:r>
            <a:endParaRPr lang="en-US" sz="1200" dirty="0"/>
          </a:p>
        </p:txBody>
      </p:sp>
      <p:sp>
        <p:nvSpPr>
          <p:cNvPr id="10" name="Text 8"/>
          <p:cNvSpPr/>
          <p:nvPr/>
        </p:nvSpPr>
        <p:spPr>
          <a:xfrm>
            <a:off x="457200" y="129844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 HW ]  Phần cứng</a:t>
            </a:r>
            <a:endParaRPr lang="en-US" sz="1050" dirty="0"/>
          </a:p>
        </p:txBody>
      </p:sp>
      <p:sp>
        <p:nvSpPr>
          <p:cNvPr id="11" name="Text 9"/>
          <p:cNvSpPr/>
          <p:nvPr/>
        </p:nvSpPr>
        <p:spPr>
          <a:xfrm>
            <a:off x="621792" y="1554480"/>
            <a:ext cx="3611880" cy="320040"/>
          </a:xfrm>
          <a:prstGeom prst="rect">
            <a:avLst/>
          </a:prstGeom>
          <a:noFill/>
          <a:ln/>
        </p:spPr>
        <p:txBody>
          <a:bodyPr wrap="square" lIns="0" tIns="0" rIns="0" bIns="0" rtlCol="0" anchor="ctr"/>
          <a:lstStyle/>
          <a:p>
            <a:pPr marL="0" indent="0">
              <a:buNone/>
            </a:pPr>
            <a:r>
              <a:rPr lang="en-US" sz="1000" dirty="0">
                <a:solidFill>
                  <a:srgbClr val="64748B"/>
                </a:solidFill>
              </a:rPr>
              <a:t>Intel Core </a:t>
            </a:r>
            <a:r>
              <a:rPr lang="en-US" sz="1000" dirty="0" smtClean="0">
                <a:solidFill>
                  <a:srgbClr val="64748B"/>
                </a:solidFill>
              </a:rPr>
              <a:t>i5-11G</a:t>
            </a:r>
            <a:endParaRPr lang="en-US" sz="1000" dirty="0"/>
          </a:p>
          <a:p>
            <a:pPr marL="0" indent="0">
              <a:buNone/>
            </a:pPr>
            <a:r>
              <a:rPr lang="en-US" sz="1000" dirty="0">
                <a:solidFill>
                  <a:srgbClr val="64748B"/>
                </a:solidFill>
              </a:rPr>
              <a:t>8</a:t>
            </a:r>
            <a:r>
              <a:rPr lang="en-US" sz="1000" dirty="0" smtClean="0">
                <a:solidFill>
                  <a:srgbClr val="64748B"/>
                </a:solidFill>
              </a:rPr>
              <a:t> </a:t>
            </a:r>
            <a:r>
              <a:rPr lang="en-US" sz="1000" dirty="0">
                <a:solidFill>
                  <a:srgbClr val="64748B"/>
                </a:solidFill>
              </a:rPr>
              <a:t>luồng, </a:t>
            </a:r>
            <a:r>
              <a:rPr lang="en-US" sz="1000" dirty="0" smtClean="0">
                <a:solidFill>
                  <a:srgbClr val="64748B"/>
                </a:solidFill>
              </a:rPr>
              <a:t>16 </a:t>
            </a:r>
            <a:r>
              <a:rPr lang="en-US" sz="1000" dirty="0">
                <a:solidFill>
                  <a:srgbClr val="64748B"/>
                </a:solidFill>
              </a:rPr>
              <a:t>GB RAM</a:t>
            </a:r>
            <a:endParaRPr lang="en-US" sz="1000" dirty="0"/>
          </a:p>
        </p:txBody>
      </p:sp>
      <p:sp>
        <p:nvSpPr>
          <p:cNvPr id="12" name="Text 10"/>
          <p:cNvSpPr/>
          <p:nvPr/>
        </p:nvSpPr>
        <p:spPr>
          <a:xfrm>
            <a:off x="457200" y="193852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 K8s ]  Docker [19→K8s]</a:t>
            </a:r>
            <a:endParaRPr lang="en-US" sz="1050" dirty="0"/>
          </a:p>
        </p:txBody>
      </p:sp>
      <p:sp>
        <p:nvSpPr>
          <p:cNvPr id="13" name="Text 11"/>
          <p:cNvSpPr/>
          <p:nvPr/>
        </p:nvSpPr>
        <p:spPr>
          <a:xfrm>
            <a:off x="621792" y="2194560"/>
            <a:ext cx="3611880" cy="320040"/>
          </a:xfrm>
          <a:prstGeom prst="rect">
            <a:avLst/>
          </a:prstGeom>
          <a:noFill/>
          <a:ln/>
        </p:spPr>
        <p:txBody>
          <a:bodyPr wrap="square" lIns="0" tIns="0" rIns="0" bIns="0" rtlCol="0" anchor="ctr"/>
          <a:lstStyle/>
          <a:p>
            <a:pPr marL="0" indent="0">
              <a:buNone/>
            </a:pPr>
            <a:r>
              <a:rPr lang="en-US" sz="1000" dirty="0" err="1" smtClean="0">
                <a:solidFill>
                  <a:srgbClr val="64748B"/>
                </a:solidFill>
              </a:rPr>
              <a:t>Sử</a:t>
            </a:r>
            <a:r>
              <a:rPr lang="en-US" sz="1000" dirty="0" smtClean="0">
                <a:solidFill>
                  <a:srgbClr val="64748B"/>
                </a:solidFill>
              </a:rPr>
              <a:t> </a:t>
            </a:r>
            <a:r>
              <a:rPr lang="en-US" sz="1000" dirty="0" err="1" smtClean="0">
                <a:solidFill>
                  <a:srgbClr val="64748B"/>
                </a:solidFill>
              </a:rPr>
              <a:t>dụng</a:t>
            </a:r>
            <a:r>
              <a:rPr lang="en-US" sz="1000" dirty="0" smtClean="0">
                <a:solidFill>
                  <a:srgbClr val="64748B"/>
                </a:solidFill>
              </a:rPr>
              <a:t> Kind </a:t>
            </a:r>
            <a:r>
              <a:rPr lang="en-US" sz="1000" dirty="0" err="1" smtClean="0">
                <a:solidFill>
                  <a:srgbClr val="64748B"/>
                </a:solidFill>
              </a:rPr>
              <a:t>để</a:t>
            </a:r>
            <a:r>
              <a:rPr lang="en-US" sz="1000" dirty="0" smtClean="0">
                <a:solidFill>
                  <a:srgbClr val="64748B"/>
                </a:solidFill>
              </a:rPr>
              <a:t> </a:t>
            </a:r>
            <a:r>
              <a:rPr lang="en-US" sz="1000" dirty="0" err="1" smtClean="0">
                <a:solidFill>
                  <a:srgbClr val="64748B"/>
                </a:solidFill>
              </a:rPr>
              <a:t>mô</a:t>
            </a:r>
            <a:r>
              <a:rPr lang="en-US" sz="1000" dirty="0" smtClean="0">
                <a:solidFill>
                  <a:srgbClr val="64748B"/>
                </a:solidFill>
              </a:rPr>
              <a:t> </a:t>
            </a:r>
            <a:r>
              <a:rPr lang="en-US" sz="1000" dirty="0" err="1" smtClean="0">
                <a:solidFill>
                  <a:srgbClr val="64748B"/>
                </a:solidFill>
              </a:rPr>
              <a:t>phỏng</a:t>
            </a:r>
            <a:r>
              <a:rPr lang="en-US" sz="1000" dirty="0">
                <a:solidFill>
                  <a:srgbClr val="64748B"/>
                </a:solidFill>
              </a:rPr>
              <a:t> </a:t>
            </a:r>
            <a:r>
              <a:rPr lang="en-US" sz="1000" dirty="0" smtClean="0">
                <a:solidFill>
                  <a:srgbClr val="64748B"/>
                </a:solidFill>
              </a:rPr>
              <a:t>cluster 1 control-plane + 3 worker</a:t>
            </a:r>
          </a:p>
          <a:p>
            <a:pPr marL="0" indent="0">
              <a:buNone/>
            </a:pPr>
            <a:r>
              <a:rPr lang="en-US" sz="1000" dirty="0" smtClean="0">
                <a:solidFill>
                  <a:srgbClr val="64748B"/>
                </a:solidFill>
              </a:rPr>
              <a:t>HPA min 1 pod -&gt; scale max 6 pod, </a:t>
            </a:r>
            <a:r>
              <a:rPr lang="en-US" sz="1000" dirty="0" err="1" smtClean="0">
                <a:solidFill>
                  <a:srgbClr val="64748B"/>
                </a:solidFill>
              </a:rPr>
              <a:t>ngưỡng</a:t>
            </a:r>
            <a:r>
              <a:rPr lang="en-US" sz="1000" dirty="0" smtClean="0">
                <a:solidFill>
                  <a:srgbClr val="64748B"/>
                </a:solidFill>
              </a:rPr>
              <a:t> </a:t>
            </a:r>
            <a:r>
              <a:rPr lang="en-US" sz="1000" dirty="0" err="1" smtClean="0">
                <a:solidFill>
                  <a:srgbClr val="64748B"/>
                </a:solidFill>
              </a:rPr>
              <a:t>thiết</a:t>
            </a:r>
            <a:r>
              <a:rPr lang="en-US" sz="1000" dirty="0" smtClean="0">
                <a:solidFill>
                  <a:srgbClr val="64748B"/>
                </a:solidFill>
              </a:rPr>
              <a:t> </a:t>
            </a:r>
            <a:r>
              <a:rPr lang="en-US" sz="1000" dirty="0" err="1" smtClean="0">
                <a:solidFill>
                  <a:srgbClr val="64748B"/>
                </a:solidFill>
              </a:rPr>
              <a:t>lập</a:t>
            </a:r>
            <a:r>
              <a:rPr lang="en-US" sz="1000" dirty="0" smtClean="0">
                <a:solidFill>
                  <a:srgbClr val="64748B"/>
                </a:solidFill>
              </a:rPr>
              <a:t> </a:t>
            </a:r>
            <a:r>
              <a:rPr lang="en-US" sz="1000" dirty="0" err="1" smtClean="0">
                <a:solidFill>
                  <a:srgbClr val="64748B"/>
                </a:solidFill>
              </a:rPr>
              <a:t>là</a:t>
            </a:r>
            <a:r>
              <a:rPr lang="en-US" sz="1000" dirty="0" smtClean="0">
                <a:solidFill>
                  <a:srgbClr val="64748B"/>
                </a:solidFill>
              </a:rPr>
              <a:t> 50% CPU</a:t>
            </a:r>
            <a:endParaRPr lang="en-US" sz="1000" dirty="0"/>
          </a:p>
        </p:txBody>
      </p:sp>
      <p:sp>
        <p:nvSpPr>
          <p:cNvPr id="14" name="Text 12"/>
          <p:cNvSpPr/>
          <p:nvPr/>
        </p:nvSpPr>
        <p:spPr>
          <a:xfrm>
            <a:off x="457200" y="257860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 App ]  TeaStore [18]</a:t>
            </a:r>
            <a:endParaRPr lang="en-US" sz="1050" dirty="0"/>
          </a:p>
        </p:txBody>
      </p:sp>
      <p:sp>
        <p:nvSpPr>
          <p:cNvPr id="15" name="Text 13"/>
          <p:cNvSpPr/>
          <p:nvPr/>
        </p:nvSpPr>
        <p:spPr>
          <a:xfrm>
            <a:off x="621792" y="2834640"/>
            <a:ext cx="3611880" cy="320040"/>
          </a:xfrm>
          <a:prstGeom prst="rect">
            <a:avLst/>
          </a:prstGeom>
          <a:noFill/>
          <a:ln/>
        </p:spPr>
        <p:txBody>
          <a:bodyPr wrap="square" lIns="0" tIns="0" rIns="0" bIns="0" rtlCol="0" anchor="ctr"/>
          <a:lstStyle/>
          <a:p>
            <a:pPr marL="0" indent="0">
              <a:buNone/>
            </a:pPr>
            <a:r>
              <a:rPr lang="en-US" sz="1000" dirty="0" smtClean="0">
                <a:solidFill>
                  <a:srgbClr val="64748B"/>
                </a:solidFill>
              </a:rPr>
              <a:t>Nginx/</a:t>
            </a:r>
            <a:r>
              <a:rPr lang="en-US" sz="1000" dirty="0" err="1" smtClean="0">
                <a:solidFill>
                  <a:srgbClr val="64748B"/>
                </a:solidFill>
              </a:rPr>
              <a:t>OpenRestry</a:t>
            </a:r>
            <a:r>
              <a:rPr lang="en-US" sz="1000" dirty="0" smtClean="0">
                <a:solidFill>
                  <a:srgbClr val="64748B"/>
                </a:solidFill>
              </a:rPr>
              <a:t> stress app (1 pod)</a:t>
            </a:r>
            <a:endParaRPr lang="en-US" sz="1000" dirty="0"/>
          </a:p>
        </p:txBody>
      </p:sp>
      <p:sp>
        <p:nvSpPr>
          <p:cNvPr id="16" name="Text 14"/>
          <p:cNvSpPr/>
          <p:nvPr/>
        </p:nvSpPr>
        <p:spPr>
          <a:xfrm>
            <a:off x="457200" y="321868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[Load]  Apache jMeter [19]</a:t>
            </a:r>
            <a:endParaRPr lang="en-US" sz="1050" dirty="0"/>
          </a:p>
        </p:txBody>
      </p:sp>
      <p:sp>
        <p:nvSpPr>
          <p:cNvPr id="17" name="Text 15"/>
          <p:cNvSpPr/>
          <p:nvPr/>
        </p:nvSpPr>
        <p:spPr>
          <a:xfrm>
            <a:off x="621792" y="3474720"/>
            <a:ext cx="3611880" cy="320040"/>
          </a:xfrm>
          <a:prstGeom prst="rect">
            <a:avLst/>
          </a:prstGeom>
          <a:noFill/>
          <a:ln/>
        </p:spPr>
        <p:txBody>
          <a:bodyPr wrap="square" lIns="0" tIns="0" rIns="0" bIns="0" rtlCol="0" anchor="ctr"/>
          <a:lstStyle/>
          <a:p>
            <a:pPr marL="0" indent="0">
              <a:buNone/>
            </a:pPr>
            <a:r>
              <a:rPr lang="en-US" sz="1000" dirty="0">
                <a:solidFill>
                  <a:srgbClr val="64748B"/>
                </a:solidFill>
              </a:rPr>
              <a:t>Tạo traffic </a:t>
            </a:r>
            <a:r>
              <a:rPr lang="en-US" sz="1000" dirty="0" err="1">
                <a:solidFill>
                  <a:srgbClr val="64748B"/>
                </a:solidFill>
              </a:rPr>
              <a:t>hợp</a:t>
            </a:r>
            <a:r>
              <a:rPr lang="en-US" sz="1000" dirty="0">
                <a:solidFill>
                  <a:srgbClr val="64748B"/>
                </a:solidFill>
              </a:rPr>
              <a:t> </a:t>
            </a:r>
            <a:r>
              <a:rPr lang="en-US" sz="1000" dirty="0" err="1" smtClean="0">
                <a:solidFill>
                  <a:srgbClr val="64748B"/>
                </a:solidFill>
              </a:rPr>
              <a:t>lệ</a:t>
            </a:r>
            <a:r>
              <a:rPr lang="en-US" sz="1000" dirty="0" smtClean="0">
                <a:solidFill>
                  <a:srgbClr val="64748B"/>
                </a:solidFill>
              </a:rPr>
              <a:t> </a:t>
            </a:r>
            <a:r>
              <a:rPr lang="en-US" sz="1000" dirty="0">
                <a:solidFill>
                  <a:srgbClr val="64748B"/>
                </a:solidFill>
              </a:rPr>
              <a:t>req/s</a:t>
            </a:r>
            <a:endParaRPr lang="en-US" sz="1000" dirty="0"/>
          </a:p>
        </p:txBody>
      </p:sp>
      <p:sp>
        <p:nvSpPr>
          <p:cNvPr id="18" name="Text 16"/>
          <p:cNvSpPr/>
          <p:nvPr/>
        </p:nvSpPr>
        <p:spPr>
          <a:xfrm>
            <a:off x="457200" y="385876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[Mon.]  Prometheus [20] + Grafana [21]</a:t>
            </a:r>
            <a:endParaRPr lang="en-US" sz="1050" dirty="0"/>
          </a:p>
        </p:txBody>
      </p:sp>
      <p:sp>
        <p:nvSpPr>
          <p:cNvPr id="19" name="Text 17"/>
          <p:cNvSpPr/>
          <p:nvPr/>
        </p:nvSpPr>
        <p:spPr>
          <a:xfrm>
            <a:off x="621792" y="4114800"/>
            <a:ext cx="3611880" cy="320040"/>
          </a:xfrm>
          <a:prstGeom prst="rect">
            <a:avLst/>
          </a:prstGeom>
          <a:noFill/>
          <a:ln/>
        </p:spPr>
        <p:txBody>
          <a:bodyPr wrap="square" lIns="0" tIns="0" rIns="0" bIns="0" rtlCol="0" anchor="ctr"/>
          <a:lstStyle/>
          <a:p>
            <a:pPr marL="0" indent="0">
              <a:buNone/>
            </a:pPr>
            <a:r>
              <a:rPr lang="en-US" sz="1000" dirty="0">
                <a:solidFill>
                  <a:srgbClr val="64748B"/>
                </a:solidFill>
              </a:rPr>
              <a:t>Giám sát &amp; trực quan hóa</a:t>
            </a:r>
            <a:endParaRPr lang="en-US" sz="1000" dirty="0"/>
          </a:p>
        </p:txBody>
      </p:sp>
      <p:sp>
        <p:nvSpPr>
          <p:cNvPr id="20" name="Shape 18"/>
          <p:cNvSpPr/>
          <p:nvPr/>
        </p:nvSpPr>
        <p:spPr>
          <a:xfrm>
            <a:off x="4617720" y="804672"/>
            <a:ext cx="416052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1" name="Shape 19"/>
          <p:cNvSpPr/>
          <p:nvPr/>
        </p:nvSpPr>
        <p:spPr>
          <a:xfrm>
            <a:off x="4617720" y="804672"/>
            <a:ext cx="54864" cy="3950208"/>
          </a:xfrm>
          <a:prstGeom prst="rect">
            <a:avLst/>
          </a:prstGeom>
          <a:solidFill>
            <a:srgbClr val="F47B20"/>
          </a:solidFill>
          <a:ln w="12700">
            <a:solidFill>
              <a:srgbClr val="F47B20"/>
            </a:solidFill>
            <a:prstDash val="solid"/>
          </a:ln>
        </p:spPr>
      </p:sp>
      <p:sp>
        <p:nvSpPr>
          <p:cNvPr id="22" name="Text 20"/>
          <p:cNvSpPr/>
          <p:nvPr/>
        </p:nvSpPr>
        <p:spPr>
          <a:xfrm>
            <a:off x="4773168" y="868680"/>
            <a:ext cx="3840480" cy="320040"/>
          </a:xfrm>
          <a:prstGeom prst="rect">
            <a:avLst/>
          </a:prstGeom>
          <a:noFill/>
          <a:ln/>
        </p:spPr>
        <p:txBody>
          <a:bodyPr wrap="square" lIns="0" tIns="0" rIns="0" bIns="0" rtlCol="0" anchor="ctr"/>
          <a:lstStyle/>
          <a:p>
            <a:pPr marL="0" indent="0">
              <a:buNone/>
            </a:pPr>
            <a:r>
              <a:rPr lang="en-US" sz="1200" b="1" dirty="0">
                <a:solidFill>
                  <a:srgbClr val="0D1B2A"/>
                </a:solidFill>
              </a:rPr>
              <a:t>Kịch </a:t>
            </a:r>
            <a:r>
              <a:rPr lang="en-US" sz="1200" b="1" dirty="0" err="1">
                <a:solidFill>
                  <a:srgbClr val="0D1B2A"/>
                </a:solidFill>
              </a:rPr>
              <a:t>bản</a:t>
            </a:r>
            <a:r>
              <a:rPr lang="en-US" sz="1200" b="1" dirty="0">
                <a:solidFill>
                  <a:srgbClr val="0D1B2A"/>
                </a:solidFill>
              </a:rPr>
              <a:t> </a:t>
            </a:r>
            <a:r>
              <a:rPr lang="en-US" sz="1200" b="1" dirty="0" err="1" smtClean="0">
                <a:solidFill>
                  <a:srgbClr val="0D1B2A"/>
                </a:solidFill>
              </a:rPr>
              <a:t>mô</a:t>
            </a:r>
            <a:r>
              <a:rPr lang="en-US" sz="1200" b="1" dirty="0" smtClean="0">
                <a:solidFill>
                  <a:srgbClr val="0D1B2A"/>
                </a:solidFill>
              </a:rPr>
              <a:t> </a:t>
            </a:r>
            <a:r>
              <a:rPr lang="en-US" sz="1200" b="1" dirty="0" err="1" smtClean="0">
                <a:solidFill>
                  <a:srgbClr val="0D1B2A"/>
                </a:solidFill>
              </a:rPr>
              <a:t>phỏng</a:t>
            </a:r>
            <a:endParaRPr lang="en-US" sz="1200" dirty="0"/>
          </a:p>
        </p:txBody>
      </p:sp>
      <p:sp>
        <p:nvSpPr>
          <p:cNvPr id="23" name="Text 21"/>
          <p:cNvSpPr/>
          <p:nvPr/>
        </p:nvSpPr>
        <p:spPr>
          <a:xfrm>
            <a:off x="4773168" y="1261872"/>
            <a:ext cx="3840480" cy="1252728"/>
          </a:xfrm>
          <a:prstGeom prst="rect">
            <a:avLst/>
          </a:prstGeom>
          <a:noFill/>
          <a:ln/>
        </p:spPr>
        <p:txBody>
          <a:bodyPr wrap="square" lIns="0" tIns="0" rIns="0" bIns="0" rtlCol="0" anchor="ctr"/>
          <a:lstStyle/>
          <a:p>
            <a:r>
              <a:rPr lang="en-US" sz="1050" b="1" i="1" dirty="0" err="1" smtClean="0">
                <a:solidFill>
                  <a:srgbClr val="0D1B2A"/>
                </a:solidFill>
              </a:rPr>
              <a:t>Giai</a:t>
            </a:r>
            <a:r>
              <a:rPr lang="en-US" sz="1050" b="1" i="1" dirty="0" smtClean="0">
                <a:solidFill>
                  <a:srgbClr val="0D1B2A"/>
                </a:solidFill>
              </a:rPr>
              <a:t> </a:t>
            </a:r>
            <a:r>
              <a:rPr lang="en-US" sz="1050" b="1" i="1" dirty="0" err="1" smtClean="0">
                <a:solidFill>
                  <a:srgbClr val="0D1B2A"/>
                </a:solidFill>
              </a:rPr>
              <a:t>đoạn</a:t>
            </a:r>
            <a:r>
              <a:rPr lang="en-US" sz="1050" b="1" i="1" dirty="0" smtClean="0">
                <a:solidFill>
                  <a:srgbClr val="0D1B2A"/>
                </a:solidFill>
              </a:rPr>
              <a:t> 1 – </a:t>
            </a:r>
            <a:r>
              <a:rPr lang="en-US" sz="1050" b="1" i="1" dirty="0" err="1" smtClean="0">
                <a:solidFill>
                  <a:srgbClr val="0D1B2A"/>
                </a:solidFill>
              </a:rPr>
              <a:t>Thiết</a:t>
            </a:r>
            <a:r>
              <a:rPr lang="en-US" sz="1050" b="1" i="1" dirty="0" smtClean="0">
                <a:solidFill>
                  <a:srgbClr val="0D1B2A"/>
                </a:solidFill>
              </a:rPr>
              <a:t> </a:t>
            </a:r>
            <a:r>
              <a:rPr lang="en-US" sz="1050" b="1" i="1" dirty="0" err="1" smtClean="0">
                <a:solidFill>
                  <a:srgbClr val="0D1B2A"/>
                </a:solidFill>
              </a:rPr>
              <a:t>lập</a:t>
            </a:r>
            <a:r>
              <a:rPr lang="en-US" sz="1050" b="1" i="1" dirty="0" smtClean="0">
                <a:solidFill>
                  <a:srgbClr val="0D1B2A"/>
                </a:solidFill>
              </a:rPr>
              <a:t> baseline</a:t>
            </a:r>
          </a:p>
          <a:p>
            <a:pPr marL="171450" indent="-171450">
              <a:buFontTx/>
              <a:buChar char="-"/>
            </a:pPr>
            <a:r>
              <a:rPr lang="en-US" sz="1050" dirty="0" smtClean="0">
                <a:solidFill>
                  <a:srgbClr val="0D1B2A"/>
                </a:solidFill>
              </a:rPr>
              <a:t>H</a:t>
            </a:r>
            <a:r>
              <a:rPr lang="vi-VN" sz="1050" dirty="0" smtClean="0">
                <a:solidFill>
                  <a:srgbClr val="0D1B2A"/>
                </a:solidFill>
              </a:rPr>
              <a:t>ệ </a:t>
            </a:r>
            <a:r>
              <a:rPr lang="vi-VN" sz="1050" dirty="0">
                <a:solidFill>
                  <a:srgbClr val="0D1B2A"/>
                </a:solidFill>
              </a:rPr>
              <a:t>thống được đưa về trạng thái sạch với </a:t>
            </a:r>
            <a:r>
              <a:rPr lang="vi-VN" sz="1050" dirty="0" smtClean="0">
                <a:solidFill>
                  <a:srgbClr val="0D1B2A"/>
                </a:solidFill>
              </a:rPr>
              <a:t>một</a:t>
            </a:r>
            <a:r>
              <a:rPr lang="en-US" sz="1050" dirty="0" smtClean="0">
                <a:solidFill>
                  <a:srgbClr val="0D1B2A"/>
                </a:solidFill>
              </a:rPr>
              <a:t> </a:t>
            </a:r>
            <a:r>
              <a:rPr lang="vi-VN" sz="1050" dirty="0" smtClean="0">
                <a:solidFill>
                  <a:srgbClr val="0D1B2A"/>
                </a:solidFill>
              </a:rPr>
              <a:t>replica </a:t>
            </a:r>
            <a:r>
              <a:rPr lang="vi-VN" sz="1050" dirty="0">
                <a:solidFill>
                  <a:srgbClr val="0D1B2A"/>
                </a:solidFill>
              </a:rPr>
              <a:t>duy nhất của dịch vụ </a:t>
            </a:r>
            <a:r>
              <a:rPr lang="vi-VN" sz="1050" dirty="0" smtClean="0">
                <a:solidFill>
                  <a:srgbClr val="0D1B2A"/>
                </a:solidFill>
              </a:rPr>
              <a:t>web</a:t>
            </a:r>
            <a:r>
              <a:rPr lang="en-US" sz="1050" dirty="0" smtClean="0">
                <a:solidFill>
                  <a:srgbClr val="0D1B2A"/>
                </a:solidFill>
              </a:rPr>
              <a:t>.</a:t>
            </a:r>
          </a:p>
          <a:p>
            <a:pPr marL="171450" indent="-171450">
              <a:buFontTx/>
              <a:buChar char="-"/>
            </a:pPr>
            <a:r>
              <a:rPr lang="en-US" sz="1050" dirty="0" err="1" smtClean="0">
                <a:solidFill>
                  <a:srgbClr val="0D1B2A"/>
                </a:solidFill>
              </a:rPr>
              <a:t>Lượng</a:t>
            </a:r>
            <a:r>
              <a:rPr lang="en-US" sz="1050" dirty="0" smtClean="0">
                <a:solidFill>
                  <a:srgbClr val="0D1B2A"/>
                </a:solidFill>
              </a:rPr>
              <a:t> </a:t>
            </a:r>
            <a:r>
              <a:rPr lang="en-US" sz="1050" dirty="0" err="1" smtClean="0">
                <a:solidFill>
                  <a:srgbClr val="0D1B2A"/>
                </a:solidFill>
              </a:rPr>
              <a:t>tải</a:t>
            </a:r>
            <a:r>
              <a:rPr lang="en-US" sz="1050" dirty="0" smtClean="0">
                <a:solidFill>
                  <a:srgbClr val="0D1B2A"/>
                </a:solidFill>
              </a:rPr>
              <a:t> </a:t>
            </a:r>
            <a:r>
              <a:rPr lang="en-US" sz="1050" dirty="0" err="1" smtClean="0">
                <a:solidFill>
                  <a:srgbClr val="0D1B2A"/>
                </a:solidFill>
              </a:rPr>
              <a:t>mô</a:t>
            </a:r>
            <a:r>
              <a:rPr lang="en-US" sz="1050" dirty="0" smtClean="0">
                <a:solidFill>
                  <a:srgbClr val="0D1B2A"/>
                </a:solidFill>
              </a:rPr>
              <a:t> </a:t>
            </a:r>
            <a:r>
              <a:rPr lang="en-US" sz="1050" dirty="0" err="1" smtClean="0">
                <a:solidFill>
                  <a:srgbClr val="0D1B2A"/>
                </a:solidFill>
              </a:rPr>
              <a:t>phỏng</a:t>
            </a:r>
            <a:r>
              <a:rPr lang="en-US" sz="1050" dirty="0" smtClean="0">
                <a:solidFill>
                  <a:srgbClr val="0D1B2A"/>
                </a:solidFill>
              </a:rPr>
              <a:t> </a:t>
            </a:r>
            <a:r>
              <a:rPr lang="en-US" sz="1050" dirty="0" err="1" smtClean="0">
                <a:solidFill>
                  <a:srgbClr val="0D1B2A"/>
                </a:solidFill>
              </a:rPr>
              <a:t>như</a:t>
            </a:r>
            <a:r>
              <a:rPr lang="en-US" sz="1050" dirty="0" smtClean="0">
                <a:solidFill>
                  <a:srgbClr val="0D1B2A"/>
                </a:solidFill>
              </a:rPr>
              <a:t> </a:t>
            </a:r>
            <a:r>
              <a:rPr lang="en-US" sz="1050" dirty="0" err="1" smtClean="0">
                <a:solidFill>
                  <a:srgbClr val="0D1B2A"/>
                </a:solidFill>
              </a:rPr>
              <a:t>người</a:t>
            </a:r>
            <a:r>
              <a:rPr lang="en-US" sz="1050" dirty="0" smtClean="0">
                <a:solidFill>
                  <a:srgbClr val="0D1B2A"/>
                </a:solidFill>
              </a:rPr>
              <a:t> </a:t>
            </a:r>
            <a:r>
              <a:rPr lang="en-US" sz="1050" dirty="0" err="1" smtClean="0">
                <a:solidFill>
                  <a:srgbClr val="0D1B2A"/>
                </a:solidFill>
              </a:rPr>
              <a:t>dùng</a:t>
            </a:r>
            <a:r>
              <a:rPr lang="en-US" sz="1050" dirty="0" smtClean="0">
                <a:solidFill>
                  <a:srgbClr val="0D1B2A"/>
                </a:solidFill>
              </a:rPr>
              <a:t> </a:t>
            </a:r>
            <a:r>
              <a:rPr lang="en-US" sz="1050" dirty="0" err="1" smtClean="0">
                <a:solidFill>
                  <a:srgbClr val="0D1B2A"/>
                </a:solidFill>
              </a:rPr>
              <a:t>bình</a:t>
            </a:r>
            <a:r>
              <a:rPr lang="en-US" sz="1050" dirty="0" smtClean="0">
                <a:solidFill>
                  <a:srgbClr val="0D1B2A"/>
                </a:solidFill>
              </a:rPr>
              <a:t> </a:t>
            </a:r>
            <a:r>
              <a:rPr lang="en-US" sz="1050" dirty="0" err="1" smtClean="0">
                <a:solidFill>
                  <a:srgbClr val="0D1B2A"/>
                </a:solidFill>
              </a:rPr>
              <a:t>thường</a:t>
            </a:r>
            <a:r>
              <a:rPr lang="en-US" sz="1050" dirty="0">
                <a:solidFill>
                  <a:srgbClr val="0D1B2A"/>
                </a:solidFill>
              </a:rPr>
              <a:t> </a:t>
            </a:r>
            <a:r>
              <a:rPr lang="en-US" sz="1050" dirty="0" smtClean="0">
                <a:solidFill>
                  <a:srgbClr val="0D1B2A"/>
                </a:solidFill>
              </a:rPr>
              <a:t>– </a:t>
            </a:r>
            <a:r>
              <a:rPr lang="en-US" sz="1050" dirty="0" err="1" smtClean="0">
                <a:solidFill>
                  <a:srgbClr val="0D1B2A"/>
                </a:solidFill>
              </a:rPr>
              <a:t>khoảng</a:t>
            </a:r>
            <a:r>
              <a:rPr lang="en-US" sz="1050" dirty="0" smtClean="0">
                <a:solidFill>
                  <a:srgbClr val="0D1B2A"/>
                </a:solidFill>
              </a:rPr>
              <a:t> 10 </a:t>
            </a:r>
            <a:r>
              <a:rPr lang="en-US" sz="1050" dirty="0" err="1" smtClean="0">
                <a:solidFill>
                  <a:srgbClr val="0D1B2A"/>
                </a:solidFill>
              </a:rPr>
              <a:t>luồng</a:t>
            </a:r>
            <a:r>
              <a:rPr lang="en-US" sz="1050" dirty="0" smtClean="0">
                <a:solidFill>
                  <a:srgbClr val="0D1B2A"/>
                </a:solidFill>
              </a:rPr>
              <a:t> song </a:t>
            </a:r>
            <a:r>
              <a:rPr lang="en-US" sz="1050" dirty="0" err="1" smtClean="0">
                <a:solidFill>
                  <a:srgbClr val="0D1B2A"/>
                </a:solidFill>
              </a:rPr>
              <a:t>song</a:t>
            </a:r>
            <a:r>
              <a:rPr lang="en-US" sz="1050" dirty="0" smtClean="0">
                <a:solidFill>
                  <a:srgbClr val="0D1B2A"/>
                </a:solidFill>
              </a:rPr>
              <a:t>, 2 </a:t>
            </a:r>
            <a:r>
              <a:rPr lang="en-US" sz="1050" dirty="0" err="1" smtClean="0">
                <a:solidFill>
                  <a:srgbClr val="0D1B2A"/>
                </a:solidFill>
              </a:rPr>
              <a:t>req</a:t>
            </a:r>
            <a:r>
              <a:rPr lang="en-US" sz="1050" dirty="0" smtClean="0">
                <a:solidFill>
                  <a:srgbClr val="0D1B2A"/>
                </a:solidFill>
              </a:rPr>
              <a:t>/s </a:t>
            </a:r>
            <a:r>
              <a:rPr lang="en-US" sz="1050" dirty="0" err="1" smtClean="0">
                <a:solidFill>
                  <a:srgbClr val="0D1B2A"/>
                </a:solidFill>
              </a:rPr>
              <a:t>với</a:t>
            </a:r>
            <a:r>
              <a:rPr lang="en-US" sz="1050" dirty="0" smtClean="0">
                <a:solidFill>
                  <a:srgbClr val="0D1B2A"/>
                </a:solidFill>
              </a:rPr>
              <a:t> </a:t>
            </a:r>
            <a:r>
              <a:rPr lang="en-US" sz="1050" dirty="0" err="1" smtClean="0">
                <a:solidFill>
                  <a:srgbClr val="0D1B2A"/>
                </a:solidFill>
              </a:rPr>
              <a:t>muỗi</a:t>
            </a:r>
            <a:r>
              <a:rPr lang="en-US" sz="1050" dirty="0" smtClean="0">
                <a:solidFill>
                  <a:srgbClr val="0D1B2A"/>
                </a:solidFill>
              </a:rPr>
              <a:t> </a:t>
            </a:r>
            <a:r>
              <a:rPr lang="en-US" sz="1050" dirty="0" err="1" smtClean="0">
                <a:solidFill>
                  <a:srgbClr val="0D1B2A"/>
                </a:solidFill>
              </a:rPr>
              <a:t>luồng</a:t>
            </a:r>
            <a:endParaRPr lang="en-US" sz="1050" dirty="0" smtClean="0">
              <a:solidFill>
                <a:srgbClr val="0D1B2A"/>
              </a:solidFill>
            </a:endParaRPr>
          </a:p>
          <a:p>
            <a:pPr marL="171450" indent="-171450">
              <a:buFontTx/>
              <a:buChar char="-"/>
            </a:pPr>
            <a:r>
              <a:rPr lang="en-US" sz="1050" dirty="0" err="1" smtClean="0"/>
              <a:t>Hệ</a:t>
            </a:r>
            <a:r>
              <a:rPr lang="en-US" sz="1050" dirty="0" smtClean="0"/>
              <a:t> </a:t>
            </a:r>
            <a:r>
              <a:rPr lang="en-US" sz="1050" dirty="0" err="1" smtClean="0"/>
              <a:t>thống</a:t>
            </a:r>
            <a:r>
              <a:rPr lang="en-US" sz="1050" dirty="0" smtClean="0"/>
              <a:t> </a:t>
            </a:r>
            <a:r>
              <a:rPr lang="en-US" sz="1050" dirty="0" err="1" smtClean="0"/>
              <a:t>ổn</a:t>
            </a:r>
            <a:r>
              <a:rPr lang="en-US" sz="1050" dirty="0" smtClean="0"/>
              <a:t> </a:t>
            </a:r>
            <a:r>
              <a:rPr lang="en-US" sz="1050" dirty="0" err="1" smtClean="0"/>
              <a:t>định</a:t>
            </a:r>
            <a:r>
              <a:rPr lang="en-US" sz="1050" dirty="0" smtClean="0"/>
              <a:t> ở </a:t>
            </a:r>
            <a:r>
              <a:rPr lang="en-US" sz="1050" dirty="0" err="1"/>
              <a:t>mức</a:t>
            </a:r>
            <a:r>
              <a:rPr lang="en-US" sz="1050" dirty="0"/>
              <a:t> </a:t>
            </a:r>
            <a:r>
              <a:rPr lang="en-US" sz="1050" dirty="0" err="1"/>
              <a:t>sử</a:t>
            </a:r>
            <a:r>
              <a:rPr lang="en-US" sz="1050" dirty="0"/>
              <a:t> </a:t>
            </a:r>
            <a:r>
              <a:rPr lang="en-US" sz="1050" dirty="0" err="1"/>
              <a:t>dụng</a:t>
            </a:r>
            <a:r>
              <a:rPr lang="en-US" sz="1050" dirty="0"/>
              <a:t> CPU </a:t>
            </a:r>
            <a:r>
              <a:rPr lang="en-US" sz="1050" dirty="0" err="1"/>
              <a:t>dao</a:t>
            </a:r>
            <a:r>
              <a:rPr lang="en-US" sz="1050" dirty="0"/>
              <a:t> </a:t>
            </a:r>
            <a:r>
              <a:rPr lang="en-US" sz="1050" dirty="0" err="1"/>
              <a:t>động</a:t>
            </a:r>
            <a:r>
              <a:rPr lang="en-US" sz="1050" dirty="0"/>
              <a:t> </a:t>
            </a:r>
            <a:r>
              <a:rPr lang="en-US" sz="1050" dirty="0" err="1"/>
              <a:t>khoảng</a:t>
            </a:r>
            <a:r>
              <a:rPr lang="en-US" sz="1050" dirty="0"/>
              <a:t> 30–50% </a:t>
            </a:r>
            <a:r>
              <a:rPr lang="en-US" sz="1050" dirty="0" err="1"/>
              <a:t>và</a:t>
            </a:r>
            <a:r>
              <a:rPr lang="en-US" sz="1050" dirty="0"/>
              <a:t> </a:t>
            </a:r>
            <a:r>
              <a:rPr lang="en-US" sz="1050" dirty="0" err="1"/>
              <a:t>cụm</a:t>
            </a:r>
            <a:r>
              <a:rPr lang="en-US" sz="1050" dirty="0"/>
              <a:t> </a:t>
            </a:r>
            <a:r>
              <a:rPr lang="en-US" sz="1050" dirty="0" err="1"/>
              <a:t>duy</a:t>
            </a:r>
            <a:r>
              <a:rPr lang="en-US" sz="1050" dirty="0"/>
              <a:t> </a:t>
            </a:r>
            <a:r>
              <a:rPr lang="en-US" sz="1050" dirty="0" err="1"/>
              <a:t>trì</a:t>
            </a:r>
            <a:r>
              <a:rPr lang="en-US" sz="1050" dirty="0"/>
              <a:t> 1–2 pod.</a:t>
            </a:r>
          </a:p>
        </p:txBody>
      </p:sp>
      <p:sp>
        <p:nvSpPr>
          <p:cNvPr id="25" name="Text 23"/>
          <p:cNvSpPr/>
          <p:nvPr/>
        </p:nvSpPr>
        <p:spPr>
          <a:xfrm>
            <a:off x="4773168" y="1581912"/>
            <a:ext cx="3739896" cy="34747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9" name="Text 27"/>
          <p:cNvSpPr/>
          <p:nvPr/>
        </p:nvSpPr>
        <p:spPr>
          <a:xfrm>
            <a:off x="4773168" y="21762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3" name="Text 31"/>
          <p:cNvSpPr/>
          <p:nvPr/>
        </p:nvSpPr>
        <p:spPr>
          <a:xfrm>
            <a:off x="4773168" y="277063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38" name="Text 36"/>
          <p:cNvSpPr/>
          <p:nvPr/>
        </p:nvSpPr>
        <p:spPr>
          <a:xfrm>
            <a:off x="4773168" y="3730752"/>
            <a:ext cx="1143000" cy="502920"/>
          </a:xfrm>
          <a:prstGeom prst="rect">
            <a:avLst/>
          </a:prstGeom>
          <a:noFill/>
          <a:ln/>
        </p:spPr>
        <p:txBody>
          <a:bodyPr wrap="square" lIns="0" tIns="0" rIns="0" bIns="0" rtlCol="0" anchor="ctr"/>
          <a:lstStyle/>
          <a:p>
            <a:pPr marL="0" indent="0" algn="ctr">
              <a:buNone/>
            </a:pPr>
            <a:r>
              <a:rPr lang="en-US" sz="1400" b="1" dirty="0">
                <a:solidFill>
                  <a:srgbClr val="FFFFFF"/>
                </a:solidFill>
              </a:rPr>
              <a:t>K=5</a:t>
            </a:r>
            <a:endParaRPr lang="en-US" sz="1400" dirty="0"/>
          </a:p>
        </p:txBody>
      </p:sp>
      <p:sp>
        <p:nvSpPr>
          <p:cNvPr id="40" name="Text 38"/>
          <p:cNvSpPr/>
          <p:nvPr/>
        </p:nvSpPr>
        <p:spPr>
          <a:xfrm>
            <a:off x="6071616" y="3730752"/>
            <a:ext cx="1143000" cy="502920"/>
          </a:xfrm>
          <a:prstGeom prst="rect">
            <a:avLst/>
          </a:prstGeom>
          <a:noFill/>
          <a:ln/>
        </p:spPr>
        <p:txBody>
          <a:bodyPr wrap="square" lIns="0" tIns="0" rIns="0" bIns="0" rtlCol="0" anchor="ctr"/>
          <a:lstStyle/>
          <a:p>
            <a:pPr marL="0" indent="0" algn="ctr">
              <a:buNone/>
            </a:pPr>
            <a:r>
              <a:rPr lang="en-US" sz="1400" b="1" dirty="0">
                <a:solidFill>
                  <a:srgbClr val="FFFFFF"/>
                </a:solidFill>
              </a:rPr>
              <a:t>K=10</a:t>
            </a:r>
            <a:endParaRPr lang="en-US" sz="1400" dirty="0"/>
          </a:p>
        </p:txBody>
      </p:sp>
      <p:sp>
        <p:nvSpPr>
          <p:cNvPr id="42" name="Text 40"/>
          <p:cNvSpPr/>
          <p:nvPr/>
        </p:nvSpPr>
        <p:spPr>
          <a:xfrm>
            <a:off x="7370064" y="3730752"/>
            <a:ext cx="1143000" cy="502920"/>
          </a:xfrm>
          <a:prstGeom prst="rect">
            <a:avLst/>
          </a:prstGeom>
          <a:noFill/>
          <a:ln/>
        </p:spPr>
        <p:txBody>
          <a:bodyPr wrap="square" lIns="0" tIns="0" rIns="0" bIns="0" rtlCol="0" anchor="ctr"/>
          <a:lstStyle/>
          <a:p>
            <a:pPr marL="0" indent="0" algn="ctr">
              <a:buNone/>
            </a:pPr>
            <a:r>
              <a:rPr lang="en-US" sz="1400" b="1" dirty="0">
                <a:solidFill>
                  <a:srgbClr val="FFFFFF"/>
                </a:solidFill>
              </a:rPr>
              <a:t>K=20</a:t>
            </a:r>
            <a:endParaRPr lang="en-US" sz="1400" dirty="0"/>
          </a:p>
        </p:txBody>
      </p:sp>
      <p:sp>
        <p:nvSpPr>
          <p:cNvPr id="44" name="Text 21"/>
          <p:cNvSpPr/>
          <p:nvPr/>
        </p:nvSpPr>
        <p:spPr>
          <a:xfrm>
            <a:off x="4773168" y="2606040"/>
            <a:ext cx="3840480" cy="1828800"/>
          </a:xfrm>
          <a:prstGeom prst="rect">
            <a:avLst/>
          </a:prstGeom>
          <a:noFill/>
          <a:ln/>
        </p:spPr>
        <p:txBody>
          <a:bodyPr wrap="square" lIns="0" tIns="0" rIns="0" bIns="0" rtlCol="0" anchor="ctr"/>
          <a:lstStyle/>
          <a:p>
            <a:r>
              <a:rPr lang="en-US" sz="1050" b="1" i="1" dirty="0" err="1" smtClean="0">
                <a:solidFill>
                  <a:srgbClr val="0D1B2A"/>
                </a:solidFill>
                <a:latin typeface="Calibri (Body)"/>
              </a:rPr>
              <a:t>Giai</a:t>
            </a:r>
            <a:r>
              <a:rPr lang="en-US" sz="1050" b="1" i="1" dirty="0" smtClean="0">
                <a:solidFill>
                  <a:srgbClr val="0D1B2A"/>
                </a:solidFill>
                <a:latin typeface="Calibri (Body)"/>
              </a:rPr>
              <a:t> </a:t>
            </a:r>
            <a:r>
              <a:rPr lang="en-US" sz="1050" b="1" i="1" dirty="0" err="1" smtClean="0">
                <a:solidFill>
                  <a:srgbClr val="0D1B2A"/>
                </a:solidFill>
                <a:latin typeface="Calibri (Body)"/>
              </a:rPr>
              <a:t>đoạn</a:t>
            </a:r>
            <a:r>
              <a:rPr lang="en-US" sz="1050" b="1" i="1" dirty="0" smtClean="0">
                <a:solidFill>
                  <a:srgbClr val="0D1B2A"/>
                </a:solidFill>
                <a:latin typeface="Calibri (Body)"/>
              </a:rPr>
              <a:t> 2 – </a:t>
            </a:r>
            <a:r>
              <a:rPr lang="en-US" sz="1050" b="1" i="1" dirty="0" err="1" smtClean="0">
                <a:solidFill>
                  <a:srgbClr val="0D1B2A"/>
                </a:solidFill>
                <a:latin typeface="Calibri (Body)"/>
              </a:rPr>
              <a:t>Mô</a:t>
            </a:r>
            <a:r>
              <a:rPr lang="en-US" sz="1050" b="1" i="1" dirty="0" smtClean="0">
                <a:solidFill>
                  <a:srgbClr val="0D1B2A"/>
                </a:solidFill>
                <a:latin typeface="Calibri (Body)"/>
              </a:rPr>
              <a:t> </a:t>
            </a:r>
            <a:r>
              <a:rPr lang="en-US" sz="1050" b="1" i="1" dirty="0" err="1" smtClean="0">
                <a:solidFill>
                  <a:srgbClr val="0D1B2A"/>
                </a:solidFill>
                <a:latin typeface="Calibri (Body)"/>
              </a:rPr>
              <a:t>phỏng</a:t>
            </a:r>
            <a:r>
              <a:rPr lang="en-US" sz="1050" b="1" i="1" dirty="0" smtClean="0">
                <a:solidFill>
                  <a:srgbClr val="0D1B2A"/>
                </a:solidFill>
                <a:latin typeface="Calibri (Body)"/>
              </a:rPr>
              <a:t> </a:t>
            </a:r>
            <a:r>
              <a:rPr lang="en-US" sz="1050" b="1" i="1" dirty="0" err="1" smtClean="0">
                <a:solidFill>
                  <a:srgbClr val="0D1B2A"/>
                </a:solidFill>
                <a:latin typeface="Calibri (Body)"/>
              </a:rPr>
              <a:t>lưu</a:t>
            </a:r>
            <a:r>
              <a:rPr lang="en-US" sz="1050" b="1" i="1" dirty="0" smtClean="0">
                <a:solidFill>
                  <a:srgbClr val="0D1B2A"/>
                </a:solidFill>
                <a:latin typeface="Calibri (Body)"/>
              </a:rPr>
              <a:t> </a:t>
            </a:r>
            <a:r>
              <a:rPr lang="en-US" sz="1050" b="1" i="1" dirty="0" err="1" smtClean="0">
                <a:solidFill>
                  <a:srgbClr val="0D1B2A"/>
                </a:solidFill>
                <a:latin typeface="Calibri (Body)"/>
              </a:rPr>
              <a:t>lượng</a:t>
            </a:r>
            <a:r>
              <a:rPr lang="en-US" sz="1050" b="1" i="1" dirty="0" smtClean="0">
                <a:solidFill>
                  <a:srgbClr val="0D1B2A"/>
                </a:solidFill>
                <a:latin typeface="Calibri (Body)"/>
              </a:rPr>
              <a:t> </a:t>
            </a:r>
            <a:r>
              <a:rPr lang="en-US" sz="1050" b="1" i="1" dirty="0" err="1" smtClean="0">
                <a:solidFill>
                  <a:srgbClr val="0D1B2A"/>
                </a:solidFill>
                <a:latin typeface="Calibri (Body)"/>
              </a:rPr>
              <a:t>tấn</a:t>
            </a:r>
            <a:r>
              <a:rPr lang="en-US" sz="1050" b="1" i="1" dirty="0" smtClean="0">
                <a:solidFill>
                  <a:srgbClr val="0D1B2A"/>
                </a:solidFill>
                <a:latin typeface="Calibri (Body)"/>
              </a:rPr>
              <a:t> </a:t>
            </a:r>
            <a:r>
              <a:rPr lang="en-US" sz="1050" b="1" i="1" dirty="0" err="1" smtClean="0">
                <a:solidFill>
                  <a:srgbClr val="0D1B2A"/>
                </a:solidFill>
                <a:latin typeface="Calibri (Body)"/>
              </a:rPr>
              <a:t>công</a:t>
            </a:r>
            <a:endParaRPr lang="en-US" sz="1050" b="1" i="1" dirty="0" smtClean="0">
              <a:solidFill>
                <a:srgbClr val="0D1B2A"/>
              </a:solidFill>
              <a:latin typeface="Calibri (Body)"/>
            </a:endParaRPr>
          </a:p>
          <a:p>
            <a:r>
              <a:rPr lang="en-US" sz="1050" dirty="0" err="1" smtClean="0">
                <a:solidFill>
                  <a:srgbClr val="0D1B2A"/>
                </a:solidFill>
                <a:latin typeface="Calibri (Body)"/>
              </a:rPr>
              <a:t>Kẻ</a:t>
            </a:r>
            <a:r>
              <a:rPr lang="en-US" sz="1050" dirty="0" smtClean="0">
                <a:solidFill>
                  <a:srgbClr val="0D1B2A"/>
                </a:solidFill>
                <a:latin typeface="Calibri (Body)"/>
              </a:rPr>
              <a:t> </a:t>
            </a:r>
            <a:r>
              <a:rPr lang="en-US" sz="1050" dirty="0" err="1" smtClean="0">
                <a:solidFill>
                  <a:srgbClr val="0D1B2A"/>
                </a:solidFill>
                <a:latin typeface="Calibri (Body)"/>
              </a:rPr>
              <a:t>tấn</a:t>
            </a:r>
            <a:r>
              <a:rPr lang="en-US" sz="1050" dirty="0" smtClean="0">
                <a:solidFill>
                  <a:srgbClr val="0D1B2A"/>
                </a:solidFill>
                <a:latin typeface="Calibri (Body)"/>
              </a:rPr>
              <a:t> </a:t>
            </a:r>
            <a:r>
              <a:rPr lang="en-US" sz="1050" dirty="0" err="1" smtClean="0">
                <a:solidFill>
                  <a:srgbClr val="0D1B2A"/>
                </a:solidFill>
                <a:latin typeface="Calibri (Body)"/>
              </a:rPr>
              <a:t>công</a:t>
            </a:r>
            <a:r>
              <a:rPr lang="en-US" sz="1050" dirty="0" smtClean="0">
                <a:solidFill>
                  <a:srgbClr val="0D1B2A"/>
                </a:solidFill>
                <a:latin typeface="Calibri (Body)"/>
              </a:rPr>
              <a:t> </a:t>
            </a:r>
            <a:r>
              <a:rPr lang="en-US" sz="1050" dirty="0" err="1" smtClean="0">
                <a:solidFill>
                  <a:srgbClr val="0D1B2A"/>
                </a:solidFill>
                <a:latin typeface="Calibri (Body)"/>
              </a:rPr>
              <a:t>vận</a:t>
            </a:r>
            <a:r>
              <a:rPr lang="en-US" sz="1050" dirty="0" smtClean="0">
                <a:solidFill>
                  <a:srgbClr val="0D1B2A"/>
                </a:solidFill>
                <a:latin typeface="Calibri (Body)"/>
              </a:rPr>
              <a:t> </a:t>
            </a:r>
            <a:r>
              <a:rPr lang="en-US" sz="1050" dirty="0" err="1" smtClean="0">
                <a:solidFill>
                  <a:srgbClr val="0D1B2A"/>
                </a:solidFill>
                <a:latin typeface="Calibri (Body)"/>
              </a:rPr>
              <a:t>hành</a:t>
            </a:r>
            <a:r>
              <a:rPr lang="en-US" sz="1050" dirty="0" smtClean="0">
                <a:solidFill>
                  <a:srgbClr val="0D1B2A"/>
                </a:solidFill>
                <a:latin typeface="Calibri (Body)"/>
              </a:rPr>
              <a:t> </a:t>
            </a:r>
            <a:r>
              <a:rPr lang="en-US" sz="1050" dirty="0" err="1" smtClean="0">
                <a:solidFill>
                  <a:srgbClr val="0D1B2A"/>
                </a:solidFill>
                <a:latin typeface="Calibri (Body)"/>
              </a:rPr>
              <a:t>theo</a:t>
            </a:r>
            <a:r>
              <a:rPr lang="en-US" sz="1050" dirty="0" smtClean="0">
                <a:solidFill>
                  <a:srgbClr val="0D1B2A"/>
                </a:solidFill>
                <a:latin typeface="Calibri (Body)"/>
              </a:rPr>
              <a:t> </a:t>
            </a:r>
            <a:r>
              <a:rPr lang="en-US" sz="1050" dirty="0" err="1" smtClean="0">
                <a:solidFill>
                  <a:srgbClr val="0D1B2A"/>
                </a:solidFill>
                <a:latin typeface="Calibri (Body)"/>
              </a:rPr>
              <a:t>vòng</a:t>
            </a:r>
            <a:r>
              <a:rPr lang="en-US" sz="1050" dirty="0" smtClean="0">
                <a:solidFill>
                  <a:srgbClr val="0D1B2A"/>
                </a:solidFill>
                <a:latin typeface="Calibri (Body)"/>
              </a:rPr>
              <a:t> </a:t>
            </a:r>
            <a:r>
              <a:rPr lang="en-US" sz="1050" dirty="0" err="1" smtClean="0">
                <a:solidFill>
                  <a:srgbClr val="0D1B2A"/>
                </a:solidFill>
                <a:latin typeface="Calibri (Body)"/>
              </a:rPr>
              <a:t>lặp</a:t>
            </a:r>
            <a:r>
              <a:rPr lang="en-US" sz="1050" dirty="0" smtClean="0">
                <a:solidFill>
                  <a:srgbClr val="0D1B2A"/>
                </a:solidFill>
                <a:latin typeface="Calibri (Body)"/>
              </a:rPr>
              <a:t> </a:t>
            </a:r>
            <a:r>
              <a:rPr lang="en-US" sz="1050" dirty="0" err="1" smtClean="0">
                <a:solidFill>
                  <a:srgbClr val="0D1B2A"/>
                </a:solidFill>
                <a:latin typeface="Calibri (Body)"/>
              </a:rPr>
              <a:t>quan</a:t>
            </a:r>
            <a:r>
              <a:rPr lang="en-US" sz="1050" dirty="0" smtClean="0">
                <a:solidFill>
                  <a:srgbClr val="0D1B2A"/>
                </a:solidFill>
                <a:latin typeface="Calibri (Body)"/>
              </a:rPr>
              <a:t> </a:t>
            </a:r>
            <a:r>
              <a:rPr lang="en-US" sz="1050" dirty="0" err="1" smtClean="0">
                <a:solidFill>
                  <a:srgbClr val="0D1B2A"/>
                </a:solidFill>
                <a:latin typeface="Calibri (Body)"/>
              </a:rPr>
              <a:t>sát</a:t>
            </a:r>
            <a:r>
              <a:rPr lang="en-US" sz="1050" dirty="0" smtClean="0">
                <a:solidFill>
                  <a:srgbClr val="0D1B2A"/>
                </a:solidFill>
                <a:latin typeface="Calibri (Body)"/>
              </a:rPr>
              <a:t> – </a:t>
            </a:r>
            <a:r>
              <a:rPr lang="en-US" sz="1050" dirty="0" err="1" smtClean="0">
                <a:solidFill>
                  <a:srgbClr val="0D1B2A"/>
                </a:solidFill>
                <a:latin typeface="Calibri (Body)"/>
              </a:rPr>
              <a:t>quyết</a:t>
            </a:r>
            <a:r>
              <a:rPr lang="en-US" sz="1050" dirty="0" smtClean="0">
                <a:solidFill>
                  <a:srgbClr val="0D1B2A"/>
                </a:solidFill>
                <a:latin typeface="Calibri (Body)"/>
              </a:rPr>
              <a:t> </a:t>
            </a:r>
            <a:r>
              <a:rPr lang="en-US" sz="1050" dirty="0" err="1" smtClean="0">
                <a:solidFill>
                  <a:srgbClr val="0D1B2A"/>
                </a:solidFill>
                <a:latin typeface="Calibri (Body)"/>
              </a:rPr>
              <a:t>định</a:t>
            </a:r>
            <a:r>
              <a:rPr lang="en-US" sz="1050" dirty="0" smtClean="0">
                <a:solidFill>
                  <a:srgbClr val="0D1B2A"/>
                </a:solidFill>
                <a:latin typeface="Calibri (Body)"/>
              </a:rPr>
              <a:t> – </a:t>
            </a:r>
            <a:r>
              <a:rPr lang="en-US" sz="1050" dirty="0" err="1" smtClean="0">
                <a:solidFill>
                  <a:srgbClr val="0D1B2A"/>
                </a:solidFill>
                <a:latin typeface="Calibri (Body)"/>
              </a:rPr>
              <a:t>hành</a:t>
            </a:r>
            <a:r>
              <a:rPr lang="en-US" sz="1050" dirty="0" smtClean="0">
                <a:solidFill>
                  <a:srgbClr val="0D1B2A"/>
                </a:solidFill>
                <a:latin typeface="Calibri (Body)"/>
              </a:rPr>
              <a:t> </a:t>
            </a:r>
            <a:r>
              <a:rPr lang="en-US" sz="1050" dirty="0" err="1" smtClean="0">
                <a:solidFill>
                  <a:srgbClr val="0D1B2A"/>
                </a:solidFill>
                <a:latin typeface="Calibri (Body)"/>
              </a:rPr>
              <a:t>động</a:t>
            </a:r>
            <a:r>
              <a:rPr lang="en-US" sz="1050" dirty="0" smtClean="0">
                <a:solidFill>
                  <a:srgbClr val="0D1B2A"/>
                </a:solidFill>
                <a:latin typeface="Calibri (Body)"/>
              </a:rPr>
              <a:t> </a:t>
            </a:r>
            <a:r>
              <a:rPr lang="en-US" sz="1050" dirty="0" err="1" smtClean="0">
                <a:solidFill>
                  <a:srgbClr val="0D1B2A"/>
                </a:solidFill>
                <a:latin typeface="Calibri (Body)"/>
              </a:rPr>
              <a:t>theo</a:t>
            </a:r>
            <a:r>
              <a:rPr lang="en-US" sz="1050" dirty="0" smtClean="0">
                <a:solidFill>
                  <a:srgbClr val="0D1B2A"/>
                </a:solidFill>
                <a:latin typeface="Calibri (Body)"/>
              </a:rPr>
              <a:t> </a:t>
            </a:r>
            <a:r>
              <a:rPr lang="en-US" sz="1050" dirty="0" err="1" smtClean="0">
                <a:solidFill>
                  <a:srgbClr val="0D1B2A"/>
                </a:solidFill>
                <a:latin typeface="Calibri (Body)"/>
              </a:rPr>
              <a:t>từng</a:t>
            </a:r>
            <a:r>
              <a:rPr lang="en-US" sz="1050" dirty="0" smtClean="0">
                <a:solidFill>
                  <a:srgbClr val="0D1B2A"/>
                </a:solidFill>
                <a:latin typeface="Calibri (Body)"/>
              </a:rPr>
              <a:t> </a:t>
            </a:r>
            <a:r>
              <a:rPr lang="en-US" sz="1050" dirty="0" err="1" smtClean="0">
                <a:solidFill>
                  <a:srgbClr val="0D1B2A"/>
                </a:solidFill>
                <a:latin typeface="Calibri (Body)"/>
              </a:rPr>
              <a:t>chu</a:t>
            </a:r>
            <a:r>
              <a:rPr lang="en-US" sz="1050" dirty="0" smtClean="0">
                <a:solidFill>
                  <a:srgbClr val="0D1B2A"/>
                </a:solidFill>
                <a:latin typeface="Calibri (Body)"/>
              </a:rPr>
              <a:t> </a:t>
            </a:r>
            <a:r>
              <a:rPr lang="en-US" sz="1050" dirty="0" err="1" smtClean="0">
                <a:solidFill>
                  <a:srgbClr val="0D1B2A"/>
                </a:solidFill>
                <a:latin typeface="Calibri (Body)"/>
              </a:rPr>
              <a:t>kỳ</a:t>
            </a:r>
            <a:r>
              <a:rPr lang="en-US" sz="1050" dirty="0" smtClean="0">
                <a:solidFill>
                  <a:srgbClr val="0D1B2A"/>
                </a:solidFill>
                <a:latin typeface="Calibri (Body)"/>
              </a:rPr>
              <a:t>:</a:t>
            </a:r>
          </a:p>
          <a:p>
            <a:pPr marL="171450" indent="-171450">
              <a:buFontTx/>
              <a:buChar char="-"/>
            </a:pPr>
            <a:r>
              <a:rPr lang="en-US" sz="1050" dirty="0" err="1" smtClean="0">
                <a:solidFill>
                  <a:srgbClr val="0D1B2A"/>
                </a:solidFill>
                <a:latin typeface="Calibri (Body)"/>
              </a:rPr>
              <a:t>Quan</a:t>
            </a:r>
            <a:r>
              <a:rPr lang="en-US" sz="1050" dirty="0" smtClean="0">
                <a:solidFill>
                  <a:srgbClr val="0D1B2A"/>
                </a:solidFill>
                <a:latin typeface="Calibri (Body)"/>
              </a:rPr>
              <a:t> </a:t>
            </a:r>
            <a:r>
              <a:rPr lang="en-US" sz="1050" dirty="0" err="1" smtClean="0">
                <a:solidFill>
                  <a:srgbClr val="0D1B2A"/>
                </a:solidFill>
                <a:latin typeface="Calibri (Body)"/>
              </a:rPr>
              <a:t>sát</a:t>
            </a:r>
            <a:r>
              <a:rPr lang="en-US" sz="1050" dirty="0" smtClean="0">
                <a:solidFill>
                  <a:srgbClr val="0D1B2A"/>
                </a:solidFill>
                <a:latin typeface="Calibri (Body)"/>
              </a:rPr>
              <a:t>: </a:t>
            </a:r>
            <a:r>
              <a:rPr lang="en-US" sz="1050" dirty="0" err="1" smtClean="0">
                <a:solidFill>
                  <a:srgbClr val="0D1B2A"/>
                </a:solidFill>
                <a:latin typeface="Calibri (Body)"/>
              </a:rPr>
              <a:t>truy</a:t>
            </a:r>
            <a:r>
              <a:rPr lang="en-US" sz="1050" dirty="0" smtClean="0">
                <a:solidFill>
                  <a:srgbClr val="0D1B2A"/>
                </a:solidFill>
                <a:latin typeface="Calibri (Body)"/>
              </a:rPr>
              <a:t> </a:t>
            </a:r>
            <a:r>
              <a:rPr lang="en-US" sz="1050" dirty="0" err="1" smtClean="0">
                <a:solidFill>
                  <a:srgbClr val="0D1B2A"/>
                </a:solidFill>
                <a:latin typeface="Calibri (Body)"/>
              </a:rPr>
              <a:t>vấn</a:t>
            </a:r>
            <a:r>
              <a:rPr lang="en-US" sz="1050" dirty="0" smtClean="0">
                <a:solidFill>
                  <a:srgbClr val="0D1B2A"/>
                </a:solidFill>
                <a:latin typeface="Calibri (Body)"/>
              </a:rPr>
              <a:t> </a:t>
            </a:r>
            <a:r>
              <a:rPr lang="en-US" sz="1050" dirty="0" err="1" smtClean="0">
                <a:solidFill>
                  <a:srgbClr val="0D1B2A"/>
                </a:solidFill>
                <a:latin typeface="Calibri (Body)"/>
              </a:rPr>
              <a:t>số</a:t>
            </a:r>
            <a:r>
              <a:rPr lang="en-US" sz="1050" dirty="0" smtClean="0">
                <a:solidFill>
                  <a:srgbClr val="0D1B2A"/>
                </a:solidFill>
                <a:latin typeface="Calibri (Body)"/>
              </a:rPr>
              <a:t> </a:t>
            </a:r>
            <a:r>
              <a:rPr lang="en-US" sz="1050" dirty="0" err="1" smtClean="0">
                <a:solidFill>
                  <a:srgbClr val="0D1B2A"/>
                </a:solidFill>
                <a:latin typeface="Calibri (Body)"/>
              </a:rPr>
              <a:t>lượng</a:t>
            </a:r>
            <a:r>
              <a:rPr lang="en-US" sz="1050" dirty="0" smtClean="0">
                <a:solidFill>
                  <a:srgbClr val="0D1B2A"/>
                </a:solidFill>
                <a:latin typeface="Calibri (Body)"/>
              </a:rPr>
              <a:t> replica </a:t>
            </a:r>
            <a:r>
              <a:rPr lang="en-US" sz="1050" dirty="0" err="1" smtClean="0">
                <a:solidFill>
                  <a:srgbClr val="0D1B2A"/>
                </a:solidFill>
                <a:latin typeface="Calibri (Body)"/>
              </a:rPr>
              <a:t>hiên</a:t>
            </a:r>
            <a:r>
              <a:rPr lang="en-US" sz="1050" dirty="0" smtClean="0">
                <a:solidFill>
                  <a:srgbClr val="0D1B2A"/>
                </a:solidFill>
                <a:latin typeface="Calibri (Body)"/>
              </a:rPr>
              <a:t> </a:t>
            </a:r>
            <a:r>
              <a:rPr lang="en-US" sz="1050" dirty="0" err="1" smtClean="0">
                <a:solidFill>
                  <a:srgbClr val="0D1B2A"/>
                </a:solidFill>
                <a:latin typeface="Calibri (Body)"/>
              </a:rPr>
              <a:t>tại</a:t>
            </a:r>
            <a:r>
              <a:rPr lang="en-US" sz="1050" dirty="0" smtClean="0">
                <a:solidFill>
                  <a:srgbClr val="0D1B2A"/>
                </a:solidFill>
                <a:latin typeface="Calibri (Body)"/>
              </a:rPr>
              <a:t> </a:t>
            </a:r>
            <a:r>
              <a:rPr lang="en-US" sz="1050" dirty="0" err="1" smtClean="0">
                <a:solidFill>
                  <a:srgbClr val="0D1B2A"/>
                </a:solidFill>
                <a:latin typeface="Calibri (Body)"/>
              </a:rPr>
              <a:t>thông</a:t>
            </a:r>
            <a:r>
              <a:rPr lang="en-US" sz="1050" dirty="0" smtClean="0">
                <a:solidFill>
                  <a:srgbClr val="0D1B2A"/>
                </a:solidFill>
                <a:latin typeface="Calibri (Body)"/>
              </a:rPr>
              <a:t> qua </a:t>
            </a:r>
            <a:r>
              <a:rPr lang="en-US" sz="1050" dirty="0" err="1" smtClean="0">
                <a:solidFill>
                  <a:srgbClr val="0D1B2A"/>
                </a:solidFill>
                <a:latin typeface="Calibri (Body)"/>
              </a:rPr>
              <a:t>thăm</a:t>
            </a:r>
            <a:r>
              <a:rPr lang="en-US" sz="1050" dirty="0" smtClean="0">
                <a:solidFill>
                  <a:srgbClr val="0D1B2A"/>
                </a:solidFill>
                <a:latin typeface="Calibri (Body)"/>
              </a:rPr>
              <a:t> </a:t>
            </a:r>
            <a:r>
              <a:rPr lang="en-US" sz="1050" dirty="0" err="1" smtClean="0">
                <a:solidFill>
                  <a:srgbClr val="0D1B2A"/>
                </a:solidFill>
                <a:latin typeface="Calibri (Body)"/>
              </a:rPr>
              <a:t>dò</a:t>
            </a:r>
            <a:r>
              <a:rPr lang="en-US" sz="1050" dirty="0" smtClean="0">
                <a:solidFill>
                  <a:srgbClr val="0D1B2A"/>
                </a:solidFill>
                <a:latin typeface="Calibri (Body)"/>
              </a:rPr>
              <a:t> </a:t>
            </a:r>
            <a:r>
              <a:rPr lang="en-US" sz="1050" dirty="0" err="1" smtClean="0">
                <a:solidFill>
                  <a:srgbClr val="0D1B2A"/>
                </a:solidFill>
                <a:latin typeface="Calibri (Body)"/>
              </a:rPr>
              <a:t>hệ</a:t>
            </a:r>
            <a:r>
              <a:rPr lang="en-US" sz="1050" dirty="0" smtClean="0">
                <a:solidFill>
                  <a:srgbClr val="0D1B2A"/>
                </a:solidFill>
                <a:latin typeface="Calibri (Body)"/>
              </a:rPr>
              <a:t> </a:t>
            </a:r>
            <a:r>
              <a:rPr lang="en-US" sz="1050" dirty="0" err="1" smtClean="0">
                <a:solidFill>
                  <a:srgbClr val="0D1B2A"/>
                </a:solidFill>
                <a:latin typeface="Calibri (Body)"/>
              </a:rPr>
              <a:t>thống</a:t>
            </a:r>
            <a:endParaRPr lang="en-US" sz="1050" dirty="0" smtClean="0">
              <a:solidFill>
                <a:srgbClr val="0D1B2A"/>
              </a:solidFill>
              <a:latin typeface="Calibri (Body)"/>
            </a:endParaRPr>
          </a:p>
          <a:p>
            <a:pPr marL="171450" indent="-171450">
              <a:buFontTx/>
              <a:buChar char="-"/>
            </a:pPr>
            <a:r>
              <a:rPr lang="en-US" sz="1050" dirty="0" err="1" smtClean="0">
                <a:solidFill>
                  <a:srgbClr val="0D1B2A"/>
                </a:solidFill>
                <a:latin typeface="Calibri (Body)"/>
              </a:rPr>
              <a:t>Quyết</a:t>
            </a:r>
            <a:r>
              <a:rPr lang="en-US" sz="1050" dirty="0" smtClean="0">
                <a:solidFill>
                  <a:srgbClr val="0D1B2A"/>
                </a:solidFill>
                <a:latin typeface="Calibri (Body)"/>
              </a:rPr>
              <a:t> </a:t>
            </a:r>
            <a:r>
              <a:rPr lang="en-US" sz="1050" dirty="0" err="1" smtClean="0">
                <a:solidFill>
                  <a:srgbClr val="0D1B2A"/>
                </a:solidFill>
                <a:latin typeface="Calibri (Body)"/>
              </a:rPr>
              <a:t>định</a:t>
            </a:r>
            <a:r>
              <a:rPr lang="en-US" sz="1050" dirty="0" smtClean="0">
                <a:solidFill>
                  <a:srgbClr val="0D1B2A"/>
                </a:solidFill>
                <a:latin typeface="Calibri (Body)"/>
              </a:rPr>
              <a:t>: </a:t>
            </a:r>
            <a:r>
              <a:rPr lang="en-US" sz="1050" dirty="0" err="1" smtClean="0">
                <a:solidFill>
                  <a:srgbClr val="0D1B2A"/>
                </a:solidFill>
                <a:latin typeface="Calibri (Body)"/>
              </a:rPr>
              <a:t>tấn</a:t>
            </a:r>
            <a:r>
              <a:rPr lang="en-US" sz="1050" dirty="0" smtClean="0">
                <a:solidFill>
                  <a:srgbClr val="0D1B2A"/>
                </a:solidFill>
                <a:latin typeface="Calibri (Body)"/>
              </a:rPr>
              <a:t> </a:t>
            </a:r>
            <a:r>
              <a:rPr lang="en-US" sz="1050" dirty="0" err="1" smtClean="0">
                <a:solidFill>
                  <a:srgbClr val="0D1B2A"/>
                </a:solidFill>
                <a:latin typeface="Calibri (Body)"/>
              </a:rPr>
              <a:t>công</a:t>
            </a:r>
            <a:r>
              <a:rPr lang="en-US" sz="1050" dirty="0" smtClean="0">
                <a:solidFill>
                  <a:srgbClr val="0D1B2A"/>
                </a:solidFill>
                <a:latin typeface="Calibri (Body)"/>
              </a:rPr>
              <a:t> burst </a:t>
            </a:r>
            <a:r>
              <a:rPr lang="en-US" sz="1050" dirty="0" err="1" smtClean="0">
                <a:solidFill>
                  <a:srgbClr val="0D1B2A"/>
                </a:solidFill>
                <a:latin typeface="Calibri (Body)"/>
              </a:rPr>
              <a:t>tải</a:t>
            </a:r>
            <a:r>
              <a:rPr lang="en-US" sz="1050" dirty="0" smtClean="0">
                <a:solidFill>
                  <a:srgbClr val="0D1B2A"/>
                </a:solidFill>
                <a:latin typeface="Calibri (Body)"/>
              </a:rPr>
              <a:t> </a:t>
            </a:r>
            <a:r>
              <a:rPr lang="en-US" sz="1050" dirty="0" err="1" smtClean="0">
                <a:solidFill>
                  <a:srgbClr val="0D1B2A"/>
                </a:solidFill>
                <a:latin typeface="Calibri (Body)"/>
              </a:rPr>
              <a:t>khi</a:t>
            </a:r>
            <a:r>
              <a:rPr lang="en-US" sz="1050" dirty="0" smtClean="0">
                <a:solidFill>
                  <a:srgbClr val="0D1B2A"/>
                </a:solidFill>
                <a:latin typeface="Calibri (Body)"/>
              </a:rPr>
              <a:t> </a:t>
            </a:r>
            <a:r>
              <a:rPr lang="en-US" sz="1050" dirty="0" err="1" smtClean="0">
                <a:solidFill>
                  <a:srgbClr val="0D1B2A"/>
                </a:solidFill>
                <a:latin typeface="Calibri (Body)"/>
              </a:rPr>
              <a:t>phát</a:t>
            </a:r>
            <a:r>
              <a:rPr lang="en-US" sz="1050" dirty="0" smtClean="0">
                <a:solidFill>
                  <a:srgbClr val="0D1B2A"/>
                </a:solidFill>
                <a:latin typeface="Calibri (Body)"/>
              </a:rPr>
              <a:t> </a:t>
            </a:r>
            <a:r>
              <a:rPr lang="en-US" sz="1050" dirty="0" err="1" smtClean="0">
                <a:solidFill>
                  <a:srgbClr val="0D1B2A"/>
                </a:solidFill>
                <a:latin typeface="Calibri (Body)"/>
              </a:rPr>
              <a:t>hiện</a:t>
            </a:r>
            <a:r>
              <a:rPr lang="en-US" sz="1050" dirty="0" smtClean="0">
                <a:solidFill>
                  <a:srgbClr val="0D1B2A"/>
                </a:solidFill>
                <a:latin typeface="Calibri (Body)"/>
              </a:rPr>
              <a:t> </a:t>
            </a:r>
            <a:r>
              <a:rPr lang="en-US" sz="1050" dirty="0" err="1" smtClean="0">
                <a:solidFill>
                  <a:srgbClr val="0D1B2A"/>
                </a:solidFill>
                <a:latin typeface="Calibri (Body)"/>
              </a:rPr>
              <a:t>cụm</a:t>
            </a:r>
            <a:r>
              <a:rPr lang="en-US" sz="1050" dirty="0" smtClean="0">
                <a:solidFill>
                  <a:srgbClr val="0D1B2A"/>
                </a:solidFill>
                <a:latin typeface="Calibri (Body)"/>
              </a:rPr>
              <a:t> </a:t>
            </a:r>
            <a:r>
              <a:rPr lang="en-US" sz="1050" dirty="0" err="1" smtClean="0">
                <a:solidFill>
                  <a:srgbClr val="0D1B2A"/>
                </a:solidFill>
                <a:latin typeface="Calibri (Body)"/>
              </a:rPr>
              <a:t>đang</a:t>
            </a:r>
            <a:r>
              <a:rPr lang="en-US" sz="1050" dirty="0" smtClean="0">
                <a:solidFill>
                  <a:srgbClr val="0D1B2A"/>
                </a:solidFill>
                <a:latin typeface="Calibri (Body)"/>
              </a:rPr>
              <a:t> </a:t>
            </a:r>
            <a:r>
              <a:rPr lang="en-US" sz="1050" dirty="0" err="1" smtClean="0">
                <a:solidFill>
                  <a:srgbClr val="0D1B2A"/>
                </a:solidFill>
                <a:latin typeface="Calibri (Body)"/>
              </a:rPr>
              <a:t>thu</a:t>
            </a:r>
            <a:r>
              <a:rPr lang="en-US" sz="1050" dirty="0" smtClean="0">
                <a:solidFill>
                  <a:srgbClr val="0D1B2A"/>
                </a:solidFill>
                <a:latin typeface="Calibri (Body)"/>
              </a:rPr>
              <a:t> </a:t>
            </a:r>
            <a:r>
              <a:rPr lang="en-US" sz="1050" dirty="0" err="1" smtClean="0">
                <a:solidFill>
                  <a:srgbClr val="0D1B2A"/>
                </a:solidFill>
                <a:latin typeface="Calibri (Body)"/>
              </a:rPr>
              <a:t>hẹp</a:t>
            </a:r>
            <a:r>
              <a:rPr lang="en-US" sz="1050" dirty="0" smtClean="0">
                <a:solidFill>
                  <a:srgbClr val="0D1B2A"/>
                </a:solidFill>
                <a:latin typeface="Calibri (Body)"/>
              </a:rPr>
              <a:t> </a:t>
            </a:r>
            <a:r>
              <a:rPr lang="en-US" sz="1050" dirty="0" err="1" smtClean="0">
                <a:solidFill>
                  <a:srgbClr val="0D1B2A"/>
                </a:solidFill>
                <a:latin typeface="Calibri (Body)"/>
              </a:rPr>
              <a:t>quy</a:t>
            </a:r>
            <a:r>
              <a:rPr lang="en-US" sz="1050" dirty="0" smtClean="0">
                <a:solidFill>
                  <a:srgbClr val="0D1B2A"/>
                </a:solidFill>
                <a:latin typeface="Calibri (Body)"/>
              </a:rPr>
              <a:t> </a:t>
            </a:r>
            <a:r>
              <a:rPr lang="en-US" sz="1050" dirty="0" err="1" smtClean="0">
                <a:solidFill>
                  <a:srgbClr val="0D1B2A"/>
                </a:solidFill>
                <a:latin typeface="Calibri (Body)"/>
              </a:rPr>
              <a:t>mô</a:t>
            </a:r>
            <a:r>
              <a:rPr lang="en-US" sz="1050" dirty="0" smtClean="0">
                <a:solidFill>
                  <a:srgbClr val="0D1B2A"/>
                </a:solidFill>
                <a:latin typeface="Calibri (Body)"/>
              </a:rPr>
              <a:t> replica </a:t>
            </a:r>
            <a:r>
              <a:rPr lang="en-US" sz="1050" dirty="0" err="1" smtClean="0">
                <a:solidFill>
                  <a:srgbClr val="0D1B2A"/>
                </a:solidFill>
                <a:latin typeface="Calibri (Body)"/>
              </a:rPr>
              <a:t>hoặc</a:t>
            </a:r>
            <a:r>
              <a:rPr lang="en-US" sz="1050" dirty="0" smtClean="0">
                <a:solidFill>
                  <a:srgbClr val="0D1B2A"/>
                </a:solidFill>
                <a:latin typeface="Calibri (Body)"/>
              </a:rPr>
              <a:t> </a:t>
            </a:r>
            <a:r>
              <a:rPr lang="en-US" sz="1050" dirty="0" err="1" smtClean="0">
                <a:solidFill>
                  <a:srgbClr val="0D1B2A"/>
                </a:solidFill>
                <a:latin typeface="Calibri (Body)"/>
              </a:rPr>
              <a:t>lượng</a:t>
            </a:r>
            <a:r>
              <a:rPr lang="en-US" sz="1050" dirty="0" smtClean="0">
                <a:solidFill>
                  <a:srgbClr val="0D1B2A"/>
                </a:solidFill>
                <a:latin typeface="Calibri (Body)"/>
              </a:rPr>
              <a:t> CPU </a:t>
            </a:r>
            <a:r>
              <a:rPr lang="en-US" sz="1050" dirty="0" err="1" smtClean="0">
                <a:solidFill>
                  <a:srgbClr val="0D1B2A"/>
                </a:solidFill>
                <a:latin typeface="Calibri (Body)"/>
              </a:rPr>
              <a:t>gần</a:t>
            </a:r>
            <a:r>
              <a:rPr lang="en-US" sz="1050" dirty="0" smtClean="0">
                <a:solidFill>
                  <a:srgbClr val="0D1B2A"/>
                </a:solidFill>
                <a:latin typeface="Calibri (Body)"/>
              </a:rPr>
              <a:t> </a:t>
            </a:r>
            <a:r>
              <a:rPr lang="en-US" sz="1050" dirty="0" err="1" smtClean="0">
                <a:solidFill>
                  <a:srgbClr val="0D1B2A"/>
                </a:solidFill>
                <a:latin typeface="Calibri (Body)"/>
              </a:rPr>
              <a:t>chạm</a:t>
            </a:r>
            <a:r>
              <a:rPr lang="en-US" sz="1050" dirty="0" smtClean="0">
                <a:solidFill>
                  <a:srgbClr val="0D1B2A"/>
                </a:solidFill>
                <a:latin typeface="Calibri (Body)"/>
              </a:rPr>
              <a:t> </a:t>
            </a:r>
            <a:r>
              <a:rPr lang="en-US" sz="1050" dirty="0" err="1" smtClean="0">
                <a:solidFill>
                  <a:srgbClr val="0D1B2A"/>
                </a:solidFill>
                <a:latin typeface="Calibri (Body)"/>
              </a:rPr>
              <a:t>mức</a:t>
            </a:r>
            <a:r>
              <a:rPr lang="en-US" sz="1050" dirty="0" smtClean="0">
                <a:solidFill>
                  <a:srgbClr val="0D1B2A"/>
                </a:solidFill>
                <a:latin typeface="Calibri (Body)"/>
              </a:rPr>
              <a:t> </a:t>
            </a:r>
            <a:r>
              <a:rPr lang="en-US" sz="1050" dirty="0" err="1" smtClean="0">
                <a:solidFill>
                  <a:srgbClr val="0D1B2A"/>
                </a:solidFill>
                <a:latin typeface="Calibri (Body)"/>
              </a:rPr>
              <a:t>ngưỡng</a:t>
            </a:r>
            <a:r>
              <a:rPr lang="en-US" sz="1050" dirty="0" smtClean="0">
                <a:solidFill>
                  <a:srgbClr val="0D1B2A"/>
                </a:solidFill>
                <a:latin typeface="Calibri (Body)"/>
              </a:rPr>
              <a:t> </a:t>
            </a:r>
            <a:r>
              <a:rPr lang="en-US" sz="1050" dirty="0" err="1" smtClean="0">
                <a:solidFill>
                  <a:srgbClr val="0D1B2A"/>
                </a:solidFill>
                <a:latin typeface="Calibri (Body)"/>
              </a:rPr>
              <a:t>để</a:t>
            </a:r>
            <a:r>
              <a:rPr lang="en-US" sz="1050" dirty="0" smtClean="0">
                <a:solidFill>
                  <a:srgbClr val="0D1B2A"/>
                </a:solidFill>
                <a:latin typeface="Calibri (Body)"/>
              </a:rPr>
              <a:t> </a:t>
            </a:r>
            <a:r>
              <a:rPr lang="en-US" sz="1050" dirty="0" err="1" smtClean="0">
                <a:solidFill>
                  <a:srgbClr val="0D1B2A"/>
                </a:solidFill>
                <a:latin typeface="Calibri (Body)"/>
              </a:rPr>
              <a:t>hệ</a:t>
            </a:r>
            <a:r>
              <a:rPr lang="en-US" sz="1050" dirty="0" smtClean="0">
                <a:solidFill>
                  <a:srgbClr val="0D1B2A"/>
                </a:solidFill>
                <a:latin typeface="Calibri (Body)"/>
              </a:rPr>
              <a:t> </a:t>
            </a:r>
            <a:r>
              <a:rPr lang="en-US" sz="1050" dirty="0" err="1" smtClean="0">
                <a:solidFill>
                  <a:srgbClr val="0D1B2A"/>
                </a:solidFill>
                <a:latin typeface="Calibri (Body)"/>
              </a:rPr>
              <a:t>thống</a:t>
            </a:r>
            <a:r>
              <a:rPr lang="en-US" sz="1050" dirty="0" smtClean="0">
                <a:solidFill>
                  <a:srgbClr val="0D1B2A"/>
                </a:solidFill>
                <a:latin typeface="Calibri (Body)"/>
              </a:rPr>
              <a:t> scale them pod.</a:t>
            </a:r>
          </a:p>
          <a:p>
            <a:pPr marL="171450" indent="-171450">
              <a:buFontTx/>
              <a:buChar char="-"/>
            </a:pPr>
            <a:r>
              <a:rPr lang="en-US" sz="1050" dirty="0" err="1" smtClean="0">
                <a:latin typeface="Calibri (Body)"/>
              </a:rPr>
              <a:t>Hành</a:t>
            </a:r>
            <a:r>
              <a:rPr lang="en-US" sz="1050" dirty="0" smtClean="0">
                <a:latin typeface="Calibri (Body)"/>
              </a:rPr>
              <a:t> </a:t>
            </a:r>
            <a:r>
              <a:rPr lang="en-US" sz="1050" dirty="0" err="1" smtClean="0">
                <a:latin typeface="Calibri (Body)"/>
              </a:rPr>
              <a:t>động</a:t>
            </a:r>
            <a:r>
              <a:rPr lang="en-US" sz="1050" dirty="0" smtClean="0">
                <a:latin typeface="Calibri (Body)"/>
              </a:rPr>
              <a:t>: </a:t>
            </a:r>
            <a:r>
              <a:rPr lang="en-US" sz="1050" dirty="0" err="1" smtClean="0">
                <a:latin typeface="Calibri (Body)"/>
              </a:rPr>
              <a:t>Tấn</a:t>
            </a:r>
            <a:r>
              <a:rPr lang="en-US" sz="1050" dirty="0" smtClean="0">
                <a:latin typeface="Calibri (Body)"/>
              </a:rPr>
              <a:t> </a:t>
            </a:r>
            <a:r>
              <a:rPr lang="en-US" sz="1050" dirty="0" err="1" smtClean="0">
                <a:latin typeface="Calibri (Body)"/>
              </a:rPr>
              <a:t>công</a:t>
            </a:r>
            <a:r>
              <a:rPr lang="en-US" sz="1050" dirty="0" smtClean="0">
                <a:latin typeface="Calibri (Body)"/>
              </a:rPr>
              <a:t> </a:t>
            </a:r>
            <a:r>
              <a:rPr lang="en-US" sz="1050" dirty="0" err="1" smtClean="0">
                <a:latin typeface="Calibri (Body)"/>
              </a:rPr>
              <a:t>dồn</a:t>
            </a:r>
            <a:r>
              <a:rPr lang="en-US" sz="1050" dirty="0" smtClean="0">
                <a:latin typeface="Calibri (Body)"/>
              </a:rPr>
              <a:t> </a:t>
            </a:r>
            <a:r>
              <a:rPr lang="en-US" sz="1050" dirty="0" err="1" smtClean="0">
                <a:latin typeface="Calibri (Body)"/>
              </a:rPr>
              <a:t>dập</a:t>
            </a:r>
            <a:r>
              <a:rPr lang="en-US" sz="1050" dirty="0" smtClean="0">
                <a:latin typeface="Calibri (Body)"/>
              </a:rPr>
              <a:t> </a:t>
            </a:r>
            <a:r>
              <a:rPr lang="en-US" sz="1050" dirty="0" err="1" smtClean="0">
                <a:latin typeface="Calibri (Body)"/>
              </a:rPr>
              <a:t>vào</a:t>
            </a:r>
            <a:r>
              <a:rPr lang="en-US" sz="1050" dirty="0" smtClean="0">
                <a:latin typeface="Calibri (Body)"/>
              </a:rPr>
              <a:t> endpoint </a:t>
            </a:r>
            <a:r>
              <a:rPr lang="en-US" sz="1050" dirty="0" err="1" smtClean="0">
                <a:latin typeface="Calibri (Body)"/>
              </a:rPr>
              <a:t>tốn</a:t>
            </a:r>
            <a:r>
              <a:rPr lang="en-US" sz="1050" dirty="0" smtClean="0">
                <a:latin typeface="Calibri (Body)"/>
              </a:rPr>
              <a:t> CPU </a:t>
            </a:r>
            <a:r>
              <a:rPr lang="en-US" sz="1050" dirty="0" err="1" smtClean="0">
                <a:latin typeface="Calibri (Body)"/>
              </a:rPr>
              <a:t>nhất</a:t>
            </a:r>
            <a:r>
              <a:rPr lang="en-US" sz="1050" dirty="0" smtClean="0">
                <a:latin typeface="Calibri (Body)"/>
              </a:rPr>
              <a:t> </a:t>
            </a:r>
            <a:endParaRPr lang="en-US" sz="1050" dirty="0">
              <a:latin typeface="Calibri (Bod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F47B20"/>
          </a:solidFill>
          <a:ln w="12700">
            <a:solidFill>
              <a:srgbClr val="F47B20"/>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Kiến trúc môi trường </a:t>
            </a:r>
            <a:r>
              <a:rPr lang="en-US" sz="2200" b="1" dirty="0" err="1">
                <a:solidFill>
                  <a:srgbClr val="FFFFFF"/>
                </a:solidFill>
              </a:rPr>
              <a:t>thử</a:t>
            </a:r>
            <a:r>
              <a:rPr lang="en-US" sz="2200" b="1" dirty="0">
                <a:solidFill>
                  <a:srgbClr val="FFFFFF"/>
                </a:solidFill>
              </a:rPr>
              <a:t> </a:t>
            </a:r>
            <a:r>
              <a:rPr lang="en-US" sz="2200" b="1" dirty="0" err="1" smtClean="0">
                <a:solidFill>
                  <a:srgbClr val="FFFFFF"/>
                </a:solidFill>
              </a:rPr>
              <a:t>nghiệm</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8595360" cy="230428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0" name="Text 8"/>
          <p:cNvSpPr/>
          <p:nvPr/>
        </p:nvSpPr>
        <p:spPr>
          <a:xfrm>
            <a:off x="457200" y="896112"/>
            <a:ext cx="8229600" cy="1005840"/>
          </a:xfrm>
          <a:prstGeom prst="rect">
            <a:avLst/>
          </a:prstGeom>
          <a:noFill/>
          <a:ln/>
        </p:spPr>
        <p:txBody>
          <a:bodyPr wrap="square" lIns="0" tIns="0" rIns="0" bIns="0" rtlCol="0" anchor="b"/>
          <a:lstStyle/>
          <a:p>
            <a:pPr marL="0" indent="0" algn="ctr">
              <a:buNone/>
            </a:pPr>
            <a:endParaRPr lang="en-US" sz="1300" dirty="0"/>
          </a:p>
        </p:txBody>
      </p:sp>
      <p:sp>
        <p:nvSpPr>
          <p:cNvPr id="12" name="Shape 10"/>
          <p:cNvSpPr/>
          <p:nvPr/>
        </p:nvSpPr>
        <p:spPr>
          <a:xfrm>
            <a:off x="274320"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3" name="Shape 11"/>
          <p:cNvSpPr/>
          <p:nvPr/>
        </p:nvSpPr>
        <p:spPr>
          <a:xfrm>
            <a:off x="274320" y="3218688"/>
            <a:ext cx="54864" cy="1554480"/>
          </a:xfrm>
          <a:prstGeom prst="rect">
            <a:avLst/>
          </a:prstGeom>
          <a:solidFill>
            <a:srgbClr val="0D1B2A"/>
          </a:solidFill>
          <a:ln w="12700">
            <a:solidFill>
              <a:srgbClr val="0D1B2A"/>
            </a:solidFill>
            <a:prstDash val="solid"/>
          </a:ln>
        </p:spPr>
      </p:sp>
      <p:sp>
        <p:nvSpPr>
          <p:cNvPr id="14" name="Text 12"/>
          <p:cNvSpPr/>
          <p:nvPr/>
        </p:nvSpPr>
        <p:spPr>
          <a:xfrm>
            <a:off x="384048" y="3264408"/>
            <a:ext cx="1828800" cy="384048"/>
          </a:xfrm>
          <a:prstGeom prst="rect">
            <a:avLst/>
          </a:prstGeom>
          <a:noFill/>
          <a:ln/>
        </p:spPr>
        <p:txBody>
          <a:bodyPr wrap="square" lIns="0" tIns="0" rIns="0" bIns="0" rtlCol="0" anchor="ctr"/>
          <a:lstStyle/>
          <a:p>
            <a:pPr marL="0" indent="0">
              <a:buNone/>
            </a:pPr>
            <a:r>
              <a:rPr lang="en-US" sz="1050" b="1" dirty="0">
                <a:solidFill>
                  <a:srgbClr val="0D1B2A"/>
                </a:solidFill>
              </a:rPr>
              <a:t>Kind Cluster</a:t>
            </a:r>
            <a:endParaRPr lang="en-US" sz="1050" dirty="0"/>
          </a:p>
        </p:txBody>
      </p:sp>
      <p:sp>
        <p:nvSpPr>
          <p:cNvPr id="15" name="Text 13"/>
          <p:cNvSpPr/>
          <p:nvPr/>
        </p:nvSpPr>
        <p:spPr>
          <a:xfrm>
            <a:off x="384048"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1 control-plane</a:t>
            </a:r>
            <a:endParaRPr lang="en-US" sz="950" dirty="0"/>
          </a:p>
          <a:p>
            <a:pPr marL="0" indent="0">
              <a:buNone/>
            </a:pPr>
            <a:r>
              <a:rPr lang="en-US" sz="950" dirty="0">
                <a:solidFill>
                  <a:srgbClr val="0D1B2A"/>
                </a:solidFill>
              </a:rPr>
              <a:t>+ 2 workers</a:t>
            </a:r>
            <a:endParaRPr lang="en-US" sz="950" dirty="0"/>
          </a:p>
          <a:p>
            <a:pPr marL="0" indent="0">
              <a:buNone/>
            </a:pPr>
            <a:r>
              <a:rPr lang="en-US" sz="950" dirty="0">
                <a:solidFill>
                  <a:srgbClr val="0D1B2A"/>
                </a:solidFill>
              </a:rPr>
              <a:t>(Docker containers)</a:t>
            </a:r>
            <a:endParaRPr lang="en-US" sz="950" dirty="0"/>
          </a:p>
        </p:txBody>
      </p:sp>
      <p:sp>
        <p:nvSpPr>
          <p:cNvPr id="16" name="Shape 14"/>
          <p:cNvSpPr/>
          <p:nvPr/>
        </p:nvSpPr>
        <p:spPr>
          <a:xfrm>
            <a:off x="2450592"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7" name="Shape 15"/>
          <p:cNvSpPr/>
          <p:nvPr/>
        </p:nvSpPr>
        <p:spPr>
          <a:xfrm>
            <a:off x="2450592" y="3218688"/>
            <a:ext cx="54864" cy="1554480"/>
          </a:xfrm>
          <a:prstGeom prst="rect">
            <a:avLst/>
          </a:prstGeom>
          <a:solidFill>
            <a:srgbClr val="0096B7"/>
          </a:solidFill>
          <a:ln w="12700">
            <a:solidFill>
              <a:srgbClr val="0096B7"/>
            </a:solidFill>
            <a:prstDash val="solid"/>
          </a:ln>
        </p:spPr>
      </p:sp>
      <p:sp>
        <p:nvSpPr>
          <p:cNvPr id="18" name="Text 16"/>
          <p:cNvSpPr/>
          <p:nvPr/>
        </p:nvSpPr>
        <p:spPr>
          <a:xfrm>
            <a:off x="457200" y="868680"/>
            <a:ext cx="1828800" cy="384048"/>
          </a:xfrm>
          <a:prstGeom prst="rect">
            <a:avLst/>
          </a:prstGeom>
          <a:noFill/>
          <a:ln/>
        </p:spPr>
        <p:txBody>
          <a:bodyPr wrap="square" lIns="0" tIns="0" rIns="0" bIns="0" rtlCol="0" anchor="ctr"/>
          <a:lstStyle/>
          <a:p>
            <a:pPr marL="0" indent="0">
              <a:buNone/>
            </a:pPr>
            <a:r>
              <a:rPr lang="en-US" sz="1050" b="1" dirty="0" err="1" smtClean="0"/>
              <a:t>Sơ</a:t>
            </a:r>
            <a:r>
              <a:rPr lang="en-US" sz="1050" b="1" dirty="0" smtClean="0"/>
              <a:t> </a:t>
            </a:r>
            <a:r>
              <a:rPr lang="en-US" sz="1050" b="1" dirty="0" err="1" smtClean="0"/>
              <a:t>đồ</a:t>
            </a:r>
            <a:r>
              <a:rPr lang="en-US" sz="1050" b="1" dirty="0" smtClean="0"/>
              <a:t> </a:t>
            </a:r>
            <a:r>
              <a:rPr lang="en-US" sz="1050" b="1" dirty="0" err="1" smtClean="0"/>
              <a:t>kiến</a:t>
            </a:r>
            <a:r>
              <a:rPr lang="en-US" sz="1050" b="1" dirty="0" smtClean="0"/>
              <a:t> </a:t>
            </a:r>
            <a:r>
              <a:rPr lang="en-US" sz="1050" b="1" dirty="0" err="1" smtClean="0"/>
              <a:t>trúc</a:t>
            </a:r>
            <a:r>
              <a:rPr lang="en-US" sz="1050" b="1" dirty="0" smtClean="0"/>
              <a:t> </a:t>
            </a:r>
            <a:r>
              <a:rPr lang="en-US" sz="1050" b="1" dirty="0" err="1" smtClean="0"/>
              <a:t>tổng</a:t>
            </a:r>
            <a:r>
              <a:rPr lang="en-US" sz="1050" b="1" dirty="0" smtClean="0"/>
              <a:t> </a:t>
            </a:r>
            <a:r>
              <a:rPr lang="en-US" sz="1050" b="1" dirty="0" err="1" smtClean="0"/>
              <a:t>thể</a:t>
            </a:r>
            <a:endParaRPr lang="en-US" sz="1050" dirty="0"/>
          </a:p>
        </p:txBody>
      </p:sp>
      <p:sp>
        <p:nvSpPr>
          <p:cNvPr id="19" name="Text 17"/>
          <p:cNvSpPr/>
          <p:nvPr/>
        </p:nvSpPr>
        <p:spPr>
          <a:xfrm>
            <a:off x="2560320"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a:t>
            </a:r>
            <a:r>
              <a:rPr lang="en-US" sz="950" dirty="0" smtClean="0">
                <a:solidFill>
                  <a:srgbClr val="0D1B2A"/>
                </a:solidFill>
              </a:rPr>
              <a:t> </a:t>
            </a:r>
            <a:r>
              <a:rPr lang="en-US" sz="950" dirty="0">
                <a:solidFill>
                  <a:srgbClr val="0D1B2A"/>
                </a:solidFill>
              </a:rPr>
              <a:t>endpoints:</a:t>
            </a:r>
            <a:endParaRPr lang="en-US" sz="950" dirty="0"/>
          </a:p>
          <a:p>
            <a:pPr marL="0" indent="0">
              <a:buNone/>
            </a:pPr>
            <a:r>
              <a:rPr lang="en-US" sz="950" dirty="0">
                <a:solidFill>
                  <a:srgbClr val="0D1B2A"/>
                </a:solidFill>
              </a:rPr>
              <a:t>/buy </a:t>
            </a:r>
            <a:r>
              <a:rPr lang="en-US" sz="950" dirty="0" smtClean="0">
                <a:solidFill>
                  <a:srgbClr val="0D1B2A"/>
                </a:solidFill>
              </a:rPr>
              <a:t>– </a:t>
            </a:r>
            <a:r>
              <a:rPr lang="en-US" sz="950" dirty="0" err="1" smtClean="0">
                <a:solidFill>
                  <a:srgbClr val="0D1B2A"/>
                </a:solidFill>
              </a:rPr>
              <a:t>Vòng</a:t>
            </a:r>
            <a:r>
              <a:rPr lang="en-US" sz="950" dirty="0" smtClean="0">
                <a:solidFill>
                  <a:srgbClr val="0D1B2A"/>
                </a:solidFill>
              </a:rPr>
              <a:t> </a:t>
            </a:r>
            <a:r>
              <a:rPr lang="en-US" sz="950" dirty="0" err="1" smtClean="0">
                <a:solidFill>
                  <a:srgbClr val="0D1B2A"/>
                </a:solidFill>
              </a:rPr>
              <a:t>lặp</a:t>
            </a:r>
            <a:r>
              <a:rPr lang="en-US" sz="950" dirty="0" smtClean="0">
                <a:solidFill>
                  <a:srgbClr val="0D1B2A"/>
                </a:solidFill>
              </a:rPr>
              <a:t> </a:t>
            </a:r>
            <a:r>
              <a:rPr lang="en-US" sz="950" dirty="0" err="1" smtClean="0">
                <a:solidFill>
                  <a:srgbClr val="0D1B2A"/>
                </a:solidFill>
              </a:rPr>
              <a:t>tính</a:t>
            </a:r>
            <a:r>
              <a:rPr lang="en-US" sz="950" dirty="0" smtClean="0">
                <a:solidFill>
                  <a:srgbClr val="0D1B2A"/>
                </a:solidFill>
              </a:rPr>
              <a:t> </a:t>
            </a:r>
            <a:r>
              <a:rPr lang="en-US" sz="950" dirty="0" err="1" smtClean="0">
                <a:solidFill>
                  <a:srgbClr val="0D1B2A"/>
                </a:solidFill>
              </a:rPr>
              <a:t>toán</a:t>
            </a:r>
            <a:r>
              <a:rPr lang="en-US" sz="950" dirty="0" smtClean="0">
                <a:solidFill>
                  <a:srgbClr val="0D1B2A"/>
                </a:solidFill>
              </a:rPr>
              <a:t>, </a:t>
            </a:r>
            <a:r>
              <a:rPr lang="en-US" sz="950" dirty="0" err="1" smtClean="0">
                <a:solidFill>
                  <a:srgbClr val="0D1B2A"/>
                </a:solidFill>
              </a:rPr>
              <a:t>tiêu</a:t>
            </a:r>
            <a:r>
              <a:rPr lang="en-US" sz="950" dirty="0" smtClean="0">
                <a:solidFill>
                  <a:srgbClr val="0D1B2A"/>
                </a:solidFill>
              </a:rPr>
              <a:t> </a:t>
            </a:r>
            <a:r>
              <a:rPr lang="en-US" sz="950" dirty="0" err="1" smtClean="0">
                <a:solidFill>
                  <a:srgbClr val="0D1B2A"/>
                </a:solidFill>
              </a:rPr>
              <a:t>hao</a:t>
            </a:r>
            <a:r>
              <a:rPr lang="en-US" sz="950" dirty="0" smtClean="0">
                <a:solidFill>
                  <a:srgbClr val="0D1B2A"/>
                </a:solidFill>
              </a:rPr>
              <a:t> CPU </a:t>
            </a:r>
            <a:r>
              <a:rPr lang="en-US" sz="950" dirty="0" err="1" smtClean="0">
                <a:solidFill>
                  <a:srgbClr val="0D1B2A"/>
                </a:solidFill>
              </a:rPr>
              <a:t>cao</a:t>
            </a:r>
            <a:endParaRPr lang="en-US" sz="950" dirty="0"/>
          </a:p>
          <a:p>
            <a:pPr marL="0" indent="0">
              <a:buNone/>
            </a:pPr>
            <a:r>
              <a:rPr lang="en-US" sz="950" dirty="0">
                <a:solidFill>
                  <a:srgbClr val="0D1B2A"/>
                </a:solidFill>
              </a:rPr>
              <a:t>/</a:t>
            </a:r>
            <a:r>
              <a:rPr lang="en-US" sz="950" dirty="0" smtClean="0">
                <a:solidFill>
                  <a:srgbClr val="0D1B2A"/>
                </a:solidFill>
              </a:rPr>
              <a:t>browse</a:t>
            </a:r>
            <a:r>
              <a:rPr lang="en-US" sz="950" dirty="0">
                <a:solidFill>
                  <a:srgbClr val="0D1B2A"/>
                </a:solidFill>
              </a:rPr>
              <a:t> </a:t>
            </a:r>
            <a:r>
              <a:rPr lang="en-US" sz="950" dirty="0" smtClean="0">
                <a:solidFill>
                  <a:srgbClr val="0D1B2A"/>
                </a:solidFill>
              </a:rPr>
              <a:t>– HTML </a:t>
            </a:r>
            <a:r>
              <a:rPr lang="en-US" sz="950" dirty="0" err="1" smtClean="0">
                <a:solidFill>
                  <a:srgbClr val="0D1B2A"/>
                </a:solidFill>
              </a:rPr>
              <a:t>tĩnh</a:t>
            </a:r>
            <a:r>
              <a:rPr lang="en-US" sz="950" dirty="0" smtClean="0">
                <a:solidFill>
                  <a:srgbClr val="0D1B2A"/>
                </a:solidFill>
              </a:rPr>
              <a:t>, </a:t>
            </a:r>
            <a:r>
              <a:rPr lang="en-US" sz="950" dirty="0" err="1" smtClean="0">
                <a:solidFill>
                  <a:srgbClr val="0D1B2A"/>
                </a:solidFill>
              </a:rPr>
              <a:t>tiêu</a:t>
            </a:r>
            <a:r>
              <a:rPr lang="en-US" sz="950" dirty="0" smtClean="0">
                <a:solidFill>
                  <a:srgbClr val="0D1B2A"/>
                </a:solidFill>
              </a:rPr>
              <a:t> </a:t>
            </a:r>
            <a:r>
              <a:rPr lang="en-US" sz="950" dirty="0" err="1" smtClean="0">
                <a:solidFill>
                  <a:srgbClr val="0D1B2A"/>
                </a:solidFill>
              </a:rPr>
              <a:t>hao</a:t>
            </a:r>
            <a:r>
              <a:rPr lang="en-US" sz="950" dirty="0" smtClean="0">
                <a:solidFill>
                  <a:srgbClr val="0D1B2A"/>
                </a:solidFill>
              </a:rPr>
              <a:t> </a:t>
            </a:r>
            <a:r>
              <a:rPr lang="en-US" sz="950" dirty="0" err="1" smtClean="0">
                <a:solidFill>
                  <a:srgbClr val="0D1B2A"/>
                </a:solidFill>
              </a:rPr>
              <a:t>nhẹ</a:t>
            </a:r>
            <a:endParaRPr lang="en-US" sz="950" dirty="0"/>
          </a:p>
        </p:txBody>
      </p:sp>
      <p:sp>
        <p:nvSpPr>
          <p:cNvPr id="20" name="Shape 18"/>
          <p:cNvSpPr/>
          <p:nvPr/>
        </p:nvSpPr>
        <p:spPr>
          <a:xfrm>
            <a:off x="4626864"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1" name="Shape 19"/>
          <p:cNvSpPr/>
          <p:nvPr/>
        </p:nvSpPr>
        <p:spPr>
          <a:xfrm>
            <a:off x="4626864" y="3218688"/>
            <a:ext cx="54864" cy="1554480"/>
          </a:xfrm>
          <a:prstGeom prst="rect">
            <a:avLst/>
          </a:prstGeom>
          <a:solidFill>
            <a:srgbClr val="F47B20"/>
          </a:solidFill>
          <a:ln w="12700">
            <a:solidFill>
              <a:srgbClr val="F47B20"/>
            </a:solidFill>
            <a:prstDash val="solid"/>
          </a:ln>
        </p:spPr>
      </p:sp>
      <p:sp>
        <p:nvSpPr>
          <p:cNvPr id="22" name="Text 20"/>
          <p:cNvSpPr/>
          <p:nvPr/>
        </p:nvSpPr>
        <p:spPr>
          <a:xfrm>
            <a:off x="4736592" y="3264408"/>
            <a:ext cx="1828800" cy="384048"/>
          </a:xfrm>
          <a:prstGeom prst="rect">
            <a:avLst/>
          </a:prstGeom>
          <a:noFill/>
          <a:ln/>
        </p:spPr>
        <p:txBody>
          <a:bodyPr wrap="square" lIns="0" tIns="0" rIns="0" bIns="0" rtlCol="0" anchor="ctr"/>
          <a:lstStyle/>
          <a:p>
            <a:pPr marL="0" indent="0">
              <a:buNone/>
            </a:pPr>
            <a:r>
              <a:rPr lang="en-US" sz="1050" b="1" dirty="0">
                <a:solidFill>
                  <a:srgbClr val="F47B20"/>
                </a:solidFill>
              </a:rPr>
              <a:t>HPA + Adapter</a:t>
            </a:r>
            <a:endParaRPr lang="en-US" sz="1050" dirty="0"/>
          </a:p>
        </p:txBody>
      </p:sp>
      <p:sp>
        <p:nvSpPr>
          <p:cNvPr id="23" name="Text 21"/>
          <p:cNvSpPr/>
          <p:nvPr/>
        </p:nvSpPr>
        <p:spPr>
          <a:xfrm>
            <a:off x="4736592"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CPU target 50%</a:t>
            </a:r>
            <a:endParaRPr lang="en-US" sz="950" dirty="0"/>
          </a:p>
          <a:p>
            <a:pPr marL="0" indent="0">
              <a:buNone/>
            </a:pPr>
            <a:r>
              <a:rPr lang="en-US" sz="950" dirty="0">
                <a:solidFill>
                  <a:srgbClr val="0D1B2A"/>
                </a:solidFill>
              </a:rPr>
              <a:t>Scale-up: 15s</a:t>
            </a:r>
            <a:endParaRPr lang="en-US" sz="950" dirty="0"/>
          </a:p>
          <a:p>
            <a:pPr marL="0" indent="0">
              <a:buNone/>
            </a:pPr>
            <a:r>
              <a:rPr lang="en-US" sz="950" dirty="0">
                <a:solidFill>
                  <a:srgbClr val="0D1B2A"/>
                </a:solidFill>
              </a:rPr>
              <a:t>Scale-down: 60s</a:t>
            </a:r>
            <a:endParaRPr lang="en-US" sz="950" dirty="0"/>
          </a:p>
        </p:txBody>
      </p:sp>
      <p:sp>
        <p:nvSpPr>
          <p:cNvPr id="24" name="Shape 22"/>
          <p:cNvSpPr/>
          <p:nvPr/>
        </p:nvSpPr>
        <p:spPr>
          <a:xfrm>
            <a:off x="6803136"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5" name="Shape 23"/>
          <p:cNvSpPr/>
          <p:nvPr/>
        </p:nvSpPr>
        <p:spPr>
          <a:xfrm>
            <a:off x="6803136" y="3218688"/>
            <a:ext cx="54864" cy="1554480"/>
          </a:xfrm>
          <a:prstGeom prst="rect">
            <a:avLst/>
          </a:prstGeom>
          <a:solidFill>
            <a:srgbClr val="006A85"/>
          </a:solidFill>
          <a:ln w="12700">
            <a:solidFill>
              <a:srgbClr val="006A85"/>
            </a:solidFill>
            <a:prstDash val="solid"/>
          </a:ln>
        </p:spPr>
      </p:sp>
      <p:sp>
        <p:nvSpPr>
          <p:cNvPr id="26" name="Text 24"/>
          <p:cNvSpPr/>
          <p:nvPr/>
        </p:nvSpPr>
        <p:spPr>
          <a:xfrm>
            <a:off x="6912864" y="3264408"/>
            <a:ext cx="1828800" cy="384048"/>
          </a:xfrm>
          <a:prstGeom prst="rect">
            <a:avLst/>
          </a:prstGeom>
          <a:noFill/>
          <a:ln/>
        </p:spPr>
        <p:txBody>
          <a:bodyPr wrap="square" lIns="0" tIns="0" rIns="0" bIns="0" rtlCol="0" anchor="ctr"/>
          <a:lstStyle/>
          <a:p>
            <a:pPr marL="0" indent="0">
              <a:buNone/>
            </a:pPr>
            <a:r>
              <a:rPr lang="en-US" sz="1050" b="1" dirty="0">
                <a:solidFill>
                  <a:srgbClr val="006A85"/>
                </a:solidFill>
              </a:rPr>
              <a:t>Prometheus</a:t>
            </a:r>
            <a:endParaRPr lang="en-US" sz="1050" dirty="0"/>
          </a:p>
          <a:p>
            <a:pPr marL="0" indent="0">
              <a:buNone/>
            </a:pPr>
            <a:r>
              <a:rPr lang="en-US" sz="1050" b="1" dirty="0">
                <a:solidFill>
                  <a:srgbClr val="006A85"/>
                </a:solidFill>
              </a:rPr>
              <a:t>+ Grafana</a:t>
            </a:r>
            <a:endParaRPr lang="en-US" sz="1050" dirty="0"/>
          </a:p>
        </p:txBody>
      </p:sp>
      <p:sp>
        <p:nvSpPr>
          <p:cNvPr id="27" name="Text 25"/>
          <p:cNvSpPr/>
          <p:nvPr/>
        </p:nvSpPr>
        <p:spPr>
          <a:xfrm>
            <a:off x="6912864"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Scrape 15s</a:t>
            </a:r>
            <a:endParaRPr lang="en-US" sz="950" dirty="0"/>
          </a:p>
          <a:p>
            <a:pPr marL="0" indent="0">
              <a:buNone/>
            </a:pPr>
            <a:r>
              <a:rPr lang="en-US" sz="950" dirty="0">
                <a:solidFill>
                  <a:srgbClr val="0D1B2A"/>
                </a:solidFill>
              </a:rPr>
              <a:t>Dashboard:</a:t>
            </a:r>
            <a:endParaRPr lang="en-US" sz="950" dirty="0"/>
          </a:p>
          <a:p>
            <a:pPr marL="0" indent="0">
              <a:buNone/>
            </a:pPr>
            <a:r>
              <a:rPr lang="en-US" sz="950" dirty="0">
                <a:solidFill>
                  <a:srgbClr val="0D1B2A"/>
                </a:solidFill>
              </a:rPr>
              <a:t>replicas, CPU, HPA</a:t>
            </a:r>
            <a:endParaRPr lang="en-US" sz="950" dirty="0"/>
          </a:p>
        </p:txBody>
      </p:sp>
      <p:sp>
        <p:nvSpPr>
          <p:cNvPr id="28" name="Text 26"/>
          <p:cNvSpPr/>
          <p:nvPr/>
        </p:nvSpPr>
        <p:spPr>
          <a:xfrm>
            <a:off x="274320" y="4828032"/>
            <a:ext cx="8595360" cy="256032"/>
          </a:xfrm>
          <a:prstGeom prst="rect">
            <a:avLst/>
          </a:prstGeom>
          <a:noFill/>
          <a:ln/>
        </p:spPr>
        <p:txBody>
          <a:bodyPr wrap="square" lIns="0" tIns="0" rIns="0" bIns="0" rtlCol="0" anchor="ctr"/>
          <a:lstStyle/>
          <a:p>
            <a:pPr marL="0" indent="0">
              <a:buNone/>
            </a:pPr>
            <a:endParaRPr lang="en-US" sz="850" dirty="0"/>
          </a:p>
        </p:txBody>
      </p:sp>
      <p:pic>
        <p:nvPicPr>
          <p:cNvPr id="30" name="Picture 29"/>
          <p:cNvPicPr>
            <a:picLocks noChangeAspect="1"/>
          </p:cNvPicPr>
          <p:nvPr/>
        </p:nvPicPr>
        <p:blipFill>
          <a:blip r:embed="rId3"/>
          <a:stretch>
            <a:fillRect/>
          </a:stretch>
        </p:blipFill>
        <p:spPr>
          <a:xfrm>
            <a:off x="2450592" y="802217"/>
            <a:ext cx="6382512" cy="2304288"/>
          </a:xfrm>
          <a:prstGeom prst="rect">
            <a:avLst/>
          </a:prstGeom>
        </p:spPr>
      </p:pic>
      <p:sp>
        <p:nvSpPr>
          <p:cNvPr id="33" name="Shape 15"/>
          <p:cNvSpPr/>
          <p:nvPr/>
        </p:nvSpPr>
        <p:spPr>
          <a:xfrm>
            <a:off x="283464" y="804672"/>
            <a:ext cx="45720" cy="2304288"/>
          </a:xfrm>
          <a:prstGeom prst="rect">
            <a:avLst/>
          </a:prstGeom>
          <a:solidFill>
            <a:schemeClr val="accent6">
              <a:lumMod val="60000"/>
              <a:lumOff val="40000"/>
            </a:schemeClr>
          </a:solidFill>
          <a:ln w="12700">
            <a:solidFill>
              <a:schemeClr val="accent6">
                <a:lumMod val="60000"/>
                <a:lumOff val="40000"/>
              </a:schemeClr>
            </a:solidFill>
            <a:prstDash val="solid"/>
          </a:ln>
        </p:spPr>
      </p:sp>
      <p:sp>
        <p:nvSpPr>
          <p:cNvPr id="34" name="Text 16"/>
          <p:cNvSpPr/>
          <p:nvPr/>
        </p:nvSpPr>
        <p:spPr>
          <a:xfrm>
            <a:off x="2578608" y="3236976"/>
            <a:ext cx="1828800" cy="384048"/>
          </a:xfrm>
          <a:prstGeom prst="rect">
            <a:avLst/>
          </a:prstGeom>
          <a:noFill/>
          <a:ln/>
        </p:spPr>
        <p:txBody>
          <a:bodyPr wrap="square" lIns="0" tIns="0" rIns="0" bIns="0" rtlCol="0" anchor="ctr"/>
          <a:lstStyle/>
          <a:p>
            <a:pPr marL="0" indent="0">
              <a:buNone/>
            </a:pPr>
            <a:r>
              <a:rPr lang="en-US" sz="1050" b="1" dirty="0" smtClean="0">
                <a:solidFill>
                  <a:srgbClr val="0096B7"/>
                </a:solidFill>
              </a:rPr>
              <a:t>Web </a:t>
            </a:r>
            <a:r>
              <a:rPr lang="en-US" sz="1050" b="1" dirty="0">
                <a:solidFill>
                  <a:srgbClr val="0096B7"/>
                </a:solidFill>
              </a:rPr>
              <a:t>App</a:t>
            </a:r>
            <a:endParaRPr lang="en-US" sz="1050" dirty="0"/>
          </a:p>
        </p:txBody>
      </p:sp>
      <p:sp>
        <p:nvSpPr>
          <p:cNvPr id="35" name="Text 17"/>
          <p:cNvSpPr/>
          <p:nvPr/>
        </p:nvSpPr>
        <p:spPr>
          <a:xfrm>
            <a:off x="457200" y="1408176"/>
            <a:ext cx="1828800" cy="1024128"/>
          </a:xfrm>
          <a:prstGeom prst="rect">
            <a:avLst/>
          </a:prstGeom>
          <a:noFill/>
          <a:ln/>
        </p:spPr>
        <p:txBody>
          <a:bodyPr wrap="square" lIns="0" tIns="0" rIns="0" bIns="0" rtlCol="0" anchor="ctr"/>
          <a:lstStyle/>
          <a:p>
            <a:pPr marL="0" indent="0">
              <a:buNone/>
            </a:pPr>
            <a:r>
              <a:rPr lang="en-US" sz="950" dirty="0">
                <a:solidFill>
                  <a:srgbClr val="0D1B2A"/>
                </a:solidFill>
              </a:rPr>
              <a:t>+</a:t>
            </a:r>
            <a:r>
              <a:rPr lang="en-US" sz="950" dirty="0" smtClean="0">
                <a:solidFill>
                  <a:srgbClr val="0D1B2A"/>
                </a:solidFill>
              </a:rPr>
              <a:t> </a:t>
            </a:r>
            <a:r>
              <a:rPr lang="en-US" sz="950" dirty="0" err="1" smtClean="0">
                <a:solidFill>
                  <a:srgbClr val="0D1B2A"/>
                </a:solidFill>
              </a:rPr>
              <a:t>Môi</a:t>
            </a:r>
            <a:r>
              <a:rPr lang="en-US" sz="950" dirty="0" smtClean="0">
                <a:solidFill>
                  <a:srgbClr val="0D1B2A"/>
                </a:solidFill>
              </a:rPr>
              <a:t> </a:t>
            </a:r>
            <a:r>
              <a:rPr lang="en-US" sz="950" dirty="0" err="1" smtClean="0">
                <a:solidFill>
                  <a:srgbClr val="0D1B2A"/>
                </a:solidFill>
              </a:rPr>
              <a:t>trường</a:t>
            </a:r>
            <a:r>
              <a:rPr lang="en-US" sz="950" dirty="0" smtClean="0">
                <a:solidFill>
                  <a:srgbClr val="0D1B2A"/>
                </a:solidFill>
              </a:rPr>
              <a:t> </a:t>
            </a:r>
            <a:r>
              <a:rPr lang="en-US" sz="950" dirty="0" err="1" smtClean="0">
                <a:solidFill>
                  <a:srgbClr val="0D1B2A"/>
                </a:solidFill>
              </a:rPr>
              <a:t>thực</a:t>
            </a:r>
            <a:r>
              <a:rPr lang="en-US" sz="950" dirty="0" smtClean="0">
                <a:solidFill>
                  <a:srgbClr val="0D1B2A"/>
                </a:solidFill>
              </a:rPr>
              <a:t> </a:t>
            </a:r>
            <a:r>
              <a:rPr lang="en-US" sz="950" dirty="0" err="1" smtClean="0">
                <a:solidFill>
                  <a:srgbClr val="0D1B2A"/>
                </a:solidFill>
              </a:rPr>
              <a:t>nghiệm</a:t>
            </a:r>
            <a:r>
              <a:rPr lang="en-US" sz="950" dirty="0" smtClean="0">
                <a:solidFill>
                  <a:srgbClr val="0D1B2A"/>
                </a:solidFill>
              </a:rPr>
              <a:t>: </a:t>
            </a:r>
            <a:r>
              <a:rPr lang="en-US" sz="950" dirty="0" err="1" smtClean="0">
                <a:solidFill>
                  <a:srgbClr val="0D1B2A"/>
                </a:solidFill>
              </a:rPr>
              <a:t>Máy</a:t>
            </a:r>
            <a:r>
              <a:rPr lang="en-US" sz="950" dirty="0" smtClean="0">
                <a:solidFill>
                  <a:srgbClr val="0D1B2A"/>
                </a:solidFill>
              </a:rPr>
              <a:t> </a:t>
            </a:r>
            <a:r>
              <a:rPr lang="en-US" sz="950" dirty="0" err="1" smtClean="0">
                <a:solidFill>
                  <a:srgbClr val="0D1B2A"/>
                </a:solidFill>
              </a:rPr>
              <a:t>tính</a:t>
            </a:r>
            <a:r>
              <a:rPr lang="en-US" sz="950" dirty="0" smtClean="0">
                <a:solidFill>
                  <a:srgbClr val="0D1B2A"/>
                </a:solidFill>
              </a:rPr>
              <a:t> </a:t>
            </a:r>
            <a:r>
              <a:rPr lang="en-US" sz="950" dirty="0" err="1" smtClean="0">
                <a:solidFill>
                  <a:srgbClr val="0D1B2A"/>
                </a:solidFill>
              </a:rPr>
              <a:t>cá</a:t>
            </a:r>
            <a:r>
              <a:rPr lang="en-US" sz="950" dirty="0" smtClean="0">
                <a:solidFill>
                  <a:srgbClr val="0D1B2A"/>
                </a:solidFill>
              </a:rPr>
              <a:t> </a:t>
            </a:r>
            <a:r>
              <a:rPr lang="en-US" sz="950" dirty="0" err="1" smtClean="0">
                <a:solidFill>
                  <a:srgbClr val="0D1B2A"/>
                </a:solidFill>
              </a:rPr>
              <a:t>nhân</a:t>
            </a:r>
            <a:endParaRPr lang="en-US" sz="950" dirty="0" smtClean="0">
              <a:solidFill>
                <a:srgbClr val="0D1B2A"/>
              </a:solidFill>
            </a:endParaRPr>
          </a:p>
          <a:p>
            <a:pPr marL="0" indent="0">
              <a:buNone/>
            </a:pPr>
            <a:endParaRPr lang="en-US" sz="950" dirty="0" smtClean="0">
              <a:solidFill>
                <a:srgbClr val="0D1B2A"/>
              </a:solidFill>
            </a:endParaRPr>
          </a:p>
          <a:p>
            <a:pPr marL="0" indent="0">
              <a:buNone/>
            </a:pPr>
            <a:r>
              <a:rPr lang="en-US" sz="950" dirty="0" smtClean="0"/>
              <a:t>+ </a:t>
            </a:r>
            <a:r>
              <a:rPr lang="en-US" sz="950" dirty="0" err="1" smtClean="0"/>
              <a:t>Các</a:t>
            </a:r>
            <a:r>
              <a:rPr lang="en-US" sz="950" dirty="0" smtClean="0"/>
              <a:t> </a:t>
            </a:r>
            <a:r>
              <a:rPr lang="en-US" sz="950" dirty="0" err="1" smtClean="0"/>
              <a:t>thống</a:t>
            </a:r>
            <a:r>
              <a:rPr lang="en-US" sz="950" dirty="0" smtClean="0"/>
              <a:t> </a:t>
            </a:r>
            <a:r>
              <a:rPr lang="en-US" sz="950" dirty="0" err="1" smtClean="0"/>
              <a:t>số</a:t>
            </a:r>
            <a:r>
              <a:rPr lang="en-US" sz="950" dirty="0" smtClean="0"/>
              <a:t> </a:t>
            </a:r>
            <a:r>
              <a:rPr lang="en-US" sz="950" dirty="0" err="1" smtClean="0"/>
              <a:t>thiết</a:t>
            </a:r>
            <a:r>
              <a:rPr lang="en-US" sz="950" dirty="0" smtClean="0"/>
              <a:t> </a:t>
            </a:r>
            <a:r>
              <a:rPr lang="en-US" sz="950" dirty="0" err="1" smtClean="0"/>
              <a:t>lập</a:t>
            </a:r>
            <a:r>
              <a:rPr lang="en-US" sz="950" dirty="0" smtClean="0"/>
              <a:t> </a:t>
            </a:r>
            <a:r>
              <a:rPr lang="en-US" sz="950" dirty="0" err="1" smtClean="0"/>
              <a:t>cụ</a:t>
            </a:r>
            <a:r>
              <a:rPr lang="en-US" sz="950" dirty="0" smtClean="0"/>
              <a:t> </a:t>
            </a:r>
            <a:r>
              <a:rPr lang="en-US" sz="950" dirty="0" err="1" smtClean="0"/>
              <a:t>thể</a:t>
            </a:r>
            <a:r>
              <a:rPr lang="en-US" sz="950" dirty="0" smtClean="0"/>
              <a:t> </a:t>
            </a:r>
            <a:r>
              <a:rPr lang="en-US" sz="950" dirty="0" err="1" smtClean="0"/>
              <a:t>như</a:t>
            </a:r>
            <a:r>
              <a:rPr lang="en-US" sz="950" dirty="0" smtClean="0"/>
              <a:t> </a:t>
            </a:r>
            <a:r>
              <a:rPr lang="en-US" sz="950" dirty="0" err="1" smtClean="0"/>
              <a:t>dưới</a:t>
            </a:r>
            <a:endParaRPr lang="en-US" sz="9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smtClean="0">
                <a:solidFill>
                  <a:srgbClr val="FFFFFF"/>
                </a:solidFill>
              </a:rPr>
              <a:t>Thiết</a:t>
            </a:r>
            <a:r>
              <a:rPr lang="en-US" sz="2200" b="1" dirty="0" smtClean="0">
                <a:solidFill>
                  <a:srgbClr val="FFFFFF"/>
                </a:solidFill>
              </a:rPr>
              <a:t> </a:t>
            </a:r>
            <a:r>
              <a:rPr lang="en-US" sz="2200" b="1" dirty="0" err="1" smtClean="0">
                <a:solidFill>
                  <a:srgbClr val="FFFFFF"/>
                </a:solidFill>
              </a:rPr>
              <a:t>lập</a:t>
            </a:r>
            <a:r>
              <a:rPr lang="en-US" sz="2200" b="1" dirty="0" smtClean="0">
                <a:solidFill>
                  <a:srgbClr val="FFFFFF"/>
                </a:solidFill>
              </a:rPr>
              <a:t> </a:t>
            </a:r>
            <a:r>
              <a:rPr lang="en-US" sz="2200" b="1" dirty="0" err="1" smtClean="0">
                <a:solidFill>
                  <a:srgbClr val="FFFFFF"/>
                </a:solidFill>
              </a:rPr>
              <a:t>Grafana</a:t>
            </a:r>
            <a:r>
              <a:rPr lang="en-US" sz="2200" b="1" dirty="0" smtClean="0">
                <a:solidFill>
                  <a:srgbClr val="FFFFFF"/>
                </a:solidFill>
              </a:rPr>
              <a:t> </a:t>
            </a:r>
            <a:r>
              <a:rPr lang="en-US" sz="2200" b="1" dirty="0" err="1" smtClean="0">
                <a:solidFill>
                  <a:srgbClr val="FFFFFF"/>
                </a:solidFill>
              </a:rPr>
              <a:t>để</a:t>
            </a:r>
            <a:r>
              <a:rPr lang="en-US" sz="2200" b="1" dirty="0" smtClean="0">
                <a:solidFill>
                  <a:srgbClr val="FFFFFF"/>
                </a:solidFill>
              </a:rPr>
              <a:t> monitor</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301752" y="722376"/>
            <a:ext cx="8869680" cy="4059936"/>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722376"/>
            <a:ext cx="54864" cy="4032504"/>
          </a:xfrm>
          <a:prstGeom prst="rect">
            <a:avLst/>
          </a:prstGeom>
          <a:solidFill>
            <a:srgbClr val="2D9D5A"/>
          </a:solidFill>
          <a:ln w="12700">
            <a:solidFill>
              <a:srgbClr val="2D9D5A"/>
            </a:solidFill>
            <a:prstDash val="solid"/>
          </a:ln>
        </p:spPr>
      </p:sp>
      <p:pic>
        <p:nvPicPr>
          <p:cNvPr id="17" name="image13.png"/>
          <p:cNvPicPr/>
          <p:nvPr/>
        </p:nvPicPr>
        <p:blipFill>
          <a:blip r:embed="rId3"/>
          <a:srcRect/>
          <a:stretch>
            <a:fillRect/>
          </a:stretch>
        </p:blipFill>
        <p:spPr>
          <a:xfrm>
            <a:off x="1036849" y="722376"/>
            <a:ext cx="7319971" cy="4032504"/>
          </a:xfrm>
          <a:prstGeom prst="rect">
            <a:avLst/>
          </a:prstGeom>
          <a:ln/>
        </p:spPr>
      </p:pic>
    </p:spTree>
    <p:extLst>
      <p:ext uri="{BB962C8B-B14F-4D97-AF65-F5344CB8AC3E}">
        <p14:creationId xmlns:p14="http://schemas.microsoft.com/office/powerpoint/2010/main" val="27993730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Giai đoạn 1 — Baseline (chỉ traffic </a:t>
            </a:r>
            <a:r>
              <a:rPr lang="en-US" sz="2200" b="1" dirty="0" err="1">
                <a:solidFill>
                  <a:srgbClr val="FFFFFF"/>
                </a:solidFill>
              </a:rPr>
              <a:t>hợp</a:t>
            </a:r>
            <a:r>
              <a:rPr lang="en-US" sz="2200" b="1" dirty="0">
                <a:solidFill>
                  <a:srgbClr val="FFFFFF"/>
                </a:solidFill>
              </a:rPr>
              <a:t> </a:t>
            </a:r>
            <a:r>
              <a:rPr lang="en-US" sz="2200" b="1" dirty="0" err="1" smtClean="0">
                <a:solidFill>
                  <a:srgbClr val="FFFFFF"/>
                </a:solidFill>
              </a:rPr>
              <a:t>lệ</a:t>
            </a:r>
            <a:r>
              <a:rPr lang="en-US" sz="2200" b="1" dirty="0" smtClean="0">
                <a:solidFill>
                  <a:srgbClr val="FFFFFF"/>
                </a:solidFill>
              </a:rPr>
              <a:t> </a:t>
            </a:r>
            <a:r>
              <a:rPr lang="en-US" sz="2200" b="1" dirty="0" err="1" smtClean="0">
                <a:solidFill>
                  <a:srgbClr val="FFFFFF"/>
                </a:solidFill>
              </a:rPr>
              <a:t>từ</a:t>
            </a:r>
            <a:r>
              <a:rPr lang="en-US" sz="2200" b="1" dirty="0" smtClean="0">
                <a:solidFill>
                  <a:srgbClr val="FFFFFF"/>
                </a:solidFill>
              </a:rPr>
              <a:t> </a:t>
            </a:r>
            <a:r>
              <a:rPr lang="en-US" sz="2200" b="1" dirty="0" err="1" smtClean="0">
                <a:solidFill>
                  <a:srgbClr val="FFFFFF"/>
                </a:solidFill>
              </a:rPr>
              <a:t>JMeter</a:t>
            </a:r>
            <a:r>
              <a:rPr lang="en-US" sz="2200" b="1" dirty="0" smtClean="0">
                <a:solidFill>
                  <a:srgbClr val="FFFFFF"/>
                </a:solidFill>
              </a:rPr>
              <a:t>)</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19" y="804672"/>
            <a:ext cx="4829439"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0096B7"/>
          </a:solidFill>
          <a:ln w="12700">
            <a:solidFill>
              <a:srgbClr val="0096B7"/>
            </a:solidFill>
            <a:prstDash val="solid"/>
          </a:ln>
        </p:spPr>
      </p:sp>
      <p:sp>
        <p:nvSpPr>
          <p:cNvPr id="9" name="Text 7"/>
          <p:cNvSpPr/>
          <p:nvPr/>
        </p:nvSpPr>
        <p:spPr>
          <a:xfrm>
            <a:off x="457200" y="868680"/>
            <a:ext cx="3840480" cy="320040"/>
          </a:xfrm>
          <a:prstGeom prst="rect">
            <a:avLst/>
          </a:prstGeom>
          <a:noFill/>
          <a:ln/>
        </p:spPr>
        <p:txBody>
          <a:bodyPr wrap="square" lIns="0" tIns="0" rIns="0" bIns="0" rtlCol="0" anchor="ctr"/>
          <a:lstStyle/>
          <a:p>
            <a:pPr marL="0" indent="0">
              <a:buNone/>
            </a:pPr>
            <a:r>
              <a:rPr lang="en-US" sz="1200" b="1" dirty="0">
                <a:solidFill>
                  <a:srgbClr val="0D1B2A"/>
                </a:solidFill>
              </a:rPr>
              <a:t>Thiết lập &amp; Quan sát</a:t>
            </a:r>
            <a:endParaRPr lang="en-US" sz="1200" dirty="0"/>
          </a:p>
        </p:txBody>
      </p:sp>
      <p:sp>
        <p:nvSpPr>
          <p:cNvPr id="10" name="Text 8"/>
          <p:cNvSpPr/>
          <p:nvPr/>
        </p:nvSpPr>
        <p:spPr>
          <a:xfrm>
            <a:off x="457200" y="12984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Thời gian:</a:t>
            </a:r>
            <a:endParaRPr lang="en-US" sz="1000" dirty="0"/>
          </a:p>
        </p:txBody>
      </p:sp>
      <p:sp>
        <p:nvSpPr>
          <p:cNvPr id="11" name="Text 9"/>
          <p:cNvSpPr/>
          <p:nvPr/>
        </p:nvSpPr>
        <p:spPr>
          <a:xfrm>
            <a:off x="1737360" y="12984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15–30 phút traffic hợp lệ</a:t>
            </a:r>
            <a:endParaRPr lang="en-US" sz="1000" dirty="0"/>
          </a:p>
        </p:txBody>
      </p:sp>
      <p:sp>
        <p:nvSpPr>
          <p:cNvPr id="12" name="Text 10"/>
          <p:cNvSpPr/>
          <p:nvPr/>
        </p:nvSpPr>
        <p:spPr>
          <a:xfrm>
            <a:off x="457200" y="17556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jMeter:</a:t>
            </a:r>
            <a:endParaRPr lang="en-US" sz="1000" dirty="0"/>
          </a:p>
        </p:txBody>
      </p:sp>
      <p:sp>
        <p:nvSpPr>
          <p:cNvPr id="13" name="Text 11"/>
          <p:cNvSpPr/>
          <p:nvPr/>
        </p:nvSpPr>
        <p:spPr>
          <a:xfrm>
            <a:off x="1737360" y="17556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10 threads, Poisson random timer (200ms + 300ms random)</a:t>
            </a:r>
            <a:endParaRPr lang="en-US" sz="1000" dirty="0"/>
          </a:p>
        </p:txBody>
      </p:sp>
      <p:sp>
        <p:nvSpPr>
          <p:cNvPr id="14" name="Text 12"/>
          <p:cNvSpPr/>
          <p:nvPr/>
        </p:nvSpPr>
        <p:spPr>
          <a:xfrm>
            <a:off x="457200" y="22128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Tốc độ:</a:t>
            </a:r>
            <a:endParaRPr lang="en-US" sz="1000" dirty="0"/>
          </a:p>
        </p:txBody>
      </p:sp>
      <p:sp>
        <p:nvSpPr>
          <p:cNvPr id="15" name="Text 13"/>
          <p:cNvSpPr/>
          <p:nvPr/>
        </p:nvSpPr>
        <p:spPr>
          <a:xfrm>
            <a:off x="1737360" y="2212848"/>
            <a:ext cx="2560320" cy="384048"/>
          </a:xfrm>
          <a:prstGeom prst="rect">
            <a:avLst/>
          </a:prstGeom>
          <a:noFill/>
          <a:ln/>
        </p:spPr>
        <p:txBody>
          <a:bodyPr wrap="square" lIns="0" tIns="0" rIns="0" bIns="0" rtlCol="0" anchor="ctr"/>
          <a:lstStyle/>
          <a:p>
            <a:pPr marL="0" indent="0">
              <a:buNone/>
            </a:pPr>
            <a:r>
              <a:rPr lang="en-US" sz="1000" dirty="0" smtClean="0">
                <a:solidFill>
                  <a:srgbClr val="0D1B2A"/>
                </a:solidFill>
              </a:rPr>
              <a:t>~</a:t>
            </a:r>
            <a:r>
              <a:rPr lang="en-US" sz="1000" dirty="0">
                <a:solidFill>
                  <a:srgbClr val="0D1B2A"/>
                </a:solidFill>
              </a:rPr>
              <a:t>2</a:t>
            </a:r>
            <a:r>
              <a:rPr lang="en-US" sz="1000" dirty="0" smtClean="0">
                <a:solidFill>
                  <a:srgbClr val="0D1B2A"/>
                </a:solidFill>
              </a:rPr>
              <a:t> </a:t>
            </a:r>
            <a:r>
              <a:rPr lang="en-US" sz="1000" dirty="0" err="1">
                <a:solidFill>
                  <a:srgbClr val="0D1B2A"/>
                </a:solidFill>
              </a:rPr>
              <a:t>req</a:t>
            </a:r>
            <a:r>
              <a:rPr lang="en-US" sz="1000" dirty="0">
                <a:solidFill>
                  <a:srgbClr val="0D1B2A"/>
                </a:solidFill>
              </a:rPr>
              <a:t>/s </a:t>
            </a:r>
            <a:endParaRPr lang="en-US" sz="1000" dirty="0"/>
          </a:p>
        </p:txBody>
      </p:sp>
      <p:sp>
        <p:nvSpPr>
          <p:cNvPr id="16" name="Text 14"/>
          <p:cNvSpPr/>
          <p:nvPr/>
        </p:nvSpPr>
        <p:spPr>
          <a:xfrm>
            <a:off x="457200" y="26700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Replicas:</a:t>
            </a:r>
            <a:endParaRPr lang="en-US" sz="1000" dirty="0"/>
          </a:p>
        </p:txBody>
      </p:sp>
      <p:sp>
        <p:nvSpPr>
          <p:cNvPr id="17" name="Text 15"/>
          <p:cNvSpPr/>
          <p:nvPr/>
        </p:nvSpPr>
        <p:spPr>
          <a:xfrm>
            <a:off x="1737360" y="26700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1–2 pods, dao động theo tải tự nhiên</a:t>
            </a:r>
            <a:endParaRPr lang="en-US" sz="1000" dirty="0"/>
          </a:p>
        </p:txBody>
      </p:sp>
      <p:sp>
        <p:nvSpPr>
          <p:cNvPr id="18" name="Text 16"/>
          <p:cNvSpPr/>
          <p:nvPr/>
        </p:nvSpPr>
        <p:spPr>
          <a:xfrm>
            <a:off x="457200" y="31272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CPU:</a:t>
            </a:r>
            <a:endParaRPr lang="en-US" sz="1000" dirty="0"/>
          </a:p>
        </p:txBody>
      </p:sp>
      <p:sp>
        <p:nvSpPr>
          <p:cNvPr id="19" name="Text 17"/>
          <p:cNvSpPr/>
          <p:nvPr/>
        </p:nvSpPr>
        <p:spPr>
          <a:xfrm>
            <a:off x="1737360" y="31272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20–50%, không vượt ngưỡng 50% liên tục</a:t>
            </a:r>
            <a:endParaRPr lang="en-US" sz="1000" dirty="0"/>
          </a:p>
        </p:txBody>
      </p:sp>
      <p:sp>
        <p:nvSpPr>
          <p:cNvPr id="20" name="Text 18"/>
          <p:cNvSpPr/>
          <p:nvPr/>
        </p:nvSpPr>
        <p:spPr>
          <a:xfrm>
            <a:off x="457200" y="35844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HPA:</a:t>
            </a:r>
            <a:endParaRPr lang="en-US" sz="1000" dirty="0"/>
          </a:p>
        </p:txBody>
      </p:sp>
      <p:sp>
        <p:nvSpPr>
          <p:cNvPr id="21" name="Text 19"/>
          <p:cNvSpPr/>
          <p:nvPr/>
        </p:nvSpPr>
        <p:spPr>
          <a:xfrm>
            <a:off x="1737360" y="35844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Hầu như không kích hoạt scale-up</a:t>
            </a:r>
            <a:endParaRPr lang="en-US" sz="1000" dirty="0"/>
          </a:p>
        </p:txBody>
      </p:sp>
      <p:sp>
        <p:nvSpPr>
          <p:cNvPr id="22" name="Text 20"/>
          <p:cNvSpPr/>
          <p:nvPr/>
        </p:nvSpPr>
        <p:spPr>
          <a:xfrm>
            <a:off x="457200" y="4224528"/>
            <a:ext cx="3749040" cy="411480"/>
          </a:xfrm>
          <a:prstGeom prst="rect">
            <a:avLst/>
          </a:prstGeom>
          <a:noFill/>
          <a:ln/>
        </p:spPr>
        <p:txBody>
          <a:bodyPr wrap="square" lIns="0" tIns="0" rIns="0" bIns="0" rtlCol="0" anchor="ctr"/>
          <a:lstStyle/>
          <a:p>
            <a:pPr marL="0" indent="0">
              <a:buNone/>
            </a:pPr>
            <a:r>
              <a:rPr lang="en-US" sz="950" i="1" dirty="0" err="1" smtClean="0">
                <a:solidFill>
                  <a:srgbClr val="64748B"/>
                </a:solidFill>
              </a:rPr>
              <a:t>Mục</a:t>
            </a:r>
            <a:r>
              <a:rPr lang="en-US" sz="950" i="1" dirty="0" smtClean="0">
                <a:solidFill>
                  <a:srgbClr val="64748B"/>
                </a:solidFill>
              </a:rPr>
              <a:t> </a:t>
            </a:r>
            <a:r>
              <a:rPr lang="en-US" sz="950" i="1" dirty="0" err="1" smtClean="0">
                <a:solidFill>
                  <a:srgbClr val="64748B"/>
                </a:solidFill>
              </a:rPr>
              <a:t>tiêu</a:t>
            </a:r>
            <a:r>
              <a:rPr lang="en-US" sz="950" i="1" dirty="0" smtClean="0">
                <a:solidFill>
                  <a:srgbClr val="64748B"/>
                </a:solidFill>
              </a:rPr>
              <a:t>: </a:t>
            </a:r>
            <a:r>
              <a:rPr lang="en-US" sz="950" i="1" dirty="0" err="1" smtClean="0">
                <a:solidFill>
                  <a:srgbClr val="64748B"/>
                </a:solidFill>
              </a:rPr>
              <a:t>Thiết</a:t>
            </a:r>
            <a:r>
              <a:rPr lang="en-US" sz="950" i="1" dirty="0" smtClean="0">
                <a:solidFill>
                  <a:srgbClr val="64748B"/>
                </a:solidFill>
              </a:rPr>
              <a:t> </a:t>
            </a:r>
            <a:r>
              <a:rPr lang="en-US" sz="950" i="1" dirty="0" err="1" smtClean="0">
                <a:solidFill>
                  <a:srgbClr val="64748B"/>
                </a:solidFill>
              </a:rPr>
              <a:t>lập</a:t>
            </a:r>
            <a:r>
              <a:rPr lang="en-US" sz="950" i="1" dirty="0" smtClean="0">
                <a:solidFill>
                  <a:srgbClr val="64748B"/>
                </a:solidFill>
              </a:rPr>
              <a:t> baseline </a:t>
            </a:r>
            <a:r>
              <a:rPr lang="en-US" sz="950" i="1" dirty="0" err="1" smtClean="0">
                <a:solidFill>
                  <a:srgbClr val="64748B"/>
                </a:solidFill>
              </a:rPr>
              <a:t>ổn</a:t>
            </a:r>
            <a:r>
              <a:rPr lang="en-US" sz="950" i="1" dirty="0" smtClean="0">
                <a:solidFill>
                  <a:srgbClr val="64748B"/>
                </a:solidFill>
              </a:rPr>
              <a:t> </a:t>
            </a:r>
            <a:r>
              <a:rPr lang="en-US" sz="950" i="1" dirty="0" err="1" smtClean="0">
                <a:solidFill>
                  <a:srgbClr val="64748B"/>
                </a:solidFill>
              </a:rPr>
              <a:t>định</a:t>
            </a:r>
            <a:r>
              <a:rPr lang="en-US" sz="950" i="1" dirty="0" smtClean="0">
                <a:solidFill>
                  <a:srgbClr val="64748B"/>
                </a:solidFill>
              </a:rPr>
              <a:t> </a:t>
            </a:r>
            <a:r>
              <a:rPr lang="en-US" sz="950" i="1" dirty="0" err="1" smtClean="0">
                <a:solidFill>
                  <a:srgbClr val="64748B"/>
                </a:solidFill>
              </a:rPr>
              <a:t>để</a:t>
            </a:r>
            <a:r>
              <a:rPr lang="en-US" sz="950" i="1" dirty="0" smtClean="0">
                <a:solidFill>
                  <a:srgbClr val="64748B"/>
                </a:solidFill>
              </a:rPr>
              <a:t> so </a:t>
            </a:r>
            <a:r>
              <a:rPr lang="en-US" sz="950" i="1" dirty="0" err="1" smtClean="0">
                <a:solidFill>
                  <a:srgbClr val="64748B"/>
                </a:solidFill>
              </a:rPr>
              <a:t>sánh</a:t>
            </a:r>
            <a:r>
              <a:rPr lang="en-US" sz="950" i="1" dirty="0" smtClean="0">
                <a:solidFill>
                  <a:srgbClr val="64748B"/>
                </a:solidFill>
              </a:rPr>
              <a:t> </a:t>
            </a:r>
            <a:r>
              <a:rPr lang="en-US" sz="950" i="1" dirty="0" err="1" smtClean="0">
                <a:solidFill>
                  <a:srgbClr val="64748B"/>
                </a:solidFill>
              </a:rPr>
              <a:t>với</a:t>
            </a:r>
            <a:r>
              <a:rPr lang="en-US" sz="950" i="1" dirty="0" smtClean="0">
                <a:solidFill>
                  <a:srgbClr val="64748B"/>
                </a:solidFill>
              </a:rPr>
              <a:t> </a:t>
            </a:r>
            <a:r>
              <a:rPr lang="en-US" sz="950" i="1" dirty="0" err="1" smtClean="0">
                <a:solidFill>
                  <a:srgbClr val="64748B"/>
                </a:solidFill>
              </a:rPr>
              <a:t>khi</a:t>
            </a:r>
            <a:r>
              <a:rPr lang="en-US" sz="950" i="1" dirty="0" smtClean="0">
                <a:solidFill>
                  <a:srgbClr val="64748B"/>
                </a:solidFill>
              </a:rPr>
              <a:t> </a:t>
            </a:r>
            <a:r>
              <a:rPr lang="en-US" sz="950" i="1" dirty="0" err="1" smtClean="0">
                <a:solidFill>
                  <a:srgbClr val="64748B"/>
                </a:solidFill>
              </a:rPr>
              <a:t>bị</a:t>
            </a:r>
            <a:r>
              <a:rPr lang="en-US" sz="950" i="1" dirty="0" smtClean="0">
                <a:solidFill>
                  <a:srgbClr val="64748B"/>
                </a:solidFill>
              </a:rPr>
              <a:t> </a:t>
            </a:r>
            <a:r>
              <a:rPr lang="en-US" sz="950" i="1" dirty="0" err="1" smtClean="0">
                <a:solidFill>
                  <a:srgbClr val="64748B"/>
                </a:solidFill>
              </a:rPr>
              <a:t>tấn</a:t>
            </a:r>
            <a:r>
              <a:rPr lang="en-US" sz="950" i="1" dirty="0" smtClean="0">
                <a:solidFill>
                  <a:srgbClr val="64748B"/>
                </a:solidFill>
              </a:rPr>
              <a:t> </a:t>
            </a:r>
            <a:r>
              <a:rPr lang="en-US" sz="950" i="1" dirty="0" err="1" smtClean="0">
                <a:solidFill>
                  <a:srgbClr val="64748B"/>
                </a:solidFill>
              </a:rPr>
              <a:t>công</a:t>
            </a:r>
            <a:endParaRPr lang="en-US" sz="950" dirty="0"/>
          </a:p>
        </p:txBody>
      </p:sp>
      <p:sp>
        <p:nvSpPr>
          <p:cNvPr id="23" name="Shape 21"/>
          <p:cNvSpPr/>
          <p:nvPr/>
        </p:nvSpPr>
        <p:spPr>
          <a:xfrm>
            <a:off x="5124550" y="804672"/>
            <a:ext cx="365369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4" name="Shape 22"/>
          <p:cNvSpPr/>
          <p:nvPr/>
        </p:nvSpPr>
        <p:spPr>
          <a:xfrm>
            <a:off x="5124550" y="804672"/>
            <a:ext cx="3653689" cy="3950208"/>
          </a:xfrm>
          <a:prstGeom prst="rect">
            <a:avLst/>
          </a:prstGeom>
          <a:solidFill>
            <a:srgbClr val="EAF4FB"/>
          </a:solidFill>
          <a:ln w="12700">
            <a:solidFill>
              <a:srgbClr val="0096B7"/>
            </a:solidFill>
            <a:prstDash val="solid"/>
          </a:ln>
        </p:spPr>
      </p:sp>
      <p:sp>
        <p:nvSpPr>
          <p:cNvPr id="29" name="Text 2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Replicas panel (baseline phase)</a:t>
            </a:r>
            <a:endParaRPr lang="en-US" sz="800" dirty="0"/>
          </a:p>
        </p:txBody>
      </p:sp>
      <p:sp>
        <p:nvSpPr>
          <p:cNvPr id="33" name="Text 9"/>
          <p:cNvSpPr/>
          <p:nvPr/>
        </p:nvSpPr>
        <p:spPr>
          <a:xfrm>
            <a:off x="4206240" y="4160520"/>
            <a:ext cx="4551208" cy="594360"/>
          </a:xfrm>
          <a:prstGeom prst="rect">
            <a:avLst/>
          </a:prstGeom>
          <a:noFill/>
          <a:ln/>
        </p:spPr>
        <p:txBody>
          <a:bodyPr wrap="square" lIns="0" tIns="0" rIns="0" bIns="0" rtlCol="0" anchor="ctr"/>
          <a:lstStyle/>
          <a:p>
            <a:pPr marL="0" indent="0">
              <a:buNone/>
            </a:pPr>
            <a:endParaRPr lang="en-US" sz="1000" dirty="0"/>
          </a:p>
        </p:txBody>
      </p:sp>
      <p:pic>
        <p:nvPicPr>
          <p:cNvPr id="25" name="Picture 24"/>
          <p:cNvPicPr>
            <a:picLocks noChangeAspect="1"/>
          </p:cNvPicPr>
          <p:nvPr/>
        </p:nvPicPr>
        <p:blipFill>
          <a:blip r:embed="rId3"/>
          <a:stretch>
            <a:fillRect/>
          </a:stretch>
        </p:blipFill>
        <p:spPr>
          <a:xfrm>
            <a:off x="5124551" y="804672"/>
            <a:ext cx="3632897" cy="3950208"/>
          </a:xfrm>
          <a:prstGeom prst="rect">
            <a:avLst/>
          </a:prstGeom>
        </p:spPr>
      </p:pic>
      <p:pic>
        <p:nvPicPr>
          <p:cNvPr id="35" name="Picture 34"/>
          <p:cNvPicPr>
            <a:picLocks noChangeAspect="1"/>
          </p:cNvPicPr>
          <p:nvPr/>
        </p:nvPicPr>
        <p:blipFill>
          <a:blip r:embed="rId4"/>
          <a:stretch>
            <a:fillRect/>
          </a:stretch>
        </p:blipFill>
        <p:spPr>
          <a:xfrm>
            <a:off x="8046720" y="804672"/>
            <a:ext cx="710728" cy="21371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31" name="Shape 5"/>
          <p:cNvSpPr/>
          <p:nvPr/>
        </p:nvSpPr>
        <p:spPr>
          <a:xfrm>
            <a:off x="274320" y="804672"/>
            <a:ext cx="8743556"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Giai đoạn 1 — Baseline (chỉ traffic </a:t>
            </a:r>
            <a:r>
              <a:rPr lang="en-US" sz="2200" b="1" dirty="0" err="1">
                <a:solidFill>
                  <a:srgbClr val="FFFFFF"/>
                </a:solidFill>
              </a:rPr>
              <a:t>hợp</a:t>
            </a:r>
            <a:r>
              <a:rPr lang="en-US" sz="2200" b="1" dirty="0">
                <a:solidFill>
                  <a:srgbClr val="FFFFFF"/>
                </a:solidFill>
              </a:rPr>
              <a:t> </a:t>
            </a:r>
            <a:r>
              <a:rPr lang="en-US" sz="2200" b="1" dirty="0" err="1" smtClean="0">
                <a:solidFill>
                  <a:srgbClr val="FFFFFF"/>
                </a:solidFill>
              </a:rPr>
              <a:t>lệ</a:t>
            </a:r>
            <a:r>
              <a:rPr lang="en-US" sz="2200" b="1" dirty="0" smtClean="0">
                <a:solidFill>
                  <a:srgbClr val="FFFFFF"/>
                </a:solidFill>
              </a:rPr>
              <a:t> </a:t>
            </a:r>
            <a:r>
              <a:rPr lang="en-US" sz="2200" b="1" dirty="0" err="1" smtClean="0">
                <a:solidFill>
                  <a:srgbClr val="FFFFFF"/>
                </a:solidFill>
              </a:rPr>
              <a:t>từ</a:t>
            </a:r>
            <a:r>
              <a:rPr lang="en-US" sz="2200" b="1" dirty="0" smtClean="0">
                <a:solidFill>
                  <a:srgbClr val="FFFFFF"/>
                </a:solidFill>
              </a:rPr>
              <a:t> </a:t>
            </a:r>
            <a:r>
              <a:rPr lang="en-US" sz="2200" b="1" dirty="0" err="1" smtClean="0">
                <a:solidFill>
                  <a:srgbClr val="FFFFFF"/>
                </a:solidFill>
              </a:rPr>
              <a:t>JMeter</a:t>
            </a:r>
            <a:r>
              <a:rPr lang="en-US" sz="2200" b="1" dirty="0" smtClean="0">
                <a:solidFill>
                  <a:srgbClr val="FFFFFF"/>
                </a:solidFill>
              </a:rPr>
              <a:t>)</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8" name="Shape 6"/>
          <p:cNvSpPr/>
          <p:nvPr/>
        </p:nvSpPr>
        <p:spPr>
          <a:xfrm>
            <a:off x="274320" y="804672"/>
            <a:ext cx="54864" cy="3950208"/>
          </a:xfrm>
          <a:prstGeom prst="rect">
            <a:avLst/>
          </a:prstGeom>
          <a:solidFill>
            <a:srgbClr val="0096B7"/>
          </a:solidFill>
          <a:ln w="12700">
            <a:solidFill>
              <a:srgbClr val="0096B7"/>
            </a:solidFill>
            <a:prstDash val="solid"/>
          </a:ln>
        </p:spPr>
      </p:sp>
      <p:sp>
        <p:nvSpPr>
          <p:cNvPr id="9" name="Text 7"/>
          <p:cNvSpPr/>
          <p:nvPr/>
        </p:nvSpPr>
        <p:spPr>
          <a:xfrm>
            <a:off x="457200" y="804672"/>
            <a:ext cx="4206854" cy="320040"/>
          </a:xfrm>
          <a:prstGeom prst="rect">
            <a:avLst/>
          </a:prstGeom>
          <a:noFill/>
          <a:ln/>
        </p:spPr>
        <p:txBody>
          <a:bodyPr wrap="square" lIns="0" tIns="0" rIns="0" bIns="0" rtlCol="0" anchor="ctr"/>
          <a:lstStyle/>
          <a:p>
            <a:pPr marL="0" indent="0">
              <a:buNone/>
            </a:pPr>
            <a:r>
              <a:rPr lang="en-US" sz="1200" b="1" dirty="0" err="1" smtClean="0">
                <a:solidFill>
                  <a:srgbClr val="0D1B2A"/>
                </a:solidFill>
              </a:rPr>
              <a:t>Quan</a:t>
            </a:r>
            <a:r>
              <a:rPr lang="en-US" sz="1200" b="1" dirty="0" smtClean="0">
                <a:solidFill>
                  <a:srgbClr val="0D1B2A"/>
                </a:solidFill>
              </a:rPr>
              <a:t> </a:t>
            </a:r>
            <a:r>
              <a:rPr lang="en-US" sz="1200" b="1" dirty="0" err="1" smtClean="0">
                <a:solidFill>
                  <a:srgbClr val="0D1B2A"/>
                </a:solidFill>
              </a:rPr>
              <a:t>sát</a:t>
            </a:r>
            <a:r>
              <a:rPr lang="en-US" sz="1200" b="1" dirty="0" smtClean="0">
                <a:solidFill>
                  <a:srgbClr val="0D1B2A"/>
                </a:solidFill>
              </a:rPr>
              <a:t> </a:t>
            </a:r>
            <a:r>
              <a:rPr lang="en-US" sz="1200" b="1" dirty="0" err="1" smtClean="0">
                <a:solidFill>
                  <a:srgbClr val="0D1B2A"/>
                </a:solidFill>
              </a:rPr>
              <a:t>trên</a:t>
            </a:r>
            <a:r>
              <a:rPr lang="en-US" sz="1200" b="1" dirty="0" smtClean="0">
                <a:solidFill>
                  <a:srgbClr val="0D1B2A"/>
                </a:solidFill>
              </a:rPr>
              <a:t> </a:t>
            </a:r>
            <a:r>
              <a:rPr lang="en-US" sz="1200" b="1" dirty="0" err="1" smtClean="0">
                <a:solidFill>
                  <a:srgbClr val="0D1B2A"/>
                </a:solidFill>
              </a:rPr>
              <a:t>Grafana</a:t>
            </a:r>
            <a:r>
              <a:rPr lang="en-US" sz="1200" b="1" dirty="0" smtClean="0">
                <a:solidFill>
                  <a:srgbClr val="0D1B2A"/>
                </a:solidFill>
              </a:rPr>
              <a:t> </a:t>
            </a:r>
            <a:r>
              <a:rPr lang="en-US" sz="1200" b="1" dirty="0" err="1" smtClean="0">
                <a:solidFill>
                  <a:srgbClr val="0D1B2A"/>
                </a:solidFill>
              </a:rPr>
              <a:t>sau</a:t>
            </a:r>
            <a:r>
              <a:rPr lang="en-US" sz="1200" b="1" dirty="0" smtClean="0">
                <a:solidFill>
                  <a:srgbClr val="0D1B2A"/>
                </a:solidFill>
              </a:rPr>
              <a:t> 15 </a:t>
            </a:r>
            <a:r>
              <a:rPr lang="en-US" sz="1200" b="1" dirty="0" err="1" smtClean="0">
                <a:solidFill>
                  <a:srgbClr val="0D1B2A"/>
                </a:solidFill>
              </a:rPr>
              <a:t>phút</a:t>
            </a:r>
            <a:r>
              <a:rPr lang="en-US" sz="1200" b="1" dirty="0" smtClean="0">
                <a:solidFill>
                  <a:srgbClr val="0D1B2A"/>
                </a:solidFill>
              </a:rPr>
              <a:t> </a:t>
            </a:r>
            <a:r>
              <a:rPr lang="en-US" sz="1200" b="1" dirty="0" err="1" smtClean="0">
                <a:solidFill>
                  <a:srgbClr val="0D1B2A"/>
                </a:solidFill>
              </a:rPr>
              <a:t>đẩy</a:t>
            </a:r>
            <a:r>
              <a:rPr lang="en-US" sz="1200" b="1" dirty="0" smtClean="0">
                <a:solidFill>
                  <a:srgbClr val="0D1B2A"/>
                </a:solidFill>
              </a:rPr>
              <a:t> </a:t>
            </a:r>
            <a:r>
              <a:rPr lang="en-US" sz="1200" b="1" dirty="0" err="1" smtClean="0">
                <a:solidFill>
                  <a:srgbClr val="0D1B2A"/>
                </a:solidFill>
              </a:rPr>
              <a:t>tải</a:t>
            </a:r>
            <a:r>
              <a:rPr lang="en-US" sz="1200" b="1" dirty="0" smtClean="0">
                <a:solidFill>
                  <a:srgbClr val="0D1B2A"/>
                </a:solidFill>
              </a:rPr>
              <a:t> legit traffic </a:t>
            </a:r>
            <a:r>
              <a:rPr lang="en-US" sz="1200" b="1" dirty="0" err="1" smtClean="0">
                <a:solidFill>
                  <a:srgbClr val="0D1B2A"/>
                </a:solidFill>
              </a:rPr>
              <a:t>từ</a:t>
            </a:r>
            <a:r>
              <a:rPr lang="en-US" sz="1200" b="1" dirty="0" smtClean="0">
                <a:solidFill>
                  <a:srgbClr val="0D1B2A"/>
                </a:solidFill>
              </a:rPr>
              <a:t> </a:t>
            </a:r>
            <a:r>
              <a:rPr lang="en-US" sz="1200" b="1" dirty="0" err="1" smtClean="0">
                <a:solidFill>
                  <a:srgbClr val="0D1B2A"/>
                </a:solidFill>
              </a:rPr>
              <a:t>JMeter</a:t>
            </a:r>
            <a:endParaRPr lang="en-US" sz="1200" dirty="0"/>
          </a:p>
        </p:txBody>
      </p:sp>
      <p:sp>
        <p:nvSpPr>
          <p:cNvPr id="29" name="Text 2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Replicas panel (baseline phase)</a:t>
            </a:r>
            <a:endParaRPr lang="en-US" sz="800" dirty="0"/>
          </a:p>
        </p:txBody>
      </p:sp>
      <p:sp>
        <p:nvSpPr>
          <p:cNvPr id="34" name="Text 19"/>
          <p:cNvSpPr/>
          <p:nvPr/>
        </p:nvSpPr>
        <p:spPr>
          <a:xfrm>
            <a:off x="599961" y="4233672"/>
            <a:ext cx="7126412" cy="384048"/>
          </a:xfrm>
          <a:prstGeom prst="rect">
            <a:avLst/>
          </a:prstGeom>
          <a:noFill/>
          <a:ln/>
        </p:spPr>
        <p:txBody>
          <a:bodyPr wrap="square" lIns="0" tIns="0" rIns="0" bIns="0" rtlCol="0" anchor="ctr"/>
          <a:lstStyle/>
          <a:p>
            <a:pPr marL="0" indent="0">
              <a:buNone/>
            </a:pPr>
            <a:r>
              <a:rPr lang="en-US" sz="1000" dirty="0" smtClean="0">
                <a:solidFill>
                  <a:srgbClr val="0D1B2A"/>
                </a:solidFill>
              </a:rPr>
              <a:t>=&gt; </a:t>
            </a:r>
            <a:r>
              <a:rPr lang="en-US" sz="1000" dirty="0" err="1" smtClean="0">
                <a:solidFill>
                  <a:srgbClr val="0D1B2A"/>
                </a:solidFill>
              </a:rPr>
              <a:t>Hệ</a:t>
            </a:r>
            <a:r>
              <a:rPr lang="en-US" sz="1000" dirty="0" smtClean="0">
                <a:solidFill>
                  <a:srgbClr val="0D1B2A"/>
                </a:solidFill>
              </a:rPr>
              <a:t> </a:t>
            </a:r>
            <a:r>
              <a:rPr lang="en-US" sz="1000" dirty="0" err="1" smtClean="0">
                <a:solidFill>
                  <a:srgbClr val="0D1B2A"/>
                </a:solidFill>
              </a:rPr>
              <a:t>thống</a:t>
            </a:r>
            <a:r>
              <a:rPr lang="en-US" sz="1000" dirty="0" smtClean="0">
                <a:solidFill>
                  <a:srgbClr val="0D1B2A"/>
                </a:solidFill>
              </a:rPr>
              <a:t> </a:t>
            </a:r>
            <a:r>
              <a:rPr lang="en-US" sz="1000" dirty="0" err="1" smtClean="0">
                <a:solidFill>
                  <a:srgbClr val="0D1B2A"/>
                </a:solidFill>
              </a:rPr>
              <a:t>ổn</a:t>
            </a:r>
            <a:r>
              <a:rPr lang="en-US" sz="1000" dirty="0" smtClean="0">
                <a:solidFill>
                  <a:srgbClr val="0D1B2A"/>
                </a:solidFill>
              </a:rPr>
              <a:t> </a:t>
            </a:r>
            <a:r>
              <a:rPr lang="en-US" sz="1000" dirty="0" err="1" smtClean="0">
                <a:solidFill>
                  <a:srgbClr val="0D1B2A"/>
                </a:solidFill>
              </a:rPr>
              <a:t>định</a:t>
            </a:r>
            <a:r>
              <a:rPr lang="en-US" sz="1000" dirty="0" smtClean="0">
                <a:solidFill>
                  <a:srgbClr val="0D1B2A"/>
                </a:solidFill>
              </a:rPr>
              <a:t>, CPU </a:t>
            </a:r>
            <a:r>
              <a:rPr lang="en-US" sz="1000" dirty="0" err="1" smtClean="0">
                <a:solidFill>
                  <a:srgbClr val="0D1B2A"/>
                </a:solidFill>
              </a:rPr>
              <a:t>đều</a:t>
            </a:r>
            <a:r>
              <a:rPr lang="en-US" sz="1000" dirty="0" smtClean="0">
                <a:solidFill>
                  <a:srgbClr val="0D1B2A"/>
                </a:solidFill>
              </a:rPr>
              <a:t> ở </a:t>
            </a:r>
            <a:r>
              <a:rPr lang="en-US" sz="1000" dirty="0" err="1" smtClean="0">
                <a:solidFill>
                  <a:srgbClr val="0D1B2A"/>
                </a:solidFill>
              </a:rPr>
              <a:t>mức</a:t>
            </a:r>
            <a:r>
              <a:rPr lang="en-US" sz="1000" dirty="0" smtClean="0">
                <a:solidFill>
                  <a:srgbClr val="0D1B2A"/>
                </a:solidFill>
              </a:rPr>
              <a:t> </a:t>
            </a:r>
            <a:r>
              <a:rPr lang="en-US" sz="1000" dirty="0" err="1" smtClean="0">
                <a:solidFill>
                  <a:srgbClr val="0D1B2A"/>
                </a:solidFill>
              </a:rPr>
              <a:t>ngưỡng</a:t>
            </a:r>
            <a:r>
              <a:rPr lang="en-US" sz="1000" dirty="0" smtClean="0">
                <a:solidFill>
                  <a:srgbClr val="0D1B2A"/>
                </a:solidFill>
              </a:rPr>
              <a:t> </a:t>
            </a:r>
            <a:r>
              <a:rPr lang="en-US" sz="1000" dirty="0" err="1" smtClean="0">
                <a:solidFill>
                  <a:srgbClr val="0D1B2A"/>
                </a:solidFill>
              </a:rPr>
              <a:t>ko</a:t>
            </a:r>
            <a:r>
              <a:rPr lang="en-US" sz="1000" dirty="0" smtClean="0">
                <a:solidFill>
                  <a:srgbClr val="0D1B2A"/>
                </a:solidFill>
              </a:rPr>
              <a:t> </a:t>
            </a:r>
            <a:r>
              <a:rPr lang="en-US" sz="1000" dirty="0" err="1" smtClean="0">
                <a:solidFill>
                  <a:srgbClr val="0D1B2A"/>
                </a:solidFill>
              </a:rPr>
              <a:t>vượt</a:t>
            </a:r>
            <a:r>
              <a:rPr lang="en-US" sz="1000" dirty="0" smtClean="0">
                <a:solidFill>
                  <a:srgbClr val="0D1B2A"/>
                </a:solidFill>
              </a:rPr>
              <a:t> </a:t>
            </a:r>
            <a:r>
              <a:rPr lang="en-US" sz="1000" dirty="0" err="1" smtClean="0">
                <a:solidFill>
                  <a:srgbClr val="0D1B2A"/>
                </a:solidFill>
              </a:rPr>
              <a:t>ngưỡng</a:t>
            </a:r>
            <a:r>
              <a:rPr lang="en-US" sz="1000" dirty="0" smtClean="0">
                <a:solidFill>
                  <a:srgbClr val="0D1B2A"/>
                </a:solidFill>
              </a:rPr>
              <a:t> 50% </a:t>
            </a:r>
            <a:r>
              <a:rPr lang="en-US" sz="1000" dirty="0" err="1" smtClean="0">
                <a:solidFill>
                  <a:srgbClr val="0D1B2A"/>
                </a:solidFill>
              </a:rPr>
              <a:t>liên</a:t>
            </a:r>
            <a:r>
              <a:rPr lang="en-US" sz="1000" dirty="0" smtClean="0">
                <a:solidFill>
                  <a:srgbClr val="0D1B2A"/>
                </a:solidFill>
              </a:rPr>
              <a:t> </a:t>
            </a:r>
            <a:r>
              <a:rPr lang="en-US" sz="1000" dirty="0" err="1" smtClean="0">
                <a:solidFill>
                  <a:srgbClr val="0D1B2A"/>
                </a:solidFill>
              </a:rPr>
              <a:t>tục</a:t>
            </a:r>
            <a:r>
              <a:rPr lang="en-US" sz="1000" dirty="0" smtClean="0">
                <a:solidFill>
                  <a:srgbClr val="0D1B2A"/>
                </a:solidFill>
              </a:rPr>
              <a:t>, pod </a:t>
            </a:r>
            <a:r>
              <a:rPr lang="en-US" sz="1000" dirty="0" err="1" smtClean="0">
                <a:solidFill>
                  <a:srgbClr val="0D1B2A"/>
                </a:solidFill>
              </a:rPr>
              <a:t>duy</a:t>
            </a:r>
            <a:r>
              <a:rPr lang="en-US" sz="1000" dirty="0" smtClean="0">
                <a:solidFill>
                  <a:srgbClr val="0D1B2A"/>
                </a:solidFill>
              </a:rPr>
              <a:t> </a:t>
            </a:r>
            <a:r>
              <a:rPr lang="en-US" sz="1000" dirty="0" err="1" smtClean="0">
                <a:solidFill>
                  <a:srgbClr val="0D1B2A"/>
                </a:solidFill>
              </a:rPr>
              <a:t>trì</a:t>
            </a:r>
            <a:r>
              <a:rPr lang="en-US" sz="1000" dirty="0" smtClean="0">
                <a:solidFill>
                  <a:srgbClr val="0D1B2A"/>
                </a:solidFill>
              </a:rPr>
              <a:t> </a:t>
            </a:r>
            <a:r>
              <a:rPr lang="en-US" sz="1000" dirty="0" err="1" smtClean="0">
                <a:solidFill>
                  <a:srgbClr val="0D1B2A"/>
                </a:solidFill>
              </a:rPr>
              <a:t>ổn</a:t>
            </a:r>
            <a:r>
              <a:rPr lang="en-US" sz="1000" dirty="0" smtClean="0">
                <a:solidFill>
                  <a:srgbClr val="0D1B2A"/>
                </a:solidFill>
              </a:rPr>
              <a:t> </a:t>
            </a:r>
            <a:r>
              <a:rPr lang="en-US" sz="1000" dirty="0" err="1" smtClean="0">
                <a:solidFill>
                  <a:srgbClr val="0D1B2A"/>
                </a:solidFill>
              </a:rPr>
              <a:t>định</a:t>
            </a:r>
            <a:r>
              <a:rPr lang="en-US" sz="1000" dirty="0" smtClean="0">
                <a:solidFill>
                  <a:srgbClr val="0D1B2A"/>
                </a:solidFill>
              </a:rPr>
              <a:t> 1 (</a:t>
            </a:r>
            <a:r>
              <a:rPr lang="en-US" sz="1000" dirty="0" err="1" smtClean="0">
                <a:solidFill>
                  <a:srgbClr val="0D1B2A"/>
                </a:solidFill>
              </a:rPr>
              <a:t>hoặc</a:t>
            </a:r>
            <a:r>
              <a:rPr lang="en-US" sz="1000" dirty="0" smtClean="0">
                <a:solidFill>
                  <a:srgbClr val="0D1B2A"/>
                </a:solidFill>
              </a:rPr>
              <a:t> 2) pod </a:t>
            </a:r>
            <a:r>
              <a:rPr lang="en-US" sz="1000" dirty="0" err="1" smtClean="0">
                <a:solidFill>
                  <a:srgbClr val="0D1B2A"/>
                </a:solidFill>
              </a:rPr>
              <a:t>tùy</a:t>
            </a:r>
            <a:r>
              <a:rPr lang="en-US" sz="1000" dirty="0" smtClean="0">
                <a:solidFill>
                  <a:srgbClr val="0D1B2A"/>
                </a:solidFill>
              </a:rPr>
              <a:t> </a:t>
            </a:r>
            <a:r>
              <a:rPr lang="en-US" sz="1000" dirty="0" err="1" smtClean="0">
                <a:solidFill>
                  <a:srgbClr val="0D1B2A"/>
                </a:solidFill>
              </a:rPr>
              <a:t>theo</a:t>
            </a:r>
            <a:r>
              <a:rPr lang="en-US" sz="1000" dirty="0" smtClean="0">
                <a:solidFill>
                  <a:srgbClr val="0D1B2A"/>
                </a:solidFill>
              </a:rPr>
              <a:t> </a:t>
            </a:r>
            <a:r>
              <a:rPr lang="en-US" sz="1000" dirty="0" err="1" smtClean="0">
                <a:solidFill>
                  <a:srgbClr val="0D1B2A"/>
                </a:solidFill>
              </a:rPr>
              <a:t>tải</a:t>
            </a:r>
            <a:endParaRPr lang="en-US" sz="1000" dirty="0"/>
          </a:p>
        </p:txBody>
      </p:sp>
      <p:pic>
        <p:nvPicPr>
          <p:cNvPr id="7" name="Picture 6"/>
          <p:cNvPicPr>
            <a:picLocks noChangeAspect="1"/>
          </p:cNvPicPr>
          <p:nvPr/>
        </p:nvPicPr>
        <p:blipFill>
          <a:blip r:embed="rId3"/>
          <a:stretch>
            <a:fillRect/>
          </a:stretch>
        </p:blipFill>
        <p:spPr>
          <a:xfrm>
            <a:off x="1008161" y="1062861"/>
            <a:ext cx="6815042" cy="3232662"/>
          </a:xfrm>
          <a:prstGeom prst="rect">
            <a:avLst/>
          </a:prstGeom>
        </p:spPr>
      </p:pic>
    </p:spTree>
    <p:extLst>
      <p:ext uri="{BB962C8B-B14F-4D97-AF65-F5344CB8AC3E}">
        <p14:creationId xmlns:p14="http://schemas.microsoft.com/office/powerpoint/2010/main" val="21722247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D62828"/>
          </a:solidFill>
          <a:ln w="12700">
            <a:solidFill>
              <a:srgbClr val="D62828"/>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Giai đoạn 2 — Tấn công EDoS State-Aware</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4160520" cy="2176272"/>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2176272"/>
          </a:xfrm>
          <a:prstGeom prst="rect">
            <a:avLst/>
          </a:prstGeom>
          <a:solidFill>
            <a:srgbClr val="D62828"/>
          </a:solidFill>
          <a:ln w="12700">
            <a:solidFill>
              <a:srgbClr val="D62828"/>
            </a:solidFill>
            <a:prstDash val="solid"/>
          </a:ln>
        </p:spPr>
      </p:sp>
      <p:sp>
        <p:nvSpPr>
          <p:cNvPr id="9" name="Text 7"/>
          <p:cNvSpPr/>
          <p:nvPr/>
        </p:nvSpPr>
        <p:spPr>
          <a:xfrm>
            <a:off x="457200" y="868680"/>
            <a:ext cx="3840480" cy="320040"/>
          </a:xfrm>
          <a:prstGeom prst="rect">
            <a:avLst/>
          </a:prstGeom>
          <a:noFill/>
          <a:ln/>
        </p:spPr>
        <p:txBody>
          <a:bodyPr wrap="square" lIns="0" tIns="0" rIns="0" bIns="0" rtlCol="0" anchor="ctr"/>
          <a:lstStyle/>
          <a:p>
            <a:pPr marL="0" indent="0">
              <a:buNone/>
            </a:pPr>
            <a:r>
              <a:rPr lang="en-US" sz="1100" b="1" dirty="0" err="1" smtClean="0">
                <a:solidFill>
                  <a:srgbClr val="0D1B2A"/>
                </a:solidFill>
              </a:rPr>
              <a:t>Vòng</a:t>
            </a:r>
            <a:r>
              <a:rPr lang="en-US" sz="1100" b="1" dirty="0" smtClean="0">
                <a:solidFill>
                  <a:srgbClr val="0D1B2A"/>
                </a:solidFill>
              </a:rPr>
              <a:t> </a:t>
            </a:r>
            <a:r>
              <a:rPr lang="en-US" sz="1100" b="1" dirty="0" err="1" smtClean="0">
                <a:solidFill>
                  <a:srgbClr val="0D1B2A"/>
                </a:solidFill>
              </a:rPr>
              <a:t>lặp</a:t>
            </a:r>
            <a:r>
              <a:rPr lang="en-US" sz="1100" b="1" dirty="0" smtClean="0">
                <a:solidFill>
                  <a:srgbClr val="0D1B2A"/>
                </a:solidFill>
              </a:rPr>
              <a:t> </a:t>
            </a:r>
            <a:r>
              <a:rPr lang="en-US" sz="1100" b="1" dirty="0">
                <a:solidFill>
                  <a:srgbClr val="0D1B2A"/>
                </a:solidFill>
              </a:rPr>
              <a:t>Attacker </a:t>
            </a:r>
            <a:r>
              <a:rPr lang="en-US" sz="1100" b="1" dirty="0" smtClean="0">
                <a:solidFill>
                  <a:srgbClr val="0D1B2A"/>
                </a:solidFill>
              </a:rPr>
              <a:t>Controller</a:t>
            </a:r>
            <a:endParaRPr lang="en-US" sz="1100" dirty="0"/>
          </a:p>
        </p:txBody>
      </p:sp>
      <p:sp>
        <p:nvSpPr>
          <p:cNvPr id="10" name="Shape 8"/>
          <p:cNvSpPr/>
          <p:nvPr/>
        </p:nvSpPr>
        <p:spPr>
          <a:xfrm>
            <a:off x="457200" y="1261872"/>
            <a:ext cx="347472" cy="347472"/>
          </a:xfrm>
          <a:prstGeom prst="ellipse">
            <a:avLst/>
          </a:prstGeom>
          <a:solidFill>
            <a:srgbClr val="D62828"/>
          </a:solidFill>
          <a:ln w="12700">
            <a:solidFill>
              <a:srgbClr val="D62828"/>
            </a:solidFill>
            <a:prstDash val="solid"/>
          </a:ln>
        </p:spPr>
      </p:sp>
      <p:sp>
        <p:nvSpPr>
          <p:cNvPr id="11" name="Text 9"/>
          <p:cNvSpPr/>
          <p:nvPr/>
        </p:nvSpPr>
        <p:spPr>
          <a:xfrm>
            <a:off x="457200" y="12618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2" name="Text 10"/>
          <p:cNvSpPr/>
          <p:nvPr/>
        </p:nvSpPr>
        <p:spPr>
          <a:xfrm>
            <a:off x="896112" y="1261872"/>
            <a:ext cx="1463040" cy="274320"/>
          </a:xfrm>
          <a:prstGeom prst="rect">
            <a:avLst/>
          </a:prstGeom>
          <a:noFill/>
          <a:ln/>
        </p:spPr>
        <p:txBody>
          <a:bodyPr wrap="square" lIns="0" tIns="0" rIns="0" bIns="0" rtlCol="0" anchor="ctr"/>
          <a:lstStyle/>
          <a:p>
            <a:pPr marL="0" indent="0">
              <a:buNone/>
            </a:pPr>
            <a:r>
              <a:rPr lang="en-US" sz="1000" b="1" dirty="0">
                <a:solidFill>
                  <a:srgbClr val="0D1B2A"/>
                </a:solidFill>
              </a:rPr>
              <a:t>Query Prometheus:</a:t>
            </a:r>
            <a:endParaRPr lang="en-US" sz="1000" dirty="0"/>
          </a:p>
        </p:txBody>
      </p:sp>
      <p:sp>
        <p:nvSpPr>
          <p:cNvPr id="13" name="Text 11"/>
          <p:cNvSpPr/>
          <p:nvPr/>
        </p:nvSpPr>
        <p:spPr>
          <a:xfrm>
            <a:off x="896112" y="1517904"/>
            <a:ext cx="3429000" cy="256032"/>
          </a:xfrm>
          <a:prstGeom prst="rect">
            <a:avLst/>
          </a:prstGeom>
          <a:noFill/>
          <a:ln/>
        </p:spPr>
        <p:txBody>
          <a:bodyPr wrap="square" lIns="0" tIns="0" rIns="0" bIns="0" rtlCol="0" anchor="ctr"/>
          <a:lstStyle/>
          <a:p>
            <a:pPr marL="0" indent="0">
              <a:buNone/>
            </a:pPr>
            <a:r>
              <a:rPr lang="en-US" sz="1000" dirty="0" err="1" smtClean="0">
                <a:solidFill>
                  <a:srgbClr val="64748B"/>
                </a:solidFill>
              </a:rPr>
              <a:t>Lấy</a:t>
            </a:r>
            <a:r>
              <a:rPr lang="en-US" sz="1000" dirty="0" smtClean="0">
                <a:solidFill>
                  <a:srgbClr val="64748B"/>
                </a:solidFill>
              </a:rPr>
              <a:t> </a:t>
            </a:r>
            <a:r>
              <a:rPr lang="en-US" sz="1000" dirty="0">
                <a:solidFill>
                  <a:srgbClr val="64748B"/>
                </a:solidFill>
              </a:rPr>
              <a:t>replicas &amp; CPU </a:t>
            </a:r>
            <a:r>
              <a:rPr lang="en-US" sz="1000" dirty="0" err="1" smtClean="0">
                <a:solidFill>
                  <a:srgbClr val="64748B"/>
                </a:solidFill>
              </a:rPr>
              <a:t>hiện</a:t>
            </a:r>
            <a:r>
              <a:rPr lang="en-US" sz="1000" dirty="0" smtClean="0">
                <a:solidFill>
                  <a:srgbClr val="64748B"/>
                </a:solidFill>
              </a:rPr>
              <a:t> </a:t>
            </a:r>
            <a:r>
              <a:rPr lang="en-US" sz="1000" dirty="0" err="1" smtClean="0">
                <a:solidFill>
                  <a:srgbClr val="64748B"/>
                </a:solidFill>
              </a:rPr>
              <a:t>tại</a:t>
            </a:r>
            <a:endParaRPr lang="en-US" sz="1000" dirty="0"/>
          </a:p>
        </p:txBody>
      </p:sp>
      <p:sp>
        <p:nvSpPr>
          <p:cNvPr id="14" name="Shape 12"/>
          <p:cNvSpPr/>
          <p:nvPr/>
        </p:nvSpPr>
        <p:spPr>
          <a:xfrm>
            <a:off x="457200" y="1810512"/>
            <a:ext cx="347472" cy="347472"/>
          </a:xfrm>
          <a:prstGeom prst="ellipse">
            <a:avLst/>
          </a:prstGeom>
          <a:solidFill>
            <a:srgbClr val="D62828"/>
          </a:solidFill>
          <a:ln w="12700">
            <a:solidFill>
              <a:srgbClr val="D62828"/>
            </a:solidFill>
            <a:prstDash val="solid"/>
          </a:ln>
        </p:spPr>
      </p:sp>
      <p:sp>
        <p:nvSpPr>
          <p:cNvPr id="15" name="Text 13"/>
          <p:cNvSpPr/>
          <p:nvPr/>
        </p:nvSpPr>
        <p:spPr>
          <a:xfrm>
            <a:off x="457200" y="18105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6" name="Text 14"/>
          <p:cNvSpPr/>
          <p:nvPr/>
        </p:nvSpPr>
        <p:spPr>
          <a:xfrm>
            <a:off x="896112" y="1810512"/>
            <a:ext cx="1463040" cy="274320"/>
          </a:xfrm>
          <a:prstGeom prst="rect">
            <a:avLst/>
          </a:prstGeom>
          <a:noFill/>
          <a:ln/>
        </p:spPr>
        <p:txBody>
          <a:bodyPr wrap="square" lIns="0" tIns="0" rIns="0" bIns="0" rtlCol="0" anchor="ctr"/>
          <a:lstStyle/>
          <a:p>
            <a:pPr marL="0" indent="0">
              <a:buNone/>
            </a:pPr>
            <a:r>
              <a:rPr lang="en-US" sz="1000" b="1" dirty="0" err="1" smtClean="0">
                <a:solidFill>
                  <a:srgbClr val="0D1B2A"/>
                </a:solidFill>
              </a:rPr>
              <a:t>Đánh</a:t>
            </a:r>
            <a:r>
              <a:rPr lang="en-US" sz="1000" b="1" dirty="0" smtClean="0">
                <a:solidFill>
                  <a:srgbClr val="0D1B2A"/>
                </a:solidFill>
              </a:rPr>
              <a:t> </a:t>
            </a:r>
            <a:r>
              <a:rPr lang="en-US" sz="1000" b="1" dirty="0" err="1" smtClean="0">
                <a:solidFill>
                  <a:srgbClr val="0D1B2A"/>
                </a:solidFill>
              </a:rPr>
              <a:t>giá</a:t>
            </a:r>
            <a:r>
              <a:rPr lang="en-US" sz="1000" b="1" dirty="0" smtClean="0">
                <a:solidFill>
                  <a:srgbClr val="0D1B2A"/>
                </a:solidFill>
              </a:rPr>
              <a:t> </a:t>
            </a:r>
            <a:r>
              <a:rPr lang="en-US" sz="1000" b="1" dirty="0" err="1" smtClean="0">
                <a:solidFill>
                  <a:srgbClr val="0D1B2A"/>
                </a:solidFill>
              </a:rPr>
              <a:t>điều</a:t>
            </a:r>
            <a:r>
              <a:rPr lang="en-US" sz="1000" b="1" dirty="0" smtClean="0">
                <a:solidFill>
                  <a:srgbClr val="0D1B2A"/>
                </a:solidFill>
              </a:rPr>
              <a:t> </a:t>
            </a:r>
            <a:r>
              <a:rPr lang="en-US" sz="1000" b="1" dirty="0" err="1" smtClean="0">
                <a:solidFill>
                  <a:srgbClr val="0D1B2A"/>
                </a:solidFill>
              </a:rPr>
              <a:t>kiện</a:t>
            </a:r>
            <a:r>
              <a:rPr lang="en-US" sz="1000" b="1" dirty="0" smtClean="0">
                <a:solidFill>
                  <a:srgbClr val="0D1B2A"/>
                </a:solidFill>
              </a:rPr>
              <a:t>:</a:t>
            </a:r>
            <a:endParaRPr lang="en-US" sz="1000" dirty="0"/>
          </a:p>
        </p:txBody>
      </p:sp>
      <p:sp>
        <p:nvSpPr>
          <p:cNvPr id="17" name="Text 15"/>
          <p:cNvSpPr/>
          <p:nvPr/>
        </p:nvSpPr>
        <p:spPr>
          <a:xfrm>
            <a:off x="896112" y="2066544"/>
            <a:ext cx="3429000" cy="256032"/>
          </a:xfrm>
          <a:prstGeom prst="rect">
            <a:avLst/>
          </a:prstGeom>
          <a:noFill/>
          <a:ln/>
        </p:spPr>
        <p:txBody>
          <a:bodyPr wrap="square" lIns="0" tIns="0" rIns="0" bIns="0" rtlCol="0" anchor="ctr"/>
          <a:lstStyle/>
          <a:p>
            <a:pPr marL="0" indent="0">
              <a:buNone/>
            </a:pPr>
            <a:r>
              <a:rPr lang="en-US" sz="1000" dirty="0" err="1" smtClean="0">
                <a:solidFill>
                  <a:srgbClr val="64748B"/>
                </a:solidFill>
              </a:rPr>
              <a:t>Phát</a:t>
            </a:r>
            <a:r>
              <a:rPr lang="en-US" sz="1000" dirty="0" smtClean="0">
                <a:solidFill>
                  <a:srgbClr val="64748B"/>
                </a:solidFill>
              </a:rPr>
              <a:t> </a:t>
            </a:r>
            <a:r>
              <a:rPr lang="en-US" sz="1000" dirty="0" err="1" smtClean="0">
                <a:solidFill>
                  <a:srgbClr val="64748B"/>
                </a:solidFill>
              </a:rPr>
              <a:t>hiệnn</a:t>
            </a:r>
            <a:r>
              <a:rPr lang="en-US" sz="1000" dirty="0" smtClean="0">
                <a:solidFill>
                  <a:srgbClr val="64748B"/>
                </a:solidFill>
              </a:rPr>
              <a:t> scale-down, </a:t>
            </a:r>
            <a:r>
              <a:rPr lang="en-US" sz="1000" dirty="0" err="1" smtClean="0">
                <a:solidFill>
                  <a:srgbClr val="64748B"/>
                </a:solidFill>
              </a:rPr>
              <a:t>hoặc</a:t>
            </a:r>
            <a:r>
              <a:rPr lang="en-US" sz="1000" dirty="0" smtClean="0">
                <a:solidFill>
                  <a:srgbClr val="64748B"/>
                </a:solidFill>
              </a:rPr>
              <a:t> CPU </a:t>
            </a:r>
            <a:r>
              <a:rPr lang="en-US" sz="1000" dirty="0" err="1" smtClean="0">
                <a:solidFill>
                  <a:srgbClr val="64748B"/>
                </a:solidFill>
              </a:rPr>
              <a:t>tiêu</a:t>
            </a:r>
            <a:r>
              <a:rPr lang="en-US" sz="1000" dirty="0" smtClean="0">
                <a:solidFill>
                  <a:srgbClr val="64748B"/>
                </a:solidFill>
              </a:rPr>
              <a:t> </a:t>
            </a:r>
            <a:r>
              <a:rPr lang="en-US" sz="1000" dirty="0" err="1" smtClean="0">
                <a:solidFill>
                  <a:srgbClr val="64748B"/>
                </a:solidFill>
              </a:rPr>
              <a:t>thụ</a:t>
            </a:r>
            <a:r>
              <a:rPr lang="en-US" sz="1000" dirty="0" smtClean="0">
                <a:solidFill>
                  <a:srgbClr val="64748B"/>
                </a:solidFill>
              </a:rPr>
              <a:t> </a:t>
            </a:r>
            <a:r>
              <a:rPr lang="en-US" sz="1000" dirty="0" err="1" smtClean="0">
                <a:solidFill>
                  <a:srgbClr val="64748B"/>
                </a:solidFill>
              </a:rPr>
              <a:t>thấp</a:t>
            </a:r>
            <a:endParaRPr lang="en-US" sz="1000" dirty="0"/>
          </a:p>
        </p:txBody>
      </p:sp>
      <p:sp>
        <p:nvSpPr>
          <p:cNvPr id="18" name="Shape 16"/>
          <p:cNvSpPr/>
          <p:nvPr/>
        </p:nvSpPr>
        <p:spPr>
          <a:xfrm>
            <a:off x="457200" y="2359152"/>
            <a:ext cx="347472" cy="347472"/>
          </a:xfrm>
          <a:prstGeom prst="ellipse">
            <a:avLst/>
          </a:prstGeom>
          <a:solidFill>
            <a:srgbClr val="D62828"/>
          </a:solidFill>
          <a:ln w="12700">
            <a:solidFill>
              <a:srgbClr val="D62828"/>
            </a:solidFill>
            <a:prstDash val="solid"/>
          </a:ln>
        </p:spPr>
      </p:sp>
      <p:sp>
        <p:nvSpPr>
          <p:cNvPr id="19" name="Text 17"/>
          <p:cNvSpPr/>
          <p:nvPr/>
        </p:nvSpPr>
        <p:spPr>
          <a:xfrm>
            <a:off x="457200" y="235915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0" name="Text 18"/>
          <p:cNvSpPr/>
          <p:nvPr/>
        </p:nvSpPr>
        <p:spPr>
          <a:xfrm>
            <a:off x="896112" y="2359152"/>
            <a:ext cx="1463040" cy="274320"/>
          </a:xfrm>
          <a:prstGeom prst="rect">
            <a:avLst/>
          </a:prstGeom>
          <a:noFill/>
          <a:ln/>
        </p:spPr>
        <p:txBody>
          <a:bodyPr wrap="square" lIns="0" tIns="0" rIns="0" bIns="0" rtlCol="0" anchor="ctr"/>
          <a:lstStyle/>
          <a:p>
            <a:pPr marL="0" indent="0">
              <a:buNone/>
            </a:pPr>
            <a:r>
              <a:rPr lang="en-US" sz="1000" b="1" dirty="0">
                <a:solidFill>
                  <a:srgbClr val="0D1B2A"/>
                </a:solidFill>
              </a:rPr>
              <a:t>Quyet dinh:</a:t>
            </a:r>
            <a:endParaRPr lang="en-US" sz="1000" dirty="0"/>
          </a:p>
        </p:txBody>
      </p:sp>
      <p:sp>
        <p:nvSpPr>
          <p:cNvPr id="21" name="Text 19"/>
          <p:cNvSpPr/>
          <p:nvPr/>
        </p:nvSpPr>
        <p:spPr>
          <a:xfrm>
            <a:off x="896112" y="2615184"/>
            <a:ext cx="3429000" cy="256032"/>
          </a:xfrm>
          <a:prstGeom prst="rect">
            <a:avLst/>
          </a:prstGeom>
          <a:noFill/>
          <a:ln/>
        </p:spPr>
        <p:txBody>
          <a:bodyPr wrap="square" lIns="0" tIns="0" rIns="0" bIns="0" rtlCol="0" anchor="ctr"/>
          <a:lstStyle/>
          <a:p>
            <a:pPr marL="0" indent="0">
              <a:buNone/>
            </a:pPr>
            <a:r>
              <a:rPr lang="en-US" sz="1000" dirty="0">
                <a:solidFill>
                  <a:srgbClr val="64748B"/>
                </a:solidFill>
              </a:rPr>
              <a:t>B</a:t>
            </a:r>
            <a:r>
              <a:rPr lang="en-US" sz="1000" dirty="0" smtClean="0">
                <a:solidFill>
                  <a:srgbClr val="64748B"/>
                </a:solidFill>
              </a:rPr>
              <a:t>urst </a:t>
            </a:r>
            <a:r>
              <a:rPr lang="en-US" sz="1000" dirty="0">
                <a:solidFill>
                  <a:srgbClr val="64748B"/>
                </a:solidFill>
              </a:rPr>
              <a:t>2 </a:t>
            </a:r>
            <a:r>
              <a:rPr lang="en-US" sz="1000" dirty="0" err="1" smtClean="0">
                <a:solidFill>
                  <a:srgbClr val="64748B"/>
                </a:solidFill>
              </a:rPr>
              <a:t>phút</a:t>
            </a:r>
            <a:r>
              <a:rPr lang="en-US" sz="1000" dirty="0" smtClean="0">
                <a:solidFill>
                  <a:srgbClr val="64748B"/>
                </a:solidFill>
              </a:rPr>
              <a:t> </a:t>
            </a:r>
            <a:r>
              <a:rPr lang="en-US" sz="1000" dirty="0">
                <a:solidFill>
                  <a:srgbClr val="64748B"/>
                </a:solidFill>
              </a:rPr>
              <a:t>voi K x </a:t>
            </a:r>
            <a:r>
              <a:rPr lang="en-US" sz="1000" dirty="0" smtClean="0">
                <a:solidFill>
                  <a:srgbClr val="64748B"/>
                </a:solidFill>
              </a:rPr>
              <a:t>threads, </a:t>
            </a:r>
            <a:r>
              <a:rPr lang="en-US" sz="1000" dirty="0" err="1" smtClean="0">
                <a:solidFill>
                  <a:srgbClr val="64748B"/>
                </a:solidFill>
              </a:rPr>
              <a:t>bơm</a:t>
            </a:r>
            <a:r>
              <a:rPr lang="en-US" sz="1000" dirty="0" smtClean="0">
                <a:solidFill>
                  <a:srgbClr val="64748B"/>
                </a:solidFill>
              </a:rPr>
              <a:t> </a:t>
            </a:r>
            <a:r>
              <a:rPr lang="en-US" sz="1000" dirty="0" err="1" smtClean="0">
                <a:solidFill>
                  <a:srgbClr val="64748B"/>
                </a:solidFill>
              </a:rPr>
              <a:t>lưu</a:t>
            </a:r>
            <a:r>
              <a:rPr lang="en-US" sz="1000" dirty="0" smtClean="0">
                <a:solidFill>
                  <a:srgbClr val="64748B"/>
                </a:solidFill>
              </a:rPr>
              <a:t> </a:t>
            </a:r>
            <a:r>
              <a:rPr lang="en-US" sz="1000" dirty="0" err="1" smtClean="0">
                <a:solidFill>
                  <a:srgbClr val="64748B"/>
                </a:solidFill>
              </a:rPr>
              <a:t>lượng</a:t>
            </a:r>
            <a:r>
              <a:rPr lang="en-US" sz="1000" dirty="0" smtClean="0">
                <a:solidFill>
                  <a:srgbClr val="64748B"/>
                </a:solidFill>
              </a:rPr>
              <a:t> </a:t>
            </a:r>
            <a:r>
              <a:rPr lang="en-US" sz="1000" dirty="0" err="1" smtClean="0">
                <a:solidFill>
                  <a:srgbClr val="64748B"/>
                </a:solidFill>
              </a:rPr>
              <a:t>làm</a:t>
            </a:r>
            <a:r>
              <a:rPr lang="en-US" sz="1000" dirty="0" smtClean="0">
                <a:solidFill>
                  <a:srgbClr val="64748B"/>
                </a:solidFill>
              </a:rPr>
              <a:t> </a:t>
            </a:r>
            <a:r>
              <a:rPr lang="en-US" sz="1000" dirty="0" err="1" smtClean="0">
                <a:solidFill>
                  <a:srgbClr val="64748B"/>
                </a:solidFill>
              </a:rPr>
              <a:t>tăng</a:t>
            </a:r>
            <a:r>
              <a:rPr lang="en-US" sz="1000" dirty="0" smtClean="0">
                <a:solidFill>
                  <a:srgbClr val="64748B"/>
                </a:solidFill>
              </a:rPr>
              <a:t> </a:t>
            </a:r>
            <a:r>
              <a:rPr lang="en-US" sz="1000" dirty="0" err="1" smtClean="0">
                <a:solidFill>
                  <a:srgbClr val="64748B"/>
                </a:solidFill>
              </a:rPr>
              <a:t>tải</a:t>
            </a:r>
            <a:r>
              <a:rPr lang="en-US" sz="1000" dirty="0" smtClean="0">
                <a:solidFill>
                  <a:srgbClr val="64748B"/>
                </a:solidFill>
              </a:rPr>
              <a:t> </a:t>
            </a:r>
            <a:r>
              <a:rPr lang="en-US" sz="1000" dirty="0" err="1" smtClean="0">
                <a:solidFill>
                  <a:srgbClr val="64748B"/>
                </a:solidFill>
              </a:rPr>
              <a:t>hệ</a:t>
            </a:r>
            <a:r>
              <a:rPr lang="en-US" sz="1000" dirty="0" smtClean="0">
                <a:solidFill>
                  <a:srgbClr val="64748B"/>
                </a:solidFill>
              </a:rPr>
              <a:t> </a:t>
            </a:r>
            <a:r>
              <a:rPr lang="en-US" sz="1000" dirty="0" err="1" smtClean="0">
                <a:solidFill>
                  <a:srgbClr val="64748B"/>
                </a:solidFill>
              </a:rPr>
              <a:t>thống</a:t>
            </a:r>
            <a:endParaRPr lang="en-US" sz="1000" dirty="0"/>
          </a:p>
        </p:txBody>
      </p:sp>
      <p:sp>
        <p:nvSpPr>
          <p:cNvPr id="33" name="Shape 31"/>
          <p:cNvSpPr/>
          <p:nvPr/>
        </p:nvSpPr>
        <p:spPr>
          <a:xfrm>
            <a:off x="4562855" y="810809"/>
            <a:ext cx="4221521"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39" name="Text 3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Sawtooth pattern (attack phase)</a:t>
            </a:r>
            <a:endParaRPr lang="en-US" sz="800" dirty="0"/>
          </a:p>
        </p:txBody>
      </p:sp>
      <p:sp>
        <p:nvSpPr>
          <p:cNvPr id="40" name="Shape 5"/>
          <p:cNvSpPr/>
          <p:nvPr/>
        </p:nvSpPr>
        <p:spPr>
          <a:xfrm>
            <a:off x="278892" y="2980944"/>
            <a:ext cx="4160520" cy="175564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pic>
        <p:nvPicPr>
          <p:cNvPr id="42" name="Picture 41"/>
          <p:cNvPicPr>
            <a:picLocks noChangeAspect="1"/>
          </p:cNvPicPr>
          <p:nvPr/>
        </p:nvPicPr>
        <p:blipFill>
          <a:blip r:embed="rId3"/>
          <a:stretch>
            <a:fillRect/>
          </a:stretch>
        </p:blipFill>
        <p:spPr>
          <a:xfrm>
            <a:off x="278892" y="2871216"/>
            <a:ext cx="4155948" cy="1845986"/>
          </a:xfrm>
          <a:prstGeom prst="rect">
            <a:avLst/>
          </a:prstGeom>
        </p:spPr>
      </p:pic>
      <p:sp>
        <p:nvSpPr>
          <p:cNvPr id="24" name="TextBox 23"/>
          <p:cNvSpPr txBox="1"/>
          <p:nvPr/>
        </p:nvSpPr>
        <p:spPr>
          <a:xfrm>
            <a:off x="4550704" y="3022033"/>
            <a:ext cx="4197489" cy="1323439"/>
          </a:xfrm>
          <a:prstGeom prst="rect">
            <a:avLst/>
          </a:prstGeom>
          <a:noFill/>
        </p:spPr>
        <p:txBody>
          <a:bodyPr wrap="square" rtlCol="0">
            <a:spAutoFit/>
          </a:bodyPr>
          <a:lstStyle/>
          <a:p>
            <a:pPr marL="171450" indent="-171450">
              <a:buFontTx/>
              <a:buChar char="-"/>
            </a:pPr>
            <a:r>
              <a:rPr lang="vi-VN" sz="1000" dirty="0" smtClean="0">
                <a:latin typeface="Calibri (Body)"/>
              </a:rPr>
              <a:t>Dashboard </a:t>
            </a:r>
            <a:r>
              <a:rPr lang="vi-VN" sz="1000" dirty="0">
                <a:latin typeface="Calibri (Body)"/>
              </a:rPr>
              <a:t>ghi nhận cuộc tấn công EDoS đẩy cluster từ 1 pod lên 6 pods (maxReplicas) trong khoảng 2-3 </a:t>
            </a:r>
            <a:r>
              <a:rPr lang="vi-VN" sz="1000" dirty="0" smtClean="0">
                <a:latin typeface="Calibri (Body)"/>
              </a:rPr>
              <a:t>phút</a:t>
            </a:r>
            <a:r>
              <a:rPr lang="en-US" sz="1000" dirty="0" smtClean="0">
                <a:latin typeface="Calibri (Body)"/>
              </a:rPr>
              <a:t> </a:t>
            </a:r>
            <a:r>
              <a:rPr lang="en-US" sz="1000" dirty="0" err="1" smtClean="0">
                <a:latin typeface="Calibri (Body)"/>
              </a:rPr>
              <a:t>và</a:t>
            </a:r>
            <a:r>
              <a:rPr lang="en-US" sz="1000" dirty="0" smtClean="0">
                <a:latin typeface="Calibri (Body)"/>
              </a:rPr>
              <a:t> </a:t>
            </a:r>
            <a:r>
              <a:rPr lang="en-US" sz="1000" dirty="0" err="1" smtClean="0">
                <a:latin typeface="Calibri (Body)"/>
              </a:rPr>
              <a:t>duy</a:t>
            </a:r>
            <a:r>
              <a:rPr lang="en-US" sz="1000" dirty="0" smtClean="0">
                <a:latin typeface="Calibri (Body)"/>
              </a:rPr>
              <a:t> </a:t>
            </a:r>
            <a:r>
              <a:rPr lang="en-US" sz="1000" dirty="0" err="1" smtClean="0">
                <a:latin typeface="Calibri (Body)"/>
              </a:rPr>
              <a:t>trì</a:t>
            </a:r>
            <a:r>
              <a:rPr lang="en-US" sz="1000" dirty="0" smtClean="0">
                <a:latin typeface="Calibri (Body)"/>
              </a:rPr>
              <a:t> </a:t>
            </a:r>
            <a:r>
              <a:rPr lang="en-US" sz="1000" dirty="0" err="1" smtClean="0">
                <a:latin typeface="Calibri (Body)"/>
              </a:rPr>
              <a:t>khoảng</a:t>
            </a:r>
            <a:r>
              <a:rPr lang="en-US" sz="1000" dirty="0" smtClean="0">
                <a:latin typeface="Calibri (Body)"/>
              </a:rPr>
              <a:t> 10 </a:t>
            </a:r>
            <a:r>
              <a:rPr lang="en-US" sz="1000" dirty="0" err="1" smtClean="0">
                <a:latin typeface="Calibri (Body)"/>
              </a:rPr>
              <a:t>phút</a:t>
            </a:r>
            <a:r>
              <a:rPr lang="vi-VN" sz="1000" dirty="0" smtClean="0">
                <a:latin typeface="Calibri (Body)"/>
              </a:rPr>
              <a:t> </a:t>
            </a:r>
            <a:endParaRPr lang="en-US" sz="1000" dirty="0" smtClean="0">
              <a:latin typeface="Calibri (Body)"/>
            </a:endParaRPr>
          </a:p>
          <a:p>
            <a:pPr marL="171450" indent="-171450">
              <a:buFontTx/>
              <a:buChar char="-"/>
            </a:pPr>
            <a:r>
              <a:rPr lang="vi-VN" sz="1000" dirty="0" smtClean="0">
                <a:latin typeface="Calibri (Body)"/>
              </a:rPr>
              <a:t>CPU </a:t>
            </a:r>
            <a:r>
              <a:rPr lang="vi-VN" sz="1000" dirty="0">
                <a:latin typeface="Calibri (Body)"/>
              </a:rPr>
              <a:t>mọi pod đều bị đẩy lên 80-100%. </a:t>
            </a:r>
            <a:endParaRPr lang="en-US" sz="1000" dirty="0" smtClean="0">
              <a:latin typeface="Calibri (Body)"/>
            </a:endParaRPr>
          </a:p>
          <a:p>
            <a:pPr marL="171450" indent="-171450">
              <a:buFontTx/>
              <a:buChar char="-"/>
            </a:pPr>
            <a:r>
              <a:rPr lang="vi-VN" sz="1000" dirty="0" smtClean="0">
                <a:latin typeface="Calibri (Body)"/>
              </a:rPr>
              <a:t>HPA </a:t>
            </a:r>
            <a:r>
              <a:rPr lang="vi-VN" sz="1000" dirty="0">
                <a:latin typeface="Calibri (Body)"/>
              </a:rPr>
              <a:t>Status cho thấy Desired nhảy trước Current — thể hiện độ trễ scaling — rồi cả hai chạm mức tối đa 6, tức hệ thống đã hết khả năng scale thêm. </a:t>
            </a:r>
            <a:endParaRPr lang="en-US" sz="1000" dirty="0" smtClean="0">
              <a:latin typeface="Calibri (Body)"/>
            </a:endParaRPr>
          </a:p>
          <a:p>
            <a:r>
              <a:rPr lang="en-US" sz="1000" dirty="0" smtClean="0">
                <a:latin typeface="Calibri (Body)"/>
              </a:rPr>
              <a:t>=&gt; </a:t>
            </a:r>
            <a:r>
              <a:rPr lang="vi-VN" sz="1000" dirty="0" smtClean="0">
                <a:latin typeface="Calibri (Body)"/>
              </a:rPr>
              <a:t>Attacker </a:t>
            </a:r>
            <a:r>
              <a:rPr lang="vi-VN" sz="1000" dirty="0">
                <a:latin typeface="Calibri (Body)"/>
              </a:rPr>
              <a:t>thành công buộc cluster vận hành ở chi phí gấp 6 lần baseline mà không hề làm sập service.</a:t>
            </a:r>
            <a:endParaRPr lang="en-US" sz="1000" dirty="0">
              <a:latin typeface="Calibri (Body)"/>
            </a:endParaRPr>
          </a:p>
        </p:txBody>
      </p:sp>
      <p:pic>
        <p:nvPicPr>
          <p:cNvPr id="23" name="Picture 22"/>
          <p:cNvPicPr>
            <a:picLocks noChangeAspect="1"/>
          </p:cNvPicPr>
          <p:nvPr/>
        </p:nvPicPr>
        <p:blipFill>
          <a:blip r:embed="rId4"/>
          <a:stretch>
            <a:fillRect/>
          </a:stretch>
        </p:blipFill>
        <p:spPr>
          <a:xfrm>
            <a:off x="4575802" y="810809"/>
            <a:ext cx="4172391" cy="2151327"/>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a:solidFill>
                  <a:srgbClr val="FFFFFF"/>
                </a:solidFill>
              </a:rPr>
              <a:t>Giai</a:t>
            </a:r>
            <a:r>
              <a:rPr lang="en-US" sz="2200" b="1" dirty="0">
                <a:solidFill>
                  <a:srgbClr val="FFFFFF"/>
                </a:solidFill>
              </a:rPr>
              <a:t> </a:t>
            </a:r>
            <a:r>
              <a:rPr lang="en-US" sz="2200" b="1" dirty="0" err="1">
                <a:solidFill>
                  <a:srgbClr val="FFFFFF"/>
                </a:solidFill>
              </a:rPr>
              <a:t>đoạn</a:t>
            </a:r>
            <a:r>
              <a:rPr lang="en-US" sz="2200" b="1" dirty="0">
                <a:solidFill>
                  <a:srgbClr val="FFFFFF"/>
                </a:solidFill>
              </a:rPr>
              <a:t> 2 — </a:t>
            </a:r>
            <a:r>
              <a:rPr lang="en-US" sz="2200" b="1" dirty="0" err="1">
                <a:solidFill>
                  <a:srgbClr val="FFFFFF"/>
                </a:solidFill>
              </a:rPr>
              <a:t>Tấn</a:t>
            </a:r>
            <a:r>
              <a:rPr lang="en-US" sz="2200" b="1" dirty="0">
                <a:solidFill>
                  <a:srgbClr val="FFFFFF"/>
                </a:solidFill>
              </a:rPr>
              <a:t> </a:t>
            </a:r>
            <a:r>
              <a:rPr lang="en-US" sz="2200" b="1" dirty="0" err="1">
                <a:solidFill>
                  <a:srgbClr val="FFFFFF"/>
                </a:solidFill>
              </a:rPr>
              <a:t>công</a:t>
            </a:r>
            <a:r>
              <a:rPr lang="en-US" sz="2200" b="1" dirty="0">
                <a:solidFill>
                  <a:srgbClr val="FFFFFF"/>
                </a:solidFill>
              </a:rPr>
              <a:t> </a:t>
            </a:r>
            <a:r>
              <a:rPr lang="en-US" sz="2200" b="1" dirty="0" err="1">
                <a:solidFill>
                  <a:srgbClr val="FFFFFF"/>
                </a:solidFill>
              </a:rPr>
              <a:t>EDoS</a:t>
            </a:r>
            <a:r>
              <a:rPr lang="en-US" sz="2200" b="1" dirty="0">
                <a:solidFill>
                  <a:srgbClr val="FFFFFF"/>
                </a:solidFill>
              </a:rPr>
              <a:t> State-Aware</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4878124"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FF0000"/>
          </a:solidFill>
          <a:ln w="12700">
            <a:solidFill>
              <a:srgbClr val="FF0000"/>
            </a:solidFill>
            <a:prstDash val="solid"/>
          </a:ln>
        </p:spPr>
      </p:sp>
      <p:sp>
        <p:nvSpPr>
          <p:cNvPr id="9" name="Text 7"/>
          <p:cNvSpPr/>
          <p:nvPr/>
        </p:nvSpPr>
        <p:spPr>
          <a:xfrm>
            <a:off x="457200" y="868680"/>
            <a:ext cx="3840480" cy="320040"/>
          </a:xfrm>
          <a:prstGeom prst="rect">
            <a:avLst/>
          </a:prstGeom>
          <a:noFill/>
          <a:ln/>
        </p:spPr>
        <p:txBody>
          <a:bodyPr wrap="square" lIns="0" tIns="0" rIns="0" bIns="0" rtlCol="0" anchor="ctr"/>
          <a:lstStyle/>
          <a:p>
            <a:pPr marL="0" indent="0">
              <a:buNone/>
            </a:pPr>
            <a:r>
              <a:rPr lang="en-US" sz="1200" b="1" dirty="0" err="1" smtClean="0">
                <a:solidFill>
                  <a:srgbClr val="0D1B2A"/>
                </a:solidFill>
              </a:rPr>
              <a:t>Phân</a:t>
            </a:r>
            <a:r>
              <a:rPr lang="en-US" sz="1200" b="1" dirty="0" smtClean="0">
                <a:solidFill>
                  <a:srgbClr val="0D1B2A"/>
                </a:solidFill>
              </a:rPr>
              <a:t> </a:t>
            </a:r>
            <a:r>
              <a:rPr lang="en-US" sz="1200" b="1" dirty="0" err="1" smtClean="0">
                <a:solidFill>
                  <a:srgbClr val="0D1B2A"/>
                </a:solidFill>
              </a:rPr>
              <a:t>tích</a:t>
            </a:r>
            <a:r>
              <a:rPr lang="en-US" sz="1200" b="1" dirty="0" smtClean="0">
                <a:solidFill>
                  <a:srgbClr val="0D1B2A"/>
                </a:solidFill>
              </a:rPr>
              <a:t> </a:t>
            </a:r>
            <a:r>
              <a:rPr lang="en-US" sz="1200" b="1" dirty="0" err="1" smtClean="0">
                <a:solidFill>
                  <a:srgbClr val="0D1B2A"/>
                </a:solidFill>
              </a:rPr>
              <a:t>biểu</a:t>
            </a:r>
            <a:r>
              <a:rPr lang="en-US" sz="1200" b="1" dirty="0" smtClean="0">
                <a:solidFill>
                  <a:srgbClr val="0D1B2A"/>
                </a:solidFill>
              </a:rPr>
              <a:t> </a:t>
            </a:r>
            <a:r>
              <a:rPr lang="en-US" sz="1200" b="1" dirty="0" err="1" smtClean="0">
                <a:solidFill>
                  <a:srgbClr val="0D1B2A"/>
                </a:solidFill>
              </a:rPr>
              <a:t>đồ</a:t>
            </a:r>
            <a:r>
              <a:rPr lang="en-US" sz="1200" b="1" dirty="0" smtClean="0">
                <a:solidFill>
                  <a:srgbClr val="0D1B2A"/>
                </a:solidFill>
              </a:rPr>
              <a:t> </a:t>
            </a:r>
            <a:r>
              <a:rPr lang="en-US" sz="1200" b="1" dirty="0" err="1" smtClean="0">
                <a:solidFill>
                  <a:srgbClr val="0D1B2A"/>
                </a:solidFill>
              </a:rPr>
              <a:t>tiêu</a:t>
            </a:r>
            <a:r>
              <a:rPr lang="en-US" sz="1200" b="1" dirty="0" smtClean="0">
                <a:solidFill>
                  <a:srgbClr val="0D1B2A"/>
                </a:solidFill>
              </a:rPr>
              <a:t> </a:t>
            </a:r>
            <a:r>
              <a:rPr lang="en-US" sz="1200" b="1" dirty="0" err="1" smtClean="0">
                <a:solidFill>
                  <a:srgbClr val="0D1B2A"/>
                </a:solidFill>
              </a:rPr>
              <a:t>thụ</a:t>
            </a:r>
            <a:r>
              <a:rPr lang="en-US" sz="1200" b="1" dirty="0" smtClean="0">
                <a:solidFill>
                  <a:srgbClr val="0D1B2A"/>
                </a:solidFill>
              </a:rPr>
              <a:t> CPU </a:t>
            </a:r>
            <a:r>
              <a:rPr lang="en-US" sz="1200" b="1" dirty="0" err="1" smtClean="0">
                <a:solidFill>
                  <a:srgbClr val="0D1B2A"/>
                </a:solidFill>
              </a:rPr>
              <a:t>và</a:t>
            </a:r>
            <a:r>
              <a:rPr lang="en-US" sz="1200" b="1" dirty="0" smtClean="0">
                <a:solidFill>
                  <a:srgbClr val="0D1B2A"/>
                </a:solidFill>
              </a:rPr>
              <a:t> HPA Status</a:t>
            </a:r>
            <a:endParaRPr lang="en-US" sz="1200" dirty="0"/>
          </a:p>
        </p:txBody>
      </p:sp>
      <p:sp>
        <p:nvSpPr>
          <p:cNvPr id="21" name="Text 19"/>
          <p:cNvSpPr/>
          <p:nvPr/>
        </p:nvSpPr>
        <p:spPr>
          <a:xfrm>
            <a:off x="457200" y="1280160"/>
            <a:ext cx="4121106" cy="2953511"/>
          </a:xfrm>
          <a:prstGeom prst="rect">
            <a:avLst/>
          </a:prstGeom>
          <a:noFill/>
          <a:ln/>
        </p:spPr>
        <p:txBody>
          <a:bodyPr wrap="square" lIns="0" tIns="0" rIns="0" bIns="0" rtlCol="0" anchor="ctr"/>
          <a:lstStyle/>
          <a:p>
            <a:r>
              <a:rPr lang="en-US" sz="1000" dirty="0" smtClean="0">
                <a:solidFill>
                  <a:srgbClr val="0D1B2A"/>
                </a:solidFill>
                <a:latin typeface="Calibri (Body)"/>
              </a:rPr>
              <a:t>- </a:t>
            </a:r>
            <a:r>
              <a:rPr lang="en-US" sz="1000" dirty="0" err="1" smtClean="0">
                <a:solidFill>
                  <a:srgbClr val="0D1B2A"/>
                </a:solidFill>
                <a:latin typeface="Calibri (Body)"/>
              </a:rPr>
              <a:t>Khi</a:t>
            </a:r>
            <a:r>
              <a:rPr lang="vi-VN" sz="1000" dirty="0" smtClean="0">
                <a:solidFill>
                  <a:srgbClr val="0D1B2A"/>
                </a:solidFill>
                <a:latin typeface="Calibri (Body)"/>
              </a:rPr>
              <a:t> </a:t>
            </a:r>
            <a:r>
              <a:rPr lang="vi-VN" sz="1000" dirty="0">
                <a:solidFill>
                  <a:srgbClr val="0D1B2A"/>
                </a:solidFill>
                <a:latin typeface="Calibri (Body)"/>
              </a:rPr>
              <a:t>tấn công EDoS đã xảy ra, nhanh chóng đẩy quy mô của cluster từ 1 pod lên mức tối đa là 6 pods (maxReplicas) chỉ trong vòng 2 đến 3 phút và duy trì tình trạng này trong suốt 10 phút. Trong quá trình này, mức tiêu thụ CPU của tất cả các pod đều bị đẩy lên ngưỡng rất cao, dao động từ 80% đến 100%.</a:t>
            </a:r>
            <a:r>
              <a:rPr lang="en-US" sz="1000" dirty="0" smtClean="0">
                <a:solidFill>
                  <a:srgbClr val="0D1B2A"/>
                </a:solidFill>
                <a:latin typeface="Calibri (Body)"/>
              </a:rPr>
              <a:t/>
            </a:r>
            <a:br>
              <a:rPr lang="en-US" sz="1000" dirty="0" smtClean="0">
                <a:solidFill>
                  <a:srgbClr val="0D1B2A"/>
                </a:solidFill>
                <a:latin typeface="Calibri (Body)"/>
              </a:rPr>
            </a:br>
            <a:endParaRPr lang="en-US" sz="1000" dirty="0" smtClean="0">
              <a:solidFill>
                <a:srgbClr val="0D1B2A"/>
              </a:solidFill>
              <a:latin typeface="Calibri (Body)"/>
            </a:endParaRPr>
          </a:p>
          <a:p>
            <a:r>
              <a:rPr lang="en-US" sz="1000" dirty="0" smtClean="0">
                <a:solidFill>
                  <a:srgbClr val="0D1B2A"/>
                </a:solidFill>
                <a:latin typeface="Calibri (Body)"/>
              </a:rPr>
              <a:t/>
            </a:r>
            <a:br>
              <a:rPr lang="en-US" sz="1000" dirty="0" smtClean="0">
                <a:solidFill>
                  <a:srgbClr val="0D1B2A"/>
                </a:solidFill>
                <a:latin typeface="Calibri (Body)"/>
              </a:rPr>
            </a:br>
            <a:r>
              <a:rPr lang="en-US" sz="1000" b="1" i="1" dirty="0" smtClean="0">
                <a:solidFill>
                  <a:srgbClr val="0D1B2A"/>
                </a:solidFill>
                <a:latin typeface="Calibri (Body)"/>
              </a:rPr>
              <a:t>- </a:t>
            </a:r>
            <a:r>
              <a:rPr lang="vi-VN" sz="1000" dirty="0" smtClean="0">
                <a:solidFill>
                  <a:srgbClr val="0D1B2A"/>
                </a:solidFill>
                <a:latin typeface="Calibri (Body)"/>
              </a:rPr>
              <a:t>Phân </a:t>
            </a:r>
            <a:r>
              <a:rPr lang="vi-VN" sz="1000" dirty="0">
                <a:solidFill>
                  <a:srgbClr val="0D1B2A"/>
                </a:solidFill>
                <a:latin typeface="Calibri (Body)"/>
              </a:rPr>
              <a:t>tích trạng thái HPA cho thấy chỉ số requested tăng trước chỉ số Used, phản ánh rõ độ trễ của quá trình mở rộng (scaling), trước khi cả hai chỉ số này cùng chạm ngưỡng tối đa là 6, đồng nghĩa với việc hệ thống đã cạn kiệt hoàn toàn khả năng mở rộng thêm.</a:t>
            </a:r>
            <a:r>
              <a:rPr lang="en-US" sz="1000" dirty="0" smtClean="0">
                <a:solidFill>
                  <a:srgbClr val="0D1B2A"/>
                </a:solidFill>
                <a:latin typeface="Calibri (Body)"/>
              </a:rPr>
              <a:t/>
            </a:r>
            <a:br>
              <a:rPr lang="en-US" sz="1000" dirty="0" smtClean="0">
                <a:solidFill>
                  <a:srgbClr val="0D1B2A"/>
                </a:solidFill>
                <a:latin typeface="Calibri (Body)"/>
              </a:rPr>
            </a:br>
            <a:r>
              <a:rPr lang="en-US" sz="1000" dirty="0" smtClean="0">
                <a:solidFill>
                  <a:srgbClr val="0D1B2A"/>
                </a:solidFill>
                <a:latin typeface="Calibri (Body)"/>
              </a:rPr>
              <a:t/>
            </a:r>
            <a:br>
              <a:rPr lang="en-US" sz="1000" dirty="0" smtClean="0">
                <a:solidFill>
                  <a:srgbClr val="0D1B2A"/>
                </a:solidFill>
                <a:latin typeface="Calibri (Body)"/>
              </a:rPr>
            </a:br>
            <a:r>
              <a:rPr lang="en-US" sz="1000" dirty="0" smtClean="0">
                <a:latin typeface="Calibri (Body)"/>
              </a:rPr>
              <a:t>=&gt; </a:t>
            </a:r>
            <a:r>
              <a:rPr lang="vi-VN" sz="1000" dirty="0" smtClean="0">
                <a:latin typeface="Calibri (Body)"/>
              </a:rPr>
              <a:t>EDoS </a:t>
            </a:r>
            <a:r>
              <a:rPr lang="vi-VN" sz="1000" dirty="0">
                <a:latin typeface="Calibri (Body)"/>
              </a:rPr>
              <a:t>thành công </a:t>
            </a:r>
            <a:r>
              <a:rPr lang="en-US" sz="1000" dirty="0" smtClean="0">
                <a:latin typeface="Calibri (Body)"/>
              </a:rPr>
              <a:t>- </a:t>
            </a:r>
            <a:r>
              <a:rPr lang="vi-VN" sz="1000" dirty="0">
                <a:latin typeface="Calibri (Body)"/>
              </a:rPr>
              <a:t>kẻ tấn công đã đạt được mục đích khi buộc cluster phải vận hành với mức chi phí cao gấp 6 lần so với mức cơ sở (baseline) mà hoàn toàn không làm gián đoạn hay đánh sập dịch vụ</a:t>
            </a:r>
            <a:endParaRPr lang="en-US" sz="1000" dirty="0">
              <a:latin typeface="Calibri (Body)"/>
            </a:endParaRPr>
          </a:p>
        </p:txBody>
      </p:sp>
      <p:sp>
        <p:nvSpPr>
          <p:cNvPr id="23" name="Shape 21"/>
          <p:cNvSpPr/>
          <p:nvPr/>
        </p:nvSpPr>
        <p:spPr>
          <a:xfrm>
            <a:off x="5152444" y="804672"/>
            <a:ext cx="3625796"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4" name="Shape 22"/>
          <p:cNvSpPr/>
          <p:nvPr/>
        </p:nvSpPr>
        <p:spPr>
          <a:xfrm>
            <a:off x="5152444" y="804672"/>
            <a:ext cx="3625796" cy="3950208"/>
          </a:xfrm>
          <a:prstGeom prst="rect">
            <a:avLst/>
          </a:prstGeom>
          <a:solidFill>
            <a:srgbClr val="EAF4FB"/>
          </a:solidFill>
          <a:ln w="12700">
            <a:solidFill>
              <a:srgbClr val="0096B7"/>
            </a:solidFill>
            <a:prstDash val="solid"/>
          </a:ln>
        </p:spPr>
      </p:sp>
      <p:sp>
        <p:nvSpPr>
          <p:cNvPr id="29" name="Text 2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Replicas panel (baseline phase)</a:t>
            </a:r>
            <a:endParaRPr lang="en-US" sz="800" dirty="0"/>
          </a:p>
        </p:txBody>
      </p:sp>
      <p:sp>
        <p:nvSpPr>
          <p:cNvPr id="31" name="Shape 1"/>
          <p:cNvSpPr/>
          <p:nvPr/>
        </p:nvSpPr>
        <p:spPr>
          <a:xfrm>
            <a:off x="0" y="0"/>
            <a:ext cx="109728" cy="658368"/>
          </a:xfrm>
          <a:prstGeom prst="rect">
            <a:avLst/>
          </a:prstGeom>
          <a:solidFill>
            <a:srgbClr val="D62828"/>
          </a:solidFill>
          <a:ln w="12700">
            <a:solidFill>
              <a:srgbClr val="D62828"/>
            </a:solidFill>
            <a:prstDash val="solid"/>
          </a:ln>
        </p:spPr>
      </p:sp>
      <p:pic>
        <p:nvPicPr>
          <p:cNvPr id="3" name="Picture 2"/>
          <p:cNvPicPr>
            <a:picLocks noChangeAspect="1"/>
          </p:cNvPicPr>
          <p:nvPr/>
        </p:nvPicPr>
        <p:blipFill>
          <a:blip r:embed="rId3"/>
          <a:stretch>
            <a:fillRect/>
          </a:stretch>
        </p:blipFill>
        <p:spPr>
          <a:xfrm>
            <a:off x="5152444" y="804672"/>
            <a:ext cx="3609227" cy="3963819"/>
          </a:xfrm>
          <a:prstGeom prst="rect">
            <a:avLst/>
          </a:prstGeom>
        </p:spPr>
      </p:pic>
    </p:spTree>
    <p:extLst>
      <p:ext uri="{BB962C8B-B14F-4D97-AF65-F5344CB8AC3E}">
        <p14:creationId xmlns:p14="http://schemas.microsoft.com/office/powerpoint/2010/main" val="13312025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a:solidFill>
                  <a:srgbClr val="FFFFFF"/>
                </a:solidFill>
              </a:rPr>
              <a:t>Giai</a:t>
            </a:r>
            <a:r>
              <a:rPr lang="en-US" sz="2200" b="1" dirty="0">
                <a:solidFill>
                  <a:srgbClr val="FFFFFF"/>
                </a:solidFill>
              </a:rPr>
              <a:t> </a:t>
            </a:r>
            <a:r>
              <a:rPr lang="en-US" sz="2200" b="1" dirty="0" err="1">
                <a:solidFill>
                  <a:srgbClr val="FFFFFF"/>
                </a:solidFill>
              </a:rPr>
              <a:t>đoạn</a:t>
            </a:r>
            <a:r>
              <a:rPr lang="en-US" sz="2200" b="1" dirty="0">
                <a:solidFill>
                  <a:srgbClr val="FFFFFF"/>
                </a:solidFill>
              </a:rPr>
              <a:t> 3 — </a:t>
            </a:r>
            <a:r>
              <a:rPr lang="en-US" sz="2200" b="1" dirty="0" err="1">
                <a:solidFill>
                  <a:srgbClr val="FFFFFF"/>
                </a:solidFill>
              </a:rPr>
              <a:t>Phòng</a:t>
            </a:r>
            <a:r>
              <a:rPr lang="en-US" sz="2200" b="1" dirty="0">
                <a:solidFill>
                  <a:srgbClr val="FFFFFF"/>
                </a:solidFill>
              </a:rPr>
              <a:t> </a:t>
            </a:r>
            <a:r>
              <a:rPr lang="en-US" sz="2200" b="1" dirty="0" err="1">
                <a:solidFill>
                  <a:srgbClr val="FFFFFF"/>
                </a:solidFill>
              </a:rPr>
              <a:t>thủ</a:t>
            </a:r>
            <a:r>
              <a:rPr lang="en-US" sz="2200" b="1" dirty="0">
                <a:solidFill>
                  <a:srgbClr val="FFFFFF"/>
                </a:solidFill>
              </a:rPr>
              <a:t>: Custom Metrics </a:t>
            </a:r>
            <a:r>
              <a:rPr lang="en-US" sz="2200" b="1" dirty="0" smtClean="0">
                <a:solidFill>
                  <a:srgbClr val="FFFFFF"/>
                </a:solidFill>
              </a:rPr>
              <a:t>Adapter</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886968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2D9D5A"/>
          </a:solidFill>
          <a:ln w="12700">
            <a:solidFill>
              <a:srgbClr val="2D9D5A"/>
            </a:solidFill>
            <a:prstDash val="solid"/>
          </a:ln>
        </p:spPr>
      </p:sp>
      <p:sp>
        <p:nvSpPr>
          <p:cNvPr id="9" name="Text 7"/>
          <p:cNvSpPr/>
          <p:nvPr/>
        </p:nvSpPr>
        <p:spPr>
          <a:xfrm>
            <a:off x="457200" y="868680"/>
            <a:ext cx="4754880" cy="320040"/>
          </a:xfrm>
          <a:prstGeom prst="rect">
            <a:avLst/>
          </a:prstGeom>
          <a:noFill/>
          <a:ln/>
        </p:spPr>
        <p:txBody>
          <a:bodyPr wrap="square" lIns="0" tIns="0" rIns="0" bIns="0" rtlCol="0" anchor="ctr"/>
          <a:lstStyle/>
          <a:p>
            <a:pPr marL="0" indent="0">
              <a:buNone/>
            </a:pPr>
            <a:r>
              <a:rPr lang="en-US" sz="1200" b="1" dirty="0">
                <a:solidFill>
                  <a:srgbClr val="0D1B2A"/>
                </a:solidFill>
              </a:rPr>
              <a:t>Cơ chế Randomization HPA [4]</a:t>
            </a:r>
            <a:endParaRPr lang="en-US" sz="1200" dirty="0"/>
          </a:p>
        </p:txBody>
      </p:sp>
      <p:sp>
        <p:nvSpPr>
          <p:cNvPr id="10" name="Shape 8"/>
          <p:cNvSpPr/>
          <p:nvPr/>
        </p:nvSpPr>
        <p:spPr>
          <a:xfrm>
            <a:off x="457200" y="1261872"/>
            <a:ext cx="1389888" cy="621792"/>
          </a:xfrm>
          <a:prstGeom prst="rect">
            <a:avLst/>
          </a:prstGeom>
          <a:solidFill>
            <a:srgbClr val="0096B7">
              <a:alpha val="80000"/>
            </a:srgbClr>
          </a:solidFill>
          <a:ln w="12700">
            <a:solidFill>
              <a:srgbClr val="0096B7"/>
            </a:solidFill>
            <a:prstDash val="solid"/>
          </a:ln>
        </p:spPr>
      </p:sp>
      <p:sp>
        <p:nvSpPr>
          <p:cNvPr id="11" name="Text 9"/>
          <p:cNvSpPr/>
          <p:nvPr/>
        </p:nvSpPr>
        <p:spPr>
          <a:xfrm>
            <a:off x="457200" y="1261872"/>
            <a:ext cx="1389888" cy="621792"/>
          </a:xfrm>
          <a:prstGeom prst="rect">
            <a:avLst/>
          </a:prstGeom>
          <a:noFill/>
          <a:ln/>
        </p:spPr>
        <p:txBody>
          <a:bodyPr wrap="square" lIns="0" tIns="0" rIns="0" bIns="0" rtlCol="0" anchor="ctr"/>
          <a:lstStyle/>
          <a:p>
            <a:pPr marL="0" indent="0" algn="ctr">
              <a:buNone/>
            </a:pPr>
            <a:r>
              <a:rPr lang="en-US" sz="950" dirty="0">
                <a:solidFill>
                  <a:srgbClr val="0D1B2A"/>
                </a:solidFill>
              </a:rPr>
              <a:t>Metric vượt</a:t>
            </a:r>
            <a:endParaRPr lang="en-US" sz="950" dirty="0"/>
          </a:p>
          <a:p>
            <a:pPr marL="0" indent="0" algn="ctr">
              <a:buNone/>
            </a:pPr>
            <a:r>
              <a:rPr lang="en-US" sz="950" dirty="0">
                <a:solidFill>
                  <a:srgbClr val="0D1B2A"/>
                </a:solidFill>
              </a:rPr>
              <a:t>ngưỡng HPA</a:t>
            </a:r>
            <a:endParaRPr lang="en-US" sz="950" dirty="0"/>
          </a:p>
        </p:txBody>
      </p:sp>
      <p:sp>
        <p:nvSpPr>
          <p:cNvPr id="12" name="Shape 10"/>
          <p:cNvSpPr/>
          <p:nvPr/>
        </p:nvSpPr>
        <p:spPr>
          <a:xfrm>
            <a:off x="1874520" y="1572768"/>
            <a:ext cx="411480" cy="0"/>
          </a:xfrm>
          <a:prstGeom prst="line">
            <a:avLst/>
          </a:prstGeom>
          <a:noFill/>
          <a:ln w="19050">
            <a:solidFill>
              <a:srgbClr val="64748B"/>
            </a:solidFill>
            <a:prstDash val="solid"/>
          </a:ln>
        </p:spPr>
      </p:sp>
      <p:sp>
        <p:nvSpPr>
          <p:cNvPr id="13" name="Shape 11"/>
          <p:cNvSpPr/>
          <p:nvPr/>
        </p:nvSpPr>
        <p:spPr>
          <a:xfrm>
            <a:off x="2331720" y="1261872"/>
            <a:ext cx="777240" cy="621792"/>
          </a:xfrm>
          <a:prstGeom prst="ellipse">
            <a:avLst/>
          </a:prstGeom>
          <a:solidFill>
            <a:srgbClr val="F47B20">
              <a:alpha val="80000"/>
            </a:srgbClr>
          </a:solidFill>
          <a:ln w="12700">
            <a:solidFill>
              <a:srgbClr val="F47B20"/>
            </a:solidFill>
            <a:prstDash val="solid"/>
          </a:ln>
        </p:spPr>
      </p:sp>
      <p:sp>
        <p:nvSpPr>
          <p:cNvPr id="14" name="Text 12"/>
          <p:cNvSpPr/>
          <p:nvPr/>
        </p:nvSpPr>
        <p:spPr>
          <a:xfrm>
            <a:off x="2331720" y="1261872"/>
            <a:ext cx="777240" cy="621792"/>
          </a:xfrm>
          <a:prstGeom prst="rect">
            <a:avLst/>
          </a:prstGeom>
          <a:noFill/>
          <a:ln/>
        </p:spPr>
        <p:txBody>
          <a:bodyPr wrap="square" lIns="0" tIns="0" rIns="0" bIns="0" rtlCol="0" anchor="ctr"/>
          <a:lstStyle/>
          <a:p>
            <a:pPr marL="0" indent="0" algn="ctr">
              <a:buNone/>
            </a:pPr>
            <a:r>
              <a:rPr lang="en-US" sz="900" dirty="0">
                <a:solidFill>
                  <a:srgbClr val="0D1B2A"/>
                </a:solidFill>
              </a:rPr>
              <a:t>RNG</a:t>
            </a:r>
            <a:endParaRPr lang="en-US" sz="900" dirty="0"/>
          </a:p>
          <a:p>
            <a:pPr marL="0" indent="0" algn="ctr">
              <a:buNone/>
            </a:pPr>
            <a:r>
              <a:rPr lang="en-US" sz="900" dirty="0">
                <a:solidFill>
                  <a:srgbClr val="0D1B2A"/>
                </a:solidFill>
              </a:rPr>
              <a:t>50/50</a:t>
            </a:r>
            <a:endParaRPr lang="en-US" sz="900" dirty="0"/>
          </a:p>
        </p:txBody>
      </p:sp>
      <p:sp>
        <p:nvSpPr>
          <p:cNvPr id="15" name="Shape 13"/>
          <p:cNvSpPr/>
          <p:nvPr/>
        </p:nvSpPr>
        <p:spPr>
          <a:xfrm>
            <a:off x="3108960" y="1572768"/>
            <a:ext cx="182880" cy="0"/>
          </a:xfrm>
          <a:prstGeom prst="line">
            <a:avLst/>
          </a:prstGeom>
          <a:noFill/>
          <a:ln w="19050">
            <a:solidFill>
              <a:srgbClr val="2D9D5A"/>
            </a:solidFill>
            <a:prstDash val="solid"/>
          </a:ln>
        </p:spPr>
      </p:sp>
      <p:sp>
        <p:nvSpPr>
          <p:cNvPr id="16" name="Shape 14"/>
          <p:cNvSpPr/>
          <p:nvPr/>
        </p:nvSpPr>
        <p:spPr>
          <a:xfrm>
            <a:off x="3337560" y="1261872"/>
            <a:ext cx="1371600" cy="621792"/>
          </a:xfrm>
          <a:prstGeom prst="rect">
            <a:avLst/>
          </a:prstGeom>
          <a:solidFill>
            <a:srgbClr val="2D9D5A">
              <a:alpha val="80000"/>
            </a:srgbClr>
          </a:solidFill>
          <a:ln w="12700">
            <a:solidFill>
              <a:srgbClr val="2D9D5A"/>
            </a:solidFill>
            <a:prstDash val="solid"/>
          </a:ln>
        </p:spPr>
      </p:sp>
      <p:sp>
        <p:nvSpPr>
          <p:cNvPr id="17" name="Text 15"/>
          <p:cNvSpPr/>
          <p:nvPr/>
        </p:nvSpPr>
        <p:spPr>
          <a:xfrm>
            <a:off x="3337560" y="1261872"/>
            <a:ext cx="1371600" cy="621792"/>
          </a:xfrm>
          <a:prstGeom prst="rect">
            <a:avLst/>
          </a:prstGeom>
          <a:noFill/>
          <a:ln/>
        </p:spPr>
        <p:txBody>
          <a:bodyPr wrap="square" lIns="0" tIns="0" rIns="0" bIns="0" rtlCol="0" anchor="ctr"/>
          <a:lstStyle/>
          <a:p>
            <a:pPr marL="0" indent="0" algn="ctr">
              <a:buNone/>
            </a:pPr>
            <a:r>
              <a:rPr lang="en-US" sz="950" dirty="0">
                <a:solidFill>
                  <a:srgbClr val="0D1B2A"/>
                </a:solidFill>
              </a:rPr>
              <a:t>Scale Up</a:t>
            </a:r>
            <a:endParaRPr lang="en-US" sz="950" dirty="0"/>
          </a:p>
          <a:p>
            <a:pPr marL="0" indent="0" algn="ctr">
              <a:buNone/>
            </a:pPr>
            <a:r>
              <a:rPr lang="en-US" sz="950" dirty="0">
                <a:solidFill>
                  <a:srgbClr val="0D1B2A"/>
                </a:solidFill>
              </a:rPr>
              <a:t>bình thường</a:t>
            </a:r>
            <a:endParaRPr lang="en-US" sz="950" dirty="0"/>
          </a:p>
        </p:txBody>
      </p:sp>
      <p:sp>
        <p:nvSpPr>
          <p:cNvPr id="18" name="Shape 16"/>
          <p:cNvSpPr/>
          <p:nvPr/>
        </p:nvSpPr>
        <p:spPr>
          <a:xfrm>
            <a:off x="2724912" y="1883664"/>
            <a:ext cx="0" cy="365760"/>
          </a:xfrm>
          <a:prstGeom prst="line">
            <a:avLst/>
          </a:prstGeom>
          <a:noFill/>
          <a:ln w="19050">
            <a:solidFill>
              <a:srgbClr val="D62828"/>
            </a:solidFill>
            <a:prstDash val="solid"/>
          </a:ln>
        </p:spPr>
      </p:sp>
      <p:sp>
        <p:nvSpPr>
          <p:cNvPr id="19" name="Shape 17"/>
          <p:cNvSpPr/>
          <p:nvPr/>
        </p:nvSpPr>
        <p:spPr>
          <a:xfrm>
            <a:off x="2331720" y="2286000"/>
            <a:ext cx="777240" cy="621792"/>
          </a:xfrm>
          <a:prstGeom prst="rect">
            <a:avLst/>
          </a:prstGeom>
          <a:solidFill>
            <a:srgbClr val="D62828">
              <a:alpha val="80000"/>
            </a:srgbClr>
          </a:solidFill>
          <a:ln w="12700">
            <a:solidFill>
              <a:srgbClr val="D62828"/>
            </a:solidFill>
            <a:prstDash val="solid"/>
          </a:ln>
        </p:spPr>
      </p:sp>
      <p:sp>
        <p:nvSpPr>
          <p:cNvPr id="20" name="Text 18"/>
          <p:cNvSpPr/>
          <p:nvPr/>
        </p:nvSpPr>
        <p:spPr>
          <a:xfrm>
            <a:off x="2331720" y="2286000"/>
            <a:ext cx="777240" cy="621792"/>
          </a:xfrm>
          <a:prstGeom prst="rect">
            <a:avLst/>
          </a:prstGeom>
          <a:noFill/>
          <a:ln/>
        </p:spPr>
        <p:txBody>
          <a:bodyPr wrap="square" lIns="0" tIns="0" rIns="0" bIns="0" rtlCol="0" anchor="ctr"/>
          <a:lstStyle/>
          <a:p>
            <a:pPr marL="0" indent="0" algn="ctr">
              <a:buNone/>
            </a:pPr>
            <a:r>
              <a:rPr lang="en-US" sz="950" dirty="0">
                <a:solidFill>
                  <a:srgbClr val="0D1B2A"/>
                </a:solidFill>
              </a:rPr>
              <a:t>Bỏ qua</a:t>
            </a:r>
            <a:endParaRPr lang="en-US" sz="950" dirty="0"/>
          </a:p>
          <a:p>
            <a:pPr marL="0" indent="0" algn="ctr">
              <a:buNone/>
            </a:pPr>
            <a:r>
              <a:rPr lang="en-US" sz="950" dirty="0">
                <a:solidFill>
                  <a:srgbClr val="0D1B2A"/>
                </a:solidFill>
              </a:rPr>
              <a:t>chu kỳ này</a:t>
            </a:r>
            <a:endParaRPr lang="en-US" sz="950" dirty="0"/>
          </a:p>
        </p:txBody>
      </p:sp>
      <p:sp>
        <p:nvSpPr>
          <p:cNvPr id="21" name="Text 19"/>
          <p:cNvSpPr/>
          <p:nvPr/>
        </p:nvSpPr>
        <p:spPr>
          <a:xfrm>
            <a:off x="457200" y="2999232"/>
            <a:ext cx="4251960" cy="1038857"/>
          </a:xfrm>
          <a:prstGeom prst="rect">
            <a:avLst/>
          </a:prstGeom>
          <a:noFill/>
          <a:ln/>
        </p:spPr>
        <p:txBody>
          <a:bodyPr wrap="square" lIns="0" tIns="0" rIns="0" bIns="0" rtlCol="0" anchor="ctr"/>
          <a:lstStyle/>
          <a:p>
            <a:pPr marL="0" indent="0">
              <a:buNone/>
            </a:pPr>
            <a:r>
              <a:rPr lang="en-US" sz="1100" dirty="0">
                <a:solidFill>
                  <a:srgbClr val="0D1B2A"/>
                </a:solidFill>
              </a:rPr>
              <a:t>• Sử dụng custom scaling metrics của HPA</a:t>
            </a:r>
            <a:endParaRPr lang="en-US" sz="1100" dirty="0"/>
          </a:p>
          <a:p>
            <a:pPr marL="0" indent="0">
              <a:buNone/>
            </a:pPr>
            <a:r>
              <a:rPr lang="en-US" sz="1100" dirty="0">
                <a:solidFill>
                  <a:srgbClr val="0D1B2A"/>
                </a:solidFill>
              </a:rPr>
              <a:t>• RNG được cân </a:t>
            </a:r>
            <a:r>
              <a:rPr lang="en-US" sz="1100" dirty="0" err="1">
                <a:solidFill>
                  <a:srgbClr val="0D1B2A"/>
                </a:solidFill>
              </a:rPr>
              <a:t>bằng</a:t>
            </a:r>
            <a:r>
              <a:rPr lang="en-US" sz="1100" dirty="0">
                <a:solidFill>
                  <a:srgbClr val="0D1B2A"/>
                </a:solidFill>
              </a:rPr>
              <a:t> </a:t>
            </a:r>
            <a:r>
              <a:rPr lang="en-US" sz="1100" dirty="0" smtClean="0">
                <a:solidFill>
                  <a:srgbClr val="0D1B2A"/>
                </a:solidFill>
              </a:rPr>
              <a:t>50/50 (</a:t>
            </a:r>
            <a:r>
              <a:rPr lang="en-US" sz="1100" dirty="0" err="1" smtClean="0">
                <a:solidFill>
                  <a:srgbClr val="0D1B2A"/>
                </a:solidFill>
              </a:rPr>
              <a:t>có</a:t>
            </a:r>
            <a:r>
              <a:rPr lang="en-US" sz="1100" dirty="0" smtClean="0">
                <a:solidFill>
                  <a:srgbClr val="0D1B2A"/>
                </a:solidFill>
              </a:rPr>
              <a:t> </a:t>
            </a:r>
            <a:r>
              <a:rPr lang="en-US" sz="1100" dirty="0" err="1" smtClean="0">
                <a:solidFill>
                  <a:srgbClr val="0D1B2A"/>
                </a:solidFill>
              </a:rPr>
              <a:t>thể</a:t>
            </a:r>
            <a:r>
              <a:rPr lang="en-US" sz="1100" dirty="0" smtClean="0">
                <a:solidFill>
                  <a:srgbClr val="0D1B2A"/>
                </a:solidFill>
              </a:rPr>
              <a:t> </a:t>
            </a:r>
            <a:r>
              <a:rPr lang="en-US" sz="1100" dirty="0" err="1" smtClean="0">
                <a:solidFill>
                  <a:srgbClr val="0D1B2A"/>
                </a:solidFill>
              </a:rPr>
              <a:t>điều</a:t>
            </a:r>
            <a:r>
              <a:rPr lang="en-US" sz="1100" dirty="0" smtClean="0">
                <a:solidFill>
                  <a:srgbClr val="0D1B2A"/>
                </a:solidFill>
              </a:rPr>
              <a:t> </a:t>
            </a:r>
            <a:r>
              <a:rPr lang="en-US" sz="1100" dirty="0" err="1" smtClean="0">
                <a:solidFill>
                  <a:srgbClr val="0D1B2A"/>
                </a:solidFill>
              </a:rPr>
              <a:t>chỉnh</a:t>
            </a:r>
            <a:r>
              <a:rPr lang="en-US" sz="1100" dirty="0" smtClean="0">
                <a:solidFill>
                  <a:srgbClr val="0D1B2A"/>
                </a:solidFill>
              </a:rPr>
              <a:t> </a:t>
            </a:r>
            <a:r>
              <a:rPr lang="en-US" sz="1100" dirty="0" err="1" smtClean="0">
                <a:solidFill>
                  <a:srgbClr val="0D1B2A"/>
                </a:solidFill>
              </a:rPr>
              <a:t>tùy</a:t>
            </a:r>
            <a:r>
              <a:rPr lang="en-US" sz="1100" dirty="0" smtClean="0">
                <a:solidFill>
                  <a:srgbClr val="0D1B2A"/>
                </a:solidFill>
              </a:rPr>
              <a:t> </a:t>
            </a:r>
            <a:r>
              <a:rPr lang="en-US" sz="1100" dirty="0" err="1" smtClean="0">
                <a:solidFill>
                  <a:srgbClr val="0D1B2A"/>
                </a:solidFill>
              </a:rPr>
              <a:t>vào</a:t>
            </a:r>
            <a:r>
              <a:rPr lang="en-US" sz="1100" dirty="0" smtClean="0">
                <a:solidFill>
                  <a:srgbClr val="0D1B2A"/>
                </a:solidFill>
              </a:rPr>
              <a:t> </a:t>
            </a:r>
            <a:r>
              <a:rPr lang="en-US" sz="1100" dirty="0" err="1" smtClean="0">
                <a:solidFill>
                  <a:srgbClr val="0D1B2A"/>
                </a:solidFill>
              </a:rPr>
              <a:t>mục</a:t>
            </a:r>
            <a:r>
              <a:rPr lang="en-US" sz="1100" dirty="0" smtClean="0">
                <a:solidFill>
                  <a:srgbClr val="0D1B2A"/>
                </a:solidFill>
              </a:rPr>
              <a:t> </a:t>
            </a:r>
            <a:r>
              <a:rPr lang="en-US" sz="1100" dirty="0" err="1" smtClean="0">
                <a:solidFill>
                  <a:srgbClr val="0D1B2A"/>
                </a:solidFill>
              </a:rPr>
              <a:t>đích</a:t>
            </a:r>
            <a:r>
              <a:rPr lang="en-US" sz="1100" dirty="0" smtClean="0">
                <a:solidFill>
                  <a:srgbClr val="0D1B2A"/>
                </a:solidFill>
              </a:rPr>
              <a:t> </a:t>
            </a:r>
            <a:r>
              <a:rPr lang="en-US" sz="1100" dirty="0" err="1" smtClean="0">
                <a:solidFill>
                  <a:srgbClr val="0D1B2A"/>
                </a:solidFill>
              </a:rPr>
              <a:t>tăng</a:t>
            </a:r>
            <a:r>
              <a:rPr lang="en-US" sz="1100" dirty="0" smtClean="0">
                <a:solidFill>
                  <a:srgbClr val="0D1B2A"/>
                </a:solidFill>
              </a:rPr>
              <a:t> </a:t>
            </a:r>
            <a:r>
              <a:rPr lang="en-US" sz="1100" dirty="0" err="1" smtClean="0">
                <a:solidFill>
                  <a:srgbClr val="0D1B2A"/>
                </a:solidFill>
              </a:rPr>
              <a:t>khả</a:t>
            </a:r>
            <a:r>
              <a:rPr lang="en-US" sz="1100" dirty="0" smtClean="0">
                <a:solidFill>
                  <a:srgbClr val="0D1B2A"/>
                </a:solidFill>
              </a:rPr>
              <a:t> </a:t>
            </a:r>
            <a:r>
              <a:rPr lang="en-US" sz="1100" dirty="0" err="1" smtClean="0">
                <a:solidFill>
                  <a:srgbClr val="0D1B2A"/>
                </a:solidFill>
              </a:rPr>
              <a:t>năng</a:t>
            </a:r>
            <a:r>
              <a:rPr lang="en-US" sz="1100" dirty="0" smtClean="0">
                <a:solidFill>
                  <a:srgbClr val="0D1B2A"/>
                </a:solidFill>
              </a:rPr>
              <a:t> </a:t>
            </a:r>
            <a:r>
              <a:rPr lang="en-US" sz="1100" dirty="0" err="1" smtClean="0">
                <a:solidFill>
                  <a:srgbClr val="0D1B2A"/>
                </a:solidFill>
              </a:rPr>
              <a:t>phòng</a:t>
            </a:r>
            <a:r>
              <a:rPr lang="en-US" sz="1100" dirty="0">
                <a:solidFill>
                  <a:srgbClr val="0D1B2A"/>
                </a:solidFill>
              </a:rPr>
              <a:t> </a:t>
            </a:r>
            <a:r>
              <a:rPr lang="en-US" sz="1100" dirty="0" err="1" smtClean="0">
                <a:solidFill>
                  <a:srgbClr val="0D1B2A"/>
                </a:solidFill>
              </a:rPr>
              <a:t>thủ</a:t>
            </a:r>
            <a:r>
              <a:rPr lang="en-US" sz="1100" dirty="0" smtClean="0">
                <a:solidFill>
                  <a:srgbClr val="0D1B2A"/>
                </a:solidFill>
              </a:rPr>
              <a:t> hay </a:t>
            </a:r>
            <a:r>
              <a:rPr lang="en-US" sz="1100" dirty="0" err="1" smtClean="0">
                <a:solidFill>
                  <a:srgbClr val="0D1B2A"/>
                </a:solidFill>
              </a:rPr>
              <a:t>tăng</a:t>
            </a:r>
            <a:r>
              <a:rPr lang="en-US" sz="1100" dirty="0" smtClean="0">
                <a:solidFill>
                  <a:srgbClr val="0D1B2A"/>
                </a:solidFill>
              </a:rPr>
              <a:t> </a:t>
            </a:r>
            <a:r>
              <a:rPr lang="en-US" sz="1100" dirty="0" err="1" smtClean="0">
                <a:solidFill>
                  <a:srgbClr val="0D1B2A"/>
                </a:solidFill>
              </a:rPr>
              <a:t>trải</a:t>
            </a:r>
            <a:r>
              <a:rPr lang="en-US" sz="1100" dirty="0" smtClean="0">
                <a:solidFill>
                  <a:srgbClr val="0D1B2A"/>
                </a:solidFill>
              </a:rPr>
              <a:t> </a:t>
            </a:r>
            <a:r>
              <a:rPr lang="en-US" sz="1100" dirty="0" err="1" smtClean="0">
                <a:solidFill>
                  <a:srgbClr val="0D1B2A"/>
                </a:solidFill>
              </a:rPr>
              <a:t>nghiệm</a:t>
            </a:r>
            <a:r>
              <a:rPr lang="en-US" sz="1100" dirty="0" smtClean="0">
                <a:solidFill>
                  <a:srgbClr val="0D1B2A"/>
                </a:solidFill>
              </a:rPr>
              <a:t> </a:t>
            </a:r>
            <a:r>
              <a:rPr lang="en-US" sz="1100" dirty="0" err="1" smtClean="0">
                <a:solidFill>
                  <a:srgbClr val="0D1B2A"/>
                </a:solidFill>
              </a:rPr>
              <a:t>người</a:t>
            </a:r>
            <a:r>
              <a:rPr lang="en-US" sz="1100" dirty="0" smtClean="0">
                <a:solidFill>
                  <a:srgbClr val="0D1B2A"/>
                </a:solidFill>
              </a:rPr>
              <a:t> </a:t>
            </a:r>
            <a:r>
              <a:rPr lang="en-US" sz="1100" dirty="0" err="1" smtClean="0">
                <a:solidFill>
                  <a:srgbClr val="0D1B2A"/>
                </a:solidFill>
              </a:rPr>
              <a:t>dùng</a:t>
            </a:r>
            <a:r>
              <a:rPr lang="en-US" sz="1100" dirty="0" smtClean="0">
                <a:solidFill>
                  <a:srgbClr val="0D1B2A"/>
                </a:solidFill>
              </a:rPr>
              <a:t> )</a:t>
            </a:r>
            <a:endParaRPr lang="en-US" sz="1100" dirty="0"/>
          </a:p>
          <a:p>
            <a:pPr marL="0" indent="0">
              <a:buNone/>
            </a:pPr>
            <a:r>
              <a:rPr lang="en-US" sz="1100" dirty="0">
                <a:solidFill>
                  <a:srgbClr val="0D1B2A"/>
                </a:solidFill>
              </a:rPr>
              <a:t>• </a:t>
            </a:r>
            <a:r>
              <a:rPr lang="en-US" sz="1100" dirty="0" err="1">
                <a:solidFill>
                  <a:srgbClr val="0D1B2A"/>
                </a:solidFill>
              </a:rPr>
              <a:t>Kẻ</a:t>
            </a:r>
            <a:r>
              <a:rPr lang="en-US" sz="1100" dirty="0">
                <a:solidFill>
                  <a:srgbClr val="0D1B2A"/>
                </a:solidFill>
              </a:rPr>
              <a:t> </a:t>
            </a:r>
            <a:r>
              <a:rPr lang="en-US" sz="1100" dirty="0" err="1" smtClean="0">
                <a:solidFill>
                  <a:srgbClr val="0D1B2A"/>
                </a:solidFill>
              </a:rPr>
              <a:t>tấn</a:t>
            </a:r>
            <a:r>
              <a:rPr lang="en-US" sz="1100" dirty="0" smtClean="0">
                <a:solidFill>
                  <a:srgbClr val="0D1B2A"/>
                </a:solidFill>
              </a:rPr>
              <a:t> </a:t>
            </a:r>
            <a:r>
              <a:rPr lang="en-US" sz="1100" dirty="0" err="1" smtClean="0">
                <a:solidFill>
                  <a:srgbClr val="0D1B2A"/>
                </a:solidFill>
              </a:rPr>
              <a:t>công</a:t>
            </a:r>
            <a:r>
              <a:rPr lang="en-US" sz="1100" dirty="0" smtClean="0">
                <a:solidFill>
                  <a:srgbClr val="0D1B2A"/>
                </a:solidFill>
              </a:rPr>
              <a:t> </a:t>
            </a:r>
            <a:r>
              <a:rPr lang="en-US" sz="1100" dirty="0">
                <a:solidFill>
                  <a:srgbClr val="0D1B2A"/>
                </a:solidFill>
              </a:rPr>
              <a:t>không dự đoán được quyết định scale</a:t>
            </a:r>
            <a:endParaRPr lang="en-US" sz="1100" dirty="0"/>
          </a:p>
          <a:p>
            <a:pPr marL="0" indent="0">
              <a:buNone/>
            </a:pPr>
            <a:r>
              <a:rPr lang="en-US" sz="1100" dirty="0">
                <a:solidFill>
                  <a:srgbClr val="0D1B2A"/>
                </a:solidFill>
              </a:rPr>
              <a:t>• Triển khai không cần sửa đổi Kubernetes core</a:t>
            </a:r>
            <a:endParaRPr lang="en-US" sz="1100" dirty="0"/>
          </a:p>
        </p:txBody>
      </p:sp>
      <p:sp>
        <p:nvSpPr>
          <p:cNvPr id="39" name="Shape 1"/>
          <p:cNvSpPr/>
          <p:nvPr/>
        </p:nvSpPr>
        <p:spPr>
          <a:xfrm>
            <a:off x="0" y="0"/>
            <a:ext cx="109728" cy="658368"/>
          </a:xfrm>
          <a:prstGeom prst="rect">
            <a:avLst/>
          </a:prstGeom>
          <a:solidFill>
            <a:srgbClr val="2D9D5A"/>
          </a:solidFill>
          <a:ln w="12700">
            <a:solidFill>
              <a:srgbClr val="2D9D5A"/>
            </a:solidFill>
            <a:prstDash val="solid"/>
          </a:ln>
        </p:spPr>
      </p:sp>
      <p:pic>
        <p:nvPicPr>
          <p:cNvPr id="40" name="Picture 39"/>
          <p:cNvPicPr>
            <a:picLocks noChangeAspect="1"/>
          </p:cNvPicPr>
          <p:nvPr/>
        </p:nvPicPr>
        <p:blipFill>
          <a:blip r:embed="rId3"/>
          <a:stretch>
            <a:fillRect/>
          </a:stretch>
        </p:blipFill>
        <p:spPr>
          <a:xfrm>
            <a:off x="5212080" y="868680"/>
            <a:ext cx="3860482" cy="1850543"/>
          </a:xfrm>
          <a:prstGeom prst="rect">
            <a:avLst/>
          </a:prstGeom>
        </p:spPr>
      </p:pic>
      <p:sp>
        <p:nvSpPr>
          <p:cNvPr id="41" name="Text 19"/>
          <p:cNvSpPr/>
          <p:nvPr/>
        </p:nvSpPr>
        <p:spPr>
          <a:xfrm>
            <a:off x="5111496" y="2810663"/>
            <a:ext cx="3886200" cy="834663"/>
          </a:xfrm>
          <a:prstGeom prst="rect">
            <a:avLst/>
          </a:prstGeom>
          <a:noFill/>
          <a:ln/>
        </p:spPr>
        <p:txBody>
          <a:bodyPr wrap="square" lIns="0" tIns="0" rIns="0" bIns="0" rtlCol="0" anchor="ctr"/>
          <a:lstStyle/>
          <a:p>
            <a:r>
              <a:rPr lang="en-US" sz="1050" dirty="0" smtClean="0">
                <a:solidFill>
                  <a:srgbClr val="0D1B2A"/>
                </a:solidFill>
                <a:latin typeface="Calibri (Body)"/>
              </a:rPr>
              <a:t>- </a:t>
            </a:r>
            <a:r>
              <a:rPr lang="vi-VN" sz="1000" dirty="0" smtClean="0">
                <a:solidFill>
                  <a:srgbClr val="0D1B2A"/>
                </a:solidFill>
                <a:latin typeface="Calibri (Body)"/>
              </a:rPr>
              <a:t>Log </a:t>
            </a:r>
            <a:r>
              <a:rPr lang="vi-VN" sz="1000" dirty="0">
                <a:solidFill>
                  <a:srgbClr val="0D1B2A"/>
                </a:solidFill>
                <a:latin typeface="Calibri (Body)"/>
              </a:rPr>
              <a:t>cho thấy cơ chế randomized defense đang hoạt động. Dòng [REAL] </a:t>
            </a:r>
            <a:r>
              <a:rPr lang="vi-VN" sz="1000" dirty="0" smtClean="0">
                <a:solidFill>
                  <a:srgbClr val="0D1B2A"/>
                </a:solidFill>
                <a:latin typeface="Calibri (Body)"/>
              </a:rPr>
              <a:t>lúc 15:57:47 trả </a:t>
            </a:r>
            <a:r>
              <a:rPr lang="vi-VN" sz="1000" dirty="0">
                <a:solidFill>
                  <a:srgbClr val="0D1B2A"/>
                </a:solidFill>
                <a:latin typeface="Calibri (Body)"/>
              </a:rPr>
              <a:t>về CPU thật (1%) cho </a:t>
            </a:r>
            <a:r>
              <a:rPr lang="vi-VN" sz="1000" dirty="0" smtClean="0">
                <a:solidFill>
                  <a:srgbClr val="0D1B2A"/>
                </a:solidFill>
                <a:latin typeface="Calibri (Body)"/>
              </a:rPr>
              <a:t>HPA</a:t>
            </a:r>
            <a:r>
              <a:rPr lang="en-US" sz="1000" dirty="0" smtClean="0">
                <a:solidFill>
                  <a:srgbClr val="0D1B2A"/>
                </a:solidFill>
                <a:latin typeface="Calibri (Body)"/>
              </a:rPr>
              <a:t>. </a:t>
            </a:r>
            <a:r>
              <a:rPr lang="vi-VN" sz="1000" dirty="0" smtClean="0">
                <a:solidFill>
                  <a:srgbClr val="0D1B2A"/>
                </a:solidFill>
                <a:latin typeface="Calibri (Body)"/>
              </a:rPr>
              <a:t>Tiếp </a:t>
            </a:r>
            <a:r>
              <a:rPr lang="vi-VN" sz="1000" dirty="0">
                <a:solidFill>
                  <a:srgbClr val="0D1B2A"/>
                </a:solidFill>
                <a:latin typeface="Calibri (Body)"/>
              </a:rPr>
              <a:t>theo dòng [FAKE] lúc 15:58:02 trả về 10% giả dù CPU thực tế là 1</a:t>
            </a:r>
            <a:r>
              <a:rPr lang="vi-VN" sz="1000" dirty="0" smtClean="0">
                <a:solidFill>
                  <a:srgbClr val="0D1B2A"/>
                </a:solidFill>
                <a:latin typeface="Calibri (Body)"/>
              </a:rPr>
              <a:t>%</a:t>
            </a:r>
            <a:r>
              <a:rPr lang="en-US" sz="1000" dirty="0" smtClean="0">
                <a:solidFill>
                  <a:srgbClr val="0D1B2A"/>
                </a:solidFill>
                <a:latin typeface="Calibri (Body)"/>
              </a:rPr>
              <a:t>...</a:t>
            </a:r>
          </a:p>
        </p:txBody>
      </p:sp>
    </p:spTree>
    <p:extLst>
      <p:ext uri="{BB962C8B-B14F-4D97-AF65-F5344CB8AC3E}">
        <p14:creationId xmlns:p14="http://schemas.microsoft.com/office/powerpoint/2010/main" val="32722447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a:solidFill>
                  <a:srgbClr val="FFFFFF"/>
                </a:solidFill>
              </a:rPr>
              <a:t>Giai</a:t>
            </a:r>
            <a:r>
              <a:rPr lang="en-US" sz="2200" b="1" dirty="0">
                <a:solidFill>
                  <a:srgbClr val="FFFFFF"/>
                </a:solidFill>
              </a:rPr>
              <a:t> </a:t>
            </a:r>
            <a:r>
              <a:rPr lang="en-US" sz="2200" b="1" dirty="0" err="1">
                <a:solidFill>
                  <a:srgbClr val="FFFFFF"/>
                </a:solidFill>
              </a:rPr>
              <a:t>đoạn</a:t>
            </a:r>
            <a:r>
              <a:rPr lang="en-US" sz="2200" b="1" dirty="0">
                <a:solidFill>
                  <a:srgbClr val="FFFFFF"/>
                </a:solidFill>
              </a:rPr>
              <a:t> 3 — </a:t>
            </a:r>
            <a:r>
              <a:rPr lang="en-US" sz="2200" b="1" dirty="0" err="1">
                <a:solidFill>
                  <a:srgbClr val="FFFFFF"/>
                </a:solidFill>
              </a:rPr>
              <a:t>Phòng</a:t>
            </a:r>
            <a:r>
              <a:rPr lang="en-US" sz="2200" b="1" dirty="0">
                <a:solidFill>
                  <a:srgbClr val="FFFFFF"/>
                </a:solidFill>
              </a:rPr>
              <a:t> </a:t>
            </a:r>
            <a:r>
              <a:rPr lang="en-US" sz="2200" b="1" dirty="0" err="1">
                <a:solidFill>
                  <a:srgbClr val="FFFFFF"/>
                </a:solidFill>
              </a:rPr>
              <a:t>thủ</a:t>
            </a:r>
            <a:r>
              <a:rPr lang="en-US" sz="2200" b="1" dirty="0">
                <a:solidFill>
                  <a:srgbClr val="FFFFFF"/>
                </a:solidFill>
              </a:rPr>
              <a:t>: Custom Metrics </a:t>
            </a:r>
            <a:r>
              <a:rPr lang="en-US" sz="2200" b="1" dirty="0" smtClean="0">
                <a:solidFill>
                  <a:srgbClr val="FFFFFF"/>
                </a:solidFill>
              </a:rPr>
              <a:t>Adapter</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274320" y="804672"/>
            <a:ext cx="886968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2D9D5A"/>
          </a:solidFill>
          <a:ln w="12700">
            <a:solidFill>
              <a:srgbClr val="2D9D5A"/>
            </a:solidFill>
            <a:prstDash val="solid"/>
          </a:ln>
        </p:spPr>
      </p:sp>
      <p:sp>
        <p:nvSpPr>
          <p:cNvPr id="9" name="Text 7"/>
          <p:cNvSpPr/>
          <p:nvPr/>
        </p:nvSpPr>
        <p:spPr>
          <a:xfrm>
            <a:off x="457199" y="868680"/>
            <a:ext cx="5194897" cy="320040"/>
          </a:xfrm>
          <a:prstGeom prst="rect">
            <a:avLst/>
          </a:prstGeom>
          <a:noFill/>
          <a:ln/>
        </p:spPr>
        <p:txBody>
          <a:bodyPr wrap="square" lIns="0" tIns="0" rIns="0" bIns="0" rtlCol="0" anchor="ctr"/>
          <a:lstStyle/>
          <a:p>
            <a:r>
              <a:rPr lang="en-US" sz="1200" b="1" dirty="0" err="1" smtClean="0">
                <a:solidFill>
                  <a:srgbClr val="0D1B2A"/>
                </a:solidFill>
              </a:rPr>
              <a:t>Thực</a:t>
            </a:r>
            <a:r>
              <a:rPr lang="en-US" sz="1200" b="1" dirty="0" smtClean="0">
                <a:solidFill>
                  <a:srgbClr val="0D1B2A"/>
                </a:solidFill>
              </a:rPr>
              <a:t> </a:t>
            </a:r>
            <a:r>
              <a:rPr lang="en-US" sz="1200" b="1" dirty="0" err="1" smtClean="0">
                <a:solidFill>
                  <a:srgbClr val="0D1B2A"/>
                </a:solidFill>
              </a:rPr>
              <a:t>hiện</a:t>
            </a:r>
            <a:r>
              <a:rPr lang="en-US" sz="1200" b="1" dirty="0" smtClean="0">
                <a:solidFill>
                  <a:srgbClr val="0D1B2A"/>
                </a:solidFill>
              </a:rPr>
              <a:t> </a:t>
            </a:r>
            <a:r>
              <a:rPr lang="en-US" sz="1200" b="1" dirty="0" err="1" smtClean="0">
                <a:solidFill>
                  <a:srgbClr val="0D1B2A"/>
                </a:solidFill>
              </a:rPr>
              <a:t>tấn</a:t>
            </a:r>
            <a:r>
              <a:rPr lang="en-US" sz="1200" b="1" dirty="0" smtClean="0">
                <a:solidFill>
                  <a:srgbClr val="0D1B2A"/>
                </a:solidFill>
              </a:rPr>
              <a:t> </a:t>
            </a:r>
            <a:r>
              <a:rPr lang="en-US" sz="1200" b="1" dirty="0" err="1" smtClean="0">
                <a:solidFill>
                  <a:srgbClr val="0D1B2A"/>
                </a:solidFill>
              </a:rPr>
              <a:t>công</a:t>
            </a:r>
            <a:r>
              <a:rPr lang="en-US" sz="1200" b="1" dirty="0" smtClean="0">
                <a:solidFill>
                  <a:srgbClr val="0D1B2A"/>
                </a:solidFill>
              </a:rPr>
              <a:t> </a:t>
            </a:r>
            <a:r>
              <a:rPr lang="en-US" sz="1200" b="1" dirty="0" err="1" smtClean="0">
                <a:solidFill>
                  <a:srgbClr val="0D1B2A"/>
                </a:solidFill>
              </a:rPr>
              <a:t>bơm</a:t>
            </a:r>
            <a:r>
              <a:rPr lang="en-US" sz="1200" b="1" dirty="0" smtClean="0">
                <a:solidFill>
                  <a:srgbClr val="0D1B2A"/>
                </a:solidFill>
              </a:rPr>
              <a:t> </a:t>
            </a:r>
            <a:r>
              <a:rPr lang="en-US" sz="1200" b="1" dirty="0" err="1" smtClean="0">
                <a:solidFill>
                  <a:srgbClr val="0D1B2A"/>
                </a:solidFill>
              </a:rPr>
              <a:t>lưu</a:t>
            </a:r>
            <a:r>
              <a:rPr lang="en-US" sz="1200" b="1" dirty="0" smtClean="0">
                <a:solidFill>
                  <a:srgbClr val="0D1B2A"/>
                </a:solidFill>
              </a:rPr>
              <a:t> </a:t>
            </a:r>
            <a:r>
              <a:rPr lang="en-US" sz="1200" b="1" dirty="0" err="1" smtClean="0">
                <a:solidFill>
                  <a:srgbClr val="0D1B2A"/>
                </a:solidFill>
              </a:rPr>
              <a:t>lượng</a:t>
            </a:r>
            <a:r>
              <a:rPr lang="en-US" sz="1200" b="1" dirty="0" smtClean="0">
                <a:solidFill>
                  <a:srgbClr val="0D1B2A"/>
                </a:solidFill>
              </a:rPr>
              <a:t> </a:t>
            </a:r>
            <a:r>
              <a:rPr lang="en-US" sz="1200" b="1" dirty="0" err="1" smtClean="0">
                <a:solidFill>
                  <a:srgbClr val="0D1B2A"/>
                </a:solidFill>
              </a:rPr>
              <a:t>sau</a:t>
            </a:r>
            <a:r>
              <a:rPr lang="en-US" sz="1200" b="1" dirty="0" smtClean="0">
                <a:solidFill>
                  <a:srgbClr val="0D1B2A"/>
                </a:solidFill>
              </a:rPr>
              <a:t> </a:t>
            </a:r>
            <a:r>
              <a:rPr lang="en-US" sz="1200" b="1" dirty="0" err="1" smtClean="0">
                <a:solidFill>
                  <a:srgbClr val="0D1B2A"/>
                </a:solidFill>
              </a:rPr>
              <a:t>khi</a:t>
            </a:r>
            <a:r>
              <a:rPr lang="en-US" sz="1200" b="1" dirty="0" smtClean="0">
                <a:solidFill>
                  <a:srgbClr val="0D1B2A"/>
                </a:solidFill>
              </a:rPr>
              <a:t> </a:t>
            </a:r>
            <a:r>
              <a:rPr lang="en-US" sz="1200" b="1" dirty="0" err="1" smtClean="0">
                <a:solidFill>
                  <a:srgbClr val="0D1B2A"/>
                </a:solidFill>
              </a:rPr>
              <a:t>đã</a:t>
            </a:r>
            <a:r>
              <a:rPr lang="en-US" sz="1200" b="1" dirty="0" smtClean="0">
                <a:solidFill>
                  <a:srgbClr val="0D1B2A"/>
                </a:solidFill>
              </a:rPr>
              <a:t> setup </a:t>
            </a:r>
            <a:r>
              <a:rPr lang="en-US" sz="1200" b="1" dirty="0" err="1" smtClean="0">
                <a:solidFill>
                  <a:srgbClr val="0D1B2A"/>
                </a:solidFill>
              </a:rPr>
              <a:t>cơ</a:t>
            </a:r>
            <a:r>
              <a:rPr lang="en-US" sz="1200" b="1" dirty="0" smtClean="0">
                <a:solidFill>
                  <a:srgbClr val="0D1B2A"/>
                </a:solidFill>
              </a:rPr>
              <a:t> </a:t>
            </a:r>
            <a:r>
              <a:rPr lang="en-US" sz="1200" b="1" dirty="0" err="1">
                <a:solidFill>
                  <a:srgbClr val="0D1B2A"/>
                </a:solidFill>
              </a:rPr>
              <a:t>chế</a:t>
            </a:r>
            <a:r>
              <a:rPr lang="en-US" sz="1200" b="1" dirty="0">
                <a:solidFill>
                  <a:srgbClr val="0D1B2A"/>
                </a:solidFill>
              </a:rPr>
              <a:t> Randomization HPA</a:t>
            </a:r>
            <a:r>
              <a:rPr lang="en-US" sz="1200" b="1" dirty="0" smtClean="0">
                <a:solidFill>
                  <a:srgbClr val="0D1B2A"/>
                </a:solidFill>
              </a:rPr>
              <a:t> </a:t>
            </a:r>
            <a:endParaRPr lang="en-US" sz="1200" dirty="0"/>
          </a:p>
        </p:txBody>
      </p:sp>
      <p:sp>
        <p:nvSpPr>
          <p:cNvPr id="39" name="Shape 1"/>
          <p:cNvSpPr/>
          <p:nvPr/>
        </p:nvSpPr>
        <p:spPr>
          <a:xfrm>
            <a:off x="0" y="0"/>
            <a:ext cx="109728" cy="658368"/>
          </a:xfrm>
          <a:prstGeom prst="rect">
            <a:avLst/>
          </a:prstGeom>
          <a:solidFill>
            <a:srgbClr val="2D9D5A"/>
          </a:solidFill>
          <a:ln w="12700">
            <a:solidFill>
              <a:srgbClr val="2D9D5A"/>
            </a:solidFill>
            <a:prstDash val="solid"/>
          </a:ln>
        </p:spPr>
      </p:sp>
      <p:pic>
        <p:nvPicPr>
          <p:cNvPr id="13" name="image10.png"/>
          <p:cNvPicPr/>
          <p:nvPr/>
        </p:nvPicPr>
        <p:blipFill>
          <a:blip r:embed="rId3"/>
          <a:srcRect/>
          <a:stretch>
            <a:fillRect/>
          </a:stretch>
        </p:blipFill>
        <p:spPr>
          <a:xfrm>
            <a:off x="457199" y="1248553"/>
            <a:ext cx="5864088" cy="3446493"/>
          </a:xfrm>
          <a:prstGeom prst="rect">
            <a:avLst/>
          </a:prstGeom>
          <a:ln/>
        </p:spPr>
      </p:pic>
      <p:sp>
        <p:nvSpPr>
          <p:cNvPr id="10" name="TextBox 9"/>
          <p:cNvSpPr txBox="1"/>
          <p:nvPr/>
        </p:nvSpPr>
        <p:spPr>
          <a:xfrm>
            <a:off x="6449302" y="1248553"/>
            <a:ext cx="2623135" cy="3093154"/>
          </a:xfrm>
          <a:prstGeom prst="rect">
            <a:avLst/>
          </a:prstGeom>
          <a:noFill/>
        </p:spPr>
        <p:txBody>
          <a:bodyPr wrap="square" rtlCol="0">
            <a:spAutoFit/>
          </a:bodyPr>
          <a:lstStyle/>
          <a:p>
            <a:r>
              <a:rPr lang="en-US" sz="1300" dirty="0" smtClean="0"/>
              <a:t>=&gt; </a:t>
            </a:r>
            <a:r>
              <a:rPr lang="en-US" sz="1300" dirty="0"/>
              <a:t>K</a:t>
            </a:r>
            <a:r>
              <a:rPr lang="vi-VN" sz="1300" dirty="0" smtClean="0"/>
              <a:t>ết </a:t>
            </a:r>
            <a:r>
              <a:rPr lang="vi-VN" sz="1300" dirty="0"/>
              <a:t>quả quan sát được trên hệ thống giám sát cho thấy hiệu quả rõ rệt trong việc vô hiệu hóa chiến lược tấn công EDoS dạng state-aware. </a:t>
            </a:r>
            <a:r>
              <a:rPr lang="vi-VN" sz="1300" dirty="0" smtClean="0"/>
              <a:t>Mặc </a:t>
            </a:r>
            <a:r>
              <a:rPr lang="vi-VN" sz="1300" dirty="0"/>
              <a:t>dù mức sử dụng CPU thực tế của ứng dụng dao động mạnh trong suốt quá trình tấn công, đạt đỉnh 211% và duy trì trung bình khoảng 85% so với tài nguyên yêu cầu, số lượng replicas của dịch vụ chỉ tăng từ một lên 3 pod tại thời điểm khởi phát và sau đó được giữ ổn định trong toàn bộ khoảng thời gian còn lại</a:t>
            </a:r>
            <a:endParaRPr lang="en-US" sz="1300" dirty="0"/>
          </a:p>
        </p:txBody>
      </p:sp>
    </p:spTree>
    <p:extLst>
      <p:ext uri="{BB962C8B-B14F-4D97-AF65-F5344CB8AC3E}">
        <p14:creationId xmlns:p14="http://schemas.microsoft.com/office/powerpoint/2010/main" val="41564884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096B7">
              <a:alpha val="12000"/>
            </a:srgbClr>
          </a:solidFill>
          <a:ln w="12700">
            <a:solidFill>
              <a:srgbClr val="0096B7">
                <a:alpha val="12000"/>
              </a:srgbClr>
            </a:solidFill>
            <a:prstDash val="solid"/>
          </a:ln>
        </p:spPr>
      </p:sp>
      <p:sp>
        <p:nvSpPr>
          <p:cNvPr id="3" name="Shape 1"/>
          <p:cNvSpPr/>
          <p:nvPr/>
        </p:nvSpPr>
        <p:spPr>
          <a:xfrm>
            <a:off x="-914400" y="3200400"/>
            <a:ext cx="2743200" cy="2743200"/>
          </a:xfrm>
          <a:prstGeom prst="ellipse">
            <a:avLst/>
          </a:prstGeom>
          <a:solidFill>
            <a:srgbClr val="F47B20">
              <a:alpha val="12000"/>
            </a:srgbClr>
          </a:solidFill>
          <a:ln w="12700">
            <a:solidFill>
              <a:srgbClr val="F47B20">
                <a:alpha val="12000"/>
              </a:srgbClr>
            </a:solidFill>
            <a:prstDash val="solid"/>
          </a:ln>
        </p:spPr>
      </p:sp>
      <p:sp>
        <p:nvSpPr>
          <p:cNvPr id="4" name="Text 2"/>
          <p:cNvSpPr/>
          <p:nvPr/>
        </p:nvSpPr>
        <p:spPr>
          <a:xfrm>
            <a:off x="502920" y="320040"/>
            <a:ext cx="8229600" cy="502920"/>
          </a:xfrm>
          <a:prstGeom prst="rect">
            <a:avLst/>
          </a:prstGeom>
          <a:noFill/>
          <a:ln/>
        </p:spPr>
        <p:txBody>
          <a:bodyPr wrap="square" lIns="0" tIns="0" rIns="0" bIns="0" rtlCol="0" anchor="ctr"/>
          <a:lstStyle/>
          <a:p>
            <a:pPr marL="0" indent="0">
              <a:buNone/>
            </a:pPr>
            <a:r>
              <a:rPr lang="en-US" sz="2400" b="1" dirty="0">
                <a:solidFill>
                  <a:srgbClr val="0096B7"/>
                </a:solidFill>
              </a:rPr>
              <a:t>Kết luận &amp; Hướng phát triển</a:t>
            </a:r>
            <a:endParaRPr lang="en-US" sz="2400" dirty="0"/>
          </a:p>
        </p:txBody>
      </p:sp>
      <p:sp>
        <p:nvSpPr>
          <p:cNvPr id="5" name="Shape 3"/>
          <p:cNvSpPr/>
          <p:nvPr/>
        </p:nvSpPr>
        <p:spPr>
          <a:xfrm>
            <a:off x="502920" y="850392"/>
            <a:ext cx="1828800" cy="54864"/>
          </a:xfrm>
          <a:prstGeom prst="rect">
            <a:avLst/>
          </a:prstGeom>
          <a:solidFill>
            <a:srgbClr val="0096B7"/>
          </a:solidFill>
          <a:ln w="12700">
            <a:solidFill>
              <a:srgbClr val="0096B7"/>
            </a:solidFill>
            <a:prstDash val="solid"/>
          </a:ln>
        </p:spPr>
      </p:sp>
      <p:sp>
        <p:nvSpPr>
          <p:cNvPr id="6" name="Shape 4"/>
          <p:cNvSpPr/>
          <p:nvPr/>
        </p:nvSpPr>
        <p:spPr>
          <a:xfrm>
            <a:off x="502920" y="1024128"/>
            <a:ext cx="8138160" cy="685800"/>
          </a:xfrm>
          <a:prstGeom prst="rect">
            <a:avLst/>
          </a:prstGeom>
          <a:solidFill>
            <a:srgbClr val="162435"/>
          </a:solidFill>
          <a:ln w="12700">
            <a:solidFill>
              <a:srgbClr val="243850"/>
            </a:solidFill>
            <a:prstDash val="solid"/>
          </a:ln>
        </p:spPr>
      </p:sp>
      <p:sp>
        <p:nvSpPr>
          <p:cNvPr id="7" name="Shape 5"/>
          <p:cNvSpPr/>
          <p:nvPr/>
        </p:nvSpPr>
        <p:spPr>
          <a:xfrm>
            <a:off x="658368" y="1266444"/>
            <a:ext cx="201168" cy="201168"/>
          </a:xfrm>
          <a:prstGeom prst="ellipse">
            <a:avLst/>
          </a:prstGeom>
          <a:solidFill>
            <a:srgbClr val="0096B7"/>
          </a:solidFill>
          <a:ln w="12700">
            <a:solidFill>
              <a:srgbClr val="0096B7"/>
            </a:solidFill>
            <a:prstDash val="solid"/>
          </a:ln>
        </p:spPr>
      </p:sp>
      <p:sp>
        <p:nvSpPr>
          <p:cNvPr id="8" name="Text 6"/>
          <p:cNvSpPr/>
          <p:nvPr/>
        </p:nvSpPr>
        <p:spPr>
          <a:xfrm>
            <a:off x="987552" y="1024128"/>
            <a:ext cx="7543800" cy="685800"/>
          </a:xfrm>
          <a:prstGeom prst="rect">
            <a:avLst/>
          </a:prstGeom>
          <a:noFill/>
          <a:ln/>
        </p:spPr>
        <p:txBody>
          <a:bodyPr wrap="square" lIns="0" tIns="0" rIns="0" bIns="0" rtlCol="0" anchor="ctr"/>
          <a:lstStyle/>
          <a:p>
            <a:pPr marL="0" indent="0">
              <a:buNone/>
            </a:pPr>
            <a:r>
              <a:rPr lang="en-US" sz="1100" dirty="0">
                <a:solidFill>
                  <a:srgbClr val="D0E8F2"/>
                </a:solidFill>
              </a:rPr>
              <a:t>Xây dựng mô hình lý thuyết toàn diện (MDP + Stackelberg) cho tấn công EDoS trên Kubernetes</a:t>
            </a:r>
            <a:endParaRPr lang="en-US" sz="1100" dirty="0"/>
          </a:p>
        </p:txBody>
      </p:sp>
      <p:sp>
        <p:nvSpPr>
          <p:cNvPr id="9" name="Shape 7"/>
          <p:cNvSpPr/>
          <p:nvPr/>
        </p:nvSpPr>
        <p:spPr>
          <a:xfrm>
            <a:off x="502920" y="1828800"/>
            <a:ext cx="8138160" cy="685800"/>
          </a:xfrm>
          <a:prstGeom prst="rect">
            <a:avLst/>
          </a:prstGeom>
          <a:solidFill>
            <a:srgbClr val="162435"/>
          </a:solidFill>
          <a:ln w="12700">
            <a:solidFill>
              <a:srgbClr val="243850"/>
            </a:solidFill>
            <a:prstDash val="solid"/>
          </a:ln>
        </p:spPr>
      </p:sp>
      <p:sp>
        <p:nvSpPr>
          <p:cNvPr id="10" name="Shape 8"/>
          <p:cNvSpPr/>
          <p:nvPr/>
        </p:nvSpPr>
        <p:spPr>
          <a:xfrm>
            <a:off x="658368" y="2071116"/>
            <a:ext cx="201168" cy="201168"/>
          </a:xfrm>
          <a:prstGeom prst="ellipse">
            <a:avLst/>
          </a:prstGeom>
          <a:solidFill>
            <a:srgbClr val="F47B20"/>
          </a:solidFill>
          <a:ln w="12700">
            <a:solidFill>
              <a:srgbClr val="F47B20"/>
            </a:solidFill>
            <a:prstDash val="solid"/>
          </a:ln>
        </p:spPr>
      </p:sp>
      <p:sp>
        <p:nvSpPr>
          <p:cNvPr id="11" name="Text 9"/>
          <p:cNvSpPr/>
          <p:nvPr/>
        </p:nvSpPr>
        <p:spPr>
          <a:xfrm>
            <a:off x="987552" y="1828800"/>
            <a:ext cx="7543800" cy="685800"/>
          </a:xfrm>
          <a:prstGeom prst="rect">
            <a:avLst/>
          </a:prstGeom>
          <a:noFill/>
          <a:ln/>
        </p:spPr>
        <p:txBody>
          <a:bodyPr wrap="square" lIns="0" tIns="0" rIns="0" bIns="0" rtlCol="0" anchor="ctr"/>
          <a:lstStyle/>
          <a:p>
            <a:pPr marL="0" indent="0">
              <a:buNone/>
            </a:pPr>
            <a:r>
              <a:rPr lang="en-US" sz="1100" dirty="0">
                <a:solidFill>
                  <a:srgbClr val="D0E8F2"/>
                </a:solidFill>
              </a:rPr>
              <a:t>Per-hour billing làm trầm trọng thêm nguy cơ EDoS bằng cách phá vỡ hysteresis của autoscaler</a:t>
            </a:r>
            <a:endParaRPr lang="en-US" sz="1100" dirty="0"/>
          </a:p>
        </p:txBody>
      </p:sp>
      <p:sp>
        <p:nvSpPr>
          <p:cNvPr id="12" name="Shape 10"/>
          <p:cNvSpPr/>
          <p:nvPr/>
        </p:nvSpPr>
        <p:spPr>
          <a:xfrm>
            <a:off x="502920" y="2633472"/>
            <a:ext cx="8138160" cy="685800"/>
          </a:xfrm>
          <a:prstGeom prst="rect">
            <a:avLst/>
          </a:prstGeom>
          <a:solidFill>
            <a:srgbClr val="162435"/>
          </a:solidFill>
          <a:ln w="12700">
            <a:solidFill>
              <a:srgbClr val="243850"/>
            </a:solidFill>
            <a:prstDash val="solid"/>
          </a:ln>
        </p:spPr>
      </p:sp>
      <p:sp>
        <p:nvSpPr>
          <p:cNvPr id="13" name="Shape 11"/>
          <p:cNvSpPr/>
          <p:nvPr/>
        </p:nvSpPr>
        <p:spPr>
          <a:xfrm>
            <a:off x="658368" y="2875788"/>
            <a:ext cx="201168" cy="201168"/>
          </a:xfrm>
          <a:prstGeom prst="ellipse">
            <a:avLst/>
          </a:prstGeom>
          <a:solidFill>
            <a:srgbClr val="D62828"/>
          </a:solidFill>
          <a:ln w="12700">
            <a:solidFill>
              <a:srgbClr val="D62828"/>
            </a:solidFill>
            <a:prstDash val="solid"/>
          </a:ln>
        </p:spPr>
      </p:sp>
      <p:sp>
        <p:nvSpPr>
          <p:cNvPr id="14" name="Text 12"/>
          <p:cNvSpPr/>
          <p:nvPr/>
        </p:nvSpPr>
        <p:spPr>
          <a:xfrm>
            <a:off x="987552" y="2633472"/>
            <a:ext cx="7543800" cy="685800"/>
          </a:xfrm>
          <a:prstGeom prst="rect">
            <a:avLst/>
          </a:prstGeom>
          <a:noFill/>
          <a:ln/>
        </p:spPr>
        <p:txBody>
          <a:bodyPr wrap="square" lIns="0" tIns="0" rIns="0" bIns="0" rtlCol="0" anchor="ctr"/>
          <a:lstStyle/>
          <a:p>
            <a:pPr marL="0" indent="0">
              <a:buNone/>
            </a:pPr>
            <a:r>
              <a:rPr lang="en-US" sz="1100" dirty="0" err="1" smtClean="0">
                <a:solidFill>
                  <a:srgbClr val="D0E8F2"/>
                </a:solidFill>
              </a:rPr>
              <a:t>Cường</a:t>
            </a:r>
            <a:r>
              <a:rPr lang="en-US" sz="1100" dirty="0" smtClean="0">
                <a:solidFill>
                  <a:srgbClr val="D0E8F2"/>
                </a:solidFill>
              </a:rPr>
              <a:t> </a:t>
            </a:r>
            <a:r>
              <a:rPr lang="en-US" sz="1100" dirty="0" err="1" smtClean="0">
                <a:solidFill>
                  <a:srgbClr val="D0E8F2"/>
                </a:solidFill>
              </a:rPr>
              <a:t>độ</a:t>
            </a:r>
            <a:r>
              <a:rPr lang="en-US" sz="1100" dirty="0" smtClean="0">
                <a:solidFill>
                  <a:srgbClr val="D0E8F2"/>
                </a:solidFill>
              </a:rPr>
              <a:t> </a:t>
            </a:r>
            <a:r>
              <a:rPr lang="en-US" sz="1100" dirty="0" err="1" smtClean="0">
                <a:solidFill>
                  <a:srgbClr val="D0E8F2"/>
                </a:solidFill>
              </a:rPr>
              <a:t>tấn</a:t>
            </a:r>
            <a:r>
              <a:rPr lang="en-US" sz="1100" dirty="0" smtClean="0">
                <a:solidFill>
                  <a:srgbClr val="D0E8F2"/>
                </a:solidFill>
              </a:rPr>
              <a:t> </a:t>
            </a:r>
            <a:r>
              <a:rPr lang="en-US" sz="1100" dirty="0" err="1" smtClean="0">
                <a:solidFill>
                  <a:srgbClr val="D0E8F2"/>
                </a:solidFill>
              </a:rPr>
              <a:t>công</a:t>
            </a:r>
            <a:r>
              <a:rPr lang="en-US" sz="1100" dirty="0" smtClean="0">
                <a:solidFill>
                  <a:srgbClr val="D0E8F2"/>
                </a:solidFill>
              </a:rPr>
              <a:t> </a:t>
            </a:r>
            <a:r>
              <a:rPr lang="en-US" sz="1100" dirty="0" err="1" smtClean="0">
                <a:solidFill>
                  <a:srgbClr val="D0E8F2"/>
                </a:solidFill>
              </a:rPr>
              <a:t>ko</a:t>
            </a:r>
            <a:r>
              <a:rPr lang="en-US" sz="1100" dirty="0" smtClean="0">
                <a:solidFill>
                  <a:srgbClr val="D0E8F2"/>
                </a:solidFill>
              </a:rPr>
              <a:t> </a:t>
            </a:r>
            <a:r>
              <a:rPr lang="en-US" sz="1100" dirty="0" err="1" smtClean="0">
                <a:solidFill>
                  <a:srgbClr val="D0E8F2"/>
                </a:solidFill>
              </a:rPr>
              <a:t>phải</a:t>
            </a:r>
            <a:r>
              <a:rPr lang="en-US" sz="1100" dirty="0" smtClean="0">
                <a:solidFill>
                  <a:srgbClr val="D0E8F2"/>
                </a:solidFill>
              </a:rPr>
              <a:t> </a:t>
            </a:r>
            <a:r>
              <a:rPr lang="en-US" sz="1100" dirty="0" err="1" smtClean="0">
                <a:solidFill>
                  <a:srgbClr val="D0E8F2"/>
                </a:solidFill>
              </a:rPr>
              <a:t>cứ</a:t>
            </a:r>
            <a:r>
              <a:rPr lang="en-US" sz="1100" dirty="0" smtClean="0">
                <a:solidFill>
                  <a:srgbClr val="D0E8F2"/>
                </a:solidFill>
              </a:rPr>
              <a:t> </a:t>
            </a:r>
            <a:r>
              <a:rPr lang="en-US" sz="1100" dirty="0" err="1" smtClean="0">
                <a:solidFill>
                  <a:srgbClr val="D0E8F2"/>
                </a:solidFill>
              </a:rPr>
              <a:t>càng</a:t>
            </a:r>
            <a:r>
              <a:rPr lang="en-US" sz="1100" dirty="0" smtClean="0">
                <a:solidFill>
                  <a:srgbClr val="D0E8F2"/>
                </a:solidFill>
              </a:rPr>
              <a:t> </a:t>
            </a:r>
            <a:r>
              <a:rPr lang="en-US" sz="1100" dirty="0" err="1" smtClean="0">
                <a:solidFill>
                  <a:srgbClr val="D0E8F2"/>
                </a:solidFill>
              </a:rPr>
              <a:t>cao</a:t>
            </a:r>
            <a:r>
              <a:rPr lang="en-US" sz="1100" dirty="0" smtClean="0">
                <a:solidFill>
                  <a:srgbClr val="D0E8F2"/>
                </a:solidFill>
              </a:rPr>
              <a:t> </a:t>
            </a:r>
            <a:r>
              <a:rPr lang="en-US" sz="1100" dirty="0" err="1" smtClean="0">
                <a:solidFill>
                  <a:srgbClr val="D0E8F2"/>
                </a:solidFill>
              </a:rPr>
              <a:t>là</a:t>
            </a:r>
            <a:r>
              <a:rPr lang="en-US" sz="1100" dirty="0" smtClean="0">
                <a:solidFill>
                  <a:srgbClr val="D0E8F2"/>
                </a:solidFill>
              </a:rPr>
              <a:t> </a:t>
            </a:r>
            <a:r>
              <a:rPr lang="en-US" sz="1100" dirty="0" err="1" smtClean="0">
                <a:solidFill>
                  <a:srgbClr val="D0E8F2"/>
                </a:solidFill>
              </a:rPr>
              <a:t>mang</a:t>
            </a:r>
            <a:r>
              <a:rPr lang="en-US" sz="1100" dirty="0" smtClean="0">
                <a:solidFill>
                  <a:srgbClr val="D0E8F2"/>
                </a:solidFill>
              </a:rPr>
              <a:t> </a:t>
            </a:r>
            <a:r>
              <a:rPr lang="en-US" sz="1100" dirty="0">
                <a:solidFill>
                  <a:srgbClr val="D0E8F2"/>
                </a:solidFill>
              </a:rPr>
              <a:t>lại lợi ích cho kẻ tấn công</a:t>
            </a:r>
            <a:endParaRPr lang="en-US" sz="1100" dirty="0"/>
          </a:p>
        </p:txBody>
      </p:sp>
      <p:sp>
        <p:nvSpPr>
          <p:cNvPr id="15" name="Shape 13"/>
          <p:cNvSpPr/>
          <p:nvPr/>
        </p:nvSpPr>
        <p:spPr>
          <a:xfrm>
            <a:off x="502920" y="3438144"/>
            <a:ext cx="8138160" cy="685800"/>
          </a:xfrm>
          <a:prstGeom prst="rect">
            <a:avLst/>
          </a:prstGeom>
          <a:solidFill>
            <a:srgbClr val="162435"/>
          </a:solidFill>
          <a:ln w="12700">
            <a:solidFill>
              <a:srgbClr val="243850"/>
            </a:solidFill>
            <a:prstDash val="solid"/>
          </a:ln>
        </p:spPr>
      </p:sp>
      <p:sp>
        <p:nvSpPr>
          <p:cNvPr id="16" name="Shape 14"/>
          <p:cNvSpPr/>
          <p:nvPr/>
        </p:nvSpPr>
        <p:spPr>
          <a:xfrm>
            <a:off x="658368" y="3680460"/>
            <a:ext cx="201168" cy="201168"/>
          </a:xfrm>
          <a:prstGeom prst="ellipse">
            <a:avLst/>
          </a:prstGeom>
          <a:solidFill>
            <a:srgbClr val="2D9D5A"/>
          </a:solidFill>
          <a:ln w="12700">
            <a:solidFill>
              <a:srgbClr val="2D9D5A"/>
            </a:solidFill>
            <a:prstDash val="solid"/>
          </a:ln>
        </p:spPr>
      </p:sp>
      <p:sp>
        <p:nvSpPr>
          <p:cNvPr id="17" name="Text 15"/>
          <p:cNvSpPr/>
          <p:nvPr/>
        </p:nvSpPr>
        <p:spPr>
          <a:xfrm>
            <a:off x="987552" y="3438144"/>
            <a:ext cx="7543800" cy="685800"/>
          </a:xfrm>
          <a:prstGeom prst="rect">
            <a:avLst/>
          </a:prstGeom>
          <a:noFill/>
          <a:ln/>
        </p:spPr>
        <p:txBody>
          <a:bodyPr wrap="square" lIns="0" tIns="0" rIns="0" bIns="0" rtlCol="0" anchor="ctr"/>
          <a:lstStyle/>
          <a:p>
            <a:pPr marL="0" indent="0">
              <a:buNone/>
            </a:pPr>
            <a:r>
              <a:rPr lang="en-US" sz="1100" dirty="0">
                <a:solidFill>
                  <a:srgbClr val="D0E8F2"/>
                </a:solidFill>
              </a:rPr>
              <a:t>Ngẫu nhiên hóa HPA (50/50 RNG) là biện pháp phòng thủ khả thi, giảm 9.6% chi phí baseline</a:t>
            </a:r>
            <a:endParaRPr lang="en-US" sz="1100" dirty="0"/>
          </a:p>
        </p:txBody>
      </p:sp>
      <p:sp>
        <p:nvSpPr>
          <p:cNvPr id="18" name="Text 16"/>
          <p:cNvSpPr/>
          <p:nvPr/>
        </p:nvSpPr>
        <p:spPr>
          <a:xfrm>
            <a:off x="502920" y="4233672"/>
            <a:ext cx="2743200" cy="256032"/>
          </a:xfrm>
          <a:prstGeom prst="rect">
            <a:avLst/>
          </a:prstGeom>
          <a:noFill/>
          <a:ln/>
        </p:spPr>
        <p:txBody>
          <a:bodyPr wrap="square" lIns="0" tIns="0" rIns="0" bIns="0" rtlCol="0" anchor="ctr"/>
          <a:lstStyle/>
          <a:p>
            <a:pPr marL="0" indent="0">
              <a:buNone/>
            </a:pPr>
            <a:r>
              <a:rPr lang="en-US" sz="1050" b="1" dirty="0">
                <a:solidFill>
                  <a:srgbClr val="F47B20"/>
                </a:solidFill>
              </a:rPr>
              <a:t>Hướng phát triển:</a:t>
            </a:r>
            <a:endParaRPr lang="en-US" sz="1050" dirty="0"/>
          </a:p>
        </p:txBody>
      </p:sp>
      <p:sp>
        <p:nvSpPr>
          <p:cNvPr id="19" name="Text 17"/>
          <p:cNvSpPr/>
          <p:nvPr/>
        </p:nvSpPr>
        <p:spPr>
          <a:xfrm>
            <a:off x="502920" y="4526280"/>
            <a:ext cx="8138160" cy="365760"/>
          </a:xfrm>
          <a:prstGeom prst="rect">
            <a:avLst/>
          </a:prstGeom>
          <a:noFill/>
          <a:ln/>
        </p:spPr>
        <p:txBody>
          <a:bodyPr wrap="square" lIns="0" tIns="0" rIns="0" bIns="0" rtlCol="0" anchor="ctr"/>
          <a:lstStyle/>
          <a:p>
            <a:pPr marL="0" indent="0">
              <a:buNone/>
            </a:pPr>
            <a:r>
              <a:rPr lang="en-US" sz="1000" dirty="0">
                <a:solidFill>
                  <a:srgbClr val="64748B"/>
                </a:solidFill>
              </a:rPr>
              <a:t>Tích hợp yếu tố thời gian vào mô hình  ·  Cửa sổ trượt thời gian cho kẻ tấn công  ·  Tối ưu trọng số ngẫu nhiên theo loại lưu lượng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TotalTime>
  <Words>3425</Words>
  <Application>Microsoft Office PowerPoint</Application>
  <PresentationFormat>On-screen Show (16:9)</PresentationFormat>
  <Paragraphs>357</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(Body)</vt:lpstr>
      <vt:lpstr>Calibri</vt:lpstr>
      <vt:lpstr>Calibri (Body)</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EDoS Attack on Kubernetes Autoscaling</dc:title>
  <dc:subject>PptxGenJS Presentation</dc:subject>
  <dc:creator>Nguyen Tien Lam</dc:creator>
  <cp:lastModifiedBy>Nguyễn Tiến Lâm</cp:lastModifiedBy>
  <cp:revision>126</cp:revision>
  <dcterms:created xsi:type="dcterms:W3CDTF">2026-04-02T14:52:21Z</dcterms:created>
  <dcterms:modified xsi:type="dcterms:W3CDTF">2026-07-31T11:01:21Z</dcterms:modified>
</cp:coreProperties>
</file>